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61" r:id="rId2"/>
    <p:sldId id="767" r:id="rId3"/>
    <p:sldId id="786" r:id="rId4"/>
    <p:sldId id="785" r:id="rId5"/>
    <p:sldId id="782" r:id="rId6"/>
    <p:sldId id="783" r:id="rId7"/>
    <p:sldId id="784" r:id="rId8"/>
    <p:sldId id="768" r:id="rId9"/>
    <p:sldId id="772" r:id="rId10"/>
    <p:sldId id="770" r:id="rId11"/>
    <p:sldId id="764" r:id="rId12"/>
    <p:sldId id="761" r:id="rId13"/>
    <p:sldId id="773" r:id="rId14"/>
    <p:sldId id="787" r:id="rId15"/>
    <p:sldId id="789" r:id="rId16"/>
    <p:sldId id="788" r:id="rId17"/>
  </p:sldIdLst>
  <p:sldSz cx="9144000" cy="5143500" type="screen16x9"/>
  <p:notesSz cx="6858000" cy="9947275"/>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rjeet S" initials="AS" lastIdx="8" clrIdx="0"/>
  <p:cmAuthor id="2" name="Milan Desai" initials="MD"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FF2CC"/>
    <a:srgbClr val="2F66B1"/>
    <a:srgbClr val="00259A"/>
    <a:srgbClr val="001D7A"/>
    <a:srgbClr val="001862"/>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96" autoAdjust="0"/>
  </p:normalViewPr>
  <p:slideViewPr>
    <p:cSldViewPr showGuides="1">
      <p:cViewPr varScale="1">
        <p:scale>
          <a:sx n="93" d="100"/>
          <a:sy n="93" d="100"/>
        </p:scale>
        <p:origin x="468" y="4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2"/>
          </a:xfrm>
          <a:prstGeom prst="rect">
            <a:avLst/>
          </a:prstGeom>
        </p:spPr>
        <p:txBody>
          <a:bodyPr vert="horz" lIns="93487" tIns="46745" rIns="93487" bIns="46745" rtlCol="0"/>
          <a:lstStyle>
            <a:lvl1pPr algn="l">
              <a:defRPr sz="1200"/>
            </a:lvl1pPr>
          </a:lstStyle>
          <a:p>
            <a:endParaRPr lang="en-US"/>
          </a:p>
        </p:txBody>
      </p:sp>
      <p:sp>
        <p:nvSpPr>
          <p:cNvPr id="3" name="Date Placeholder 2"/>
          <p:cNvSpPr>
            <a:spLocks noGrp="1"/>
          </p:cNvSpPr>
          <p:nvPr>
            <p:ph type="dt" idx="1"/>
          </p:nvPr>
        </p:nvSpPr>
        <p:spPr>
          <a:xfrm>
            <a:off x="3884613" y="0"/>
            <a:ext cx="2971800" cy="499092"/>
          </a:xfrm>
          <a:prstGeom prst="rect">
            <a:avLst/>
          </a:prstGeom>
        </p:spPr>
        <p:txBody>
          <a:bodyPr vert="horz" lIns="93487" tIns="46745" rIns="93487" bIns="46745" rtlCol="0"/>
          <a:lstStyle>
            <a:lvl1pPr algn="r">
              <a:defRPr sz="1200"/>
            </a:lvl1pPr>
          </a:lstStyle>
          <a:p>
            <a:fld id="{3F16BB56-85A1-4141-B6F7-3A27B756453F}" type="datetimeFigureOut">
              <a:rPr lang="en-US" smtClean="0"/>
              <a:t>2/13/2025</a:t>
            </a:fld>
            <a:endParaRPr lang="en-US"/>
          </a:p>
        </p:txBody>
      </p:sp>
      <p:sp>
        <p:nvSpPr>
          <p:cNvPr id="4" name="Slide Image Placehold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3487" tIns="46745" rIns="93487" bIns="46745" rtlCol="0" anchor="ctr"/>
          <a:lstStyle/>
          <a:p>
            <a:endParaRPr lang="en-US"/>
          </a:p>
        </p:txBody>
      </p:sp>
      <p:sp>
        <p:nvSpPr>
          <p:cNvPr id="5" name="Notes Placeholder 4"/>
          <p:cNvSpPr>
            <a:spLocks noGrp="1"/>
          </p:cNvSpPr>
          <p:nvPr>
            <p:ph type="body" sz="quarter" idx="3"/>
          </p:nvPr>
        </p:nvSpPr>
        <p:spPr>
          <a:xfrm>
            <a:off x="685800" y="4787126"/>
            <a:ext cx="5486400" cy="3916739"/>
          </a:xfrm>
          <a:prstGeom prst="rect">
            <a:avLst/>
          </a:prstGeom>
        </p:spPr>
        <p:txBody>
          <a:bodyPr vert="horz" lIns="93487" tIns="46745" rIns="93487" bIns="4674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8188"/>
            <a:ext cx="2971800" cy="499091"/>
          </a:xfrm>
          <a:prstGeom prst="rect">
            <a:avLst/>
          </a:prstGeom>
        </p:spPr>
        <p:txBody>
          <a:bodyPr vert="horz" lIns="93487" tIns="46745" rIns="93487" bIns="46745"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9448188"/>
            <a:ext cx="2971800" cy="499091"/>
          </a:xfrm>
          <a:prstGeom prst="rect">
            <a:avLst/>
          </a:prstGeom>
        </p:spPr>
        <p:txBody>
          <a:bodyPr vert="horz" lIns="93487" tIns="46745" rIns="93487" bIns="46745" rtlCol="0" anchor="b"/>
          <a:lstStyle>
            <a:lvl1pPr algn="r">
              <a:defRPr sz="1200"/>
            </a:lvl1pPr>
          </a:lstStyle>
          <a:p>
            <a:fld id="{7AC24BBB-0DA3-45BB-BE65-49ED26D12D4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br>
              <a:rPr lang="en-US" dirty="0"/>
            </a:br>
            <a:r>
              <a:rPr lang="en-US" dirty="0"/>
              <a:t>Source: </a:t>
            </a:r>
            <a:r>
              <a:rPr lang="en-US" sz="1800" b="0" i="0" u="none" strike="noStrike" dirty="0">
                <a:solidFill>
                  <a:srgbClr val="000000"/>
                </a:solidFill>
                <a:effectLst/>
                <a:latin typeface="Calibri" panose="020F0502020204030204" pitchFamily="34" charset="0"/>
              </a:rPr>
              <a:t>Risk Rating\[Risk Rating Classification - Final Version.xlsx]</a:t>
            </a:r>
            <a:r>
              <a:rPr lang="en-US" sz="1800" b="0" i="0" u="none" strike="noStrike" dirty="0" err="1">
                <a:solidFill>
                  <a:srgbClr val="000000"/>
                </a:solidFill>
                <a:effectLst/>
                <a:latin typeface="Calibri" panose="020F0502020204030204" pitchFamily="34" charset="0"/>
              </a:rPr>
              <a:t>Final_Rating_Summary</a:t>
            </a:r>
            <a:r>
              <a:rPr lang="en-US" dirty="0"/>
              <a:t> </a:t>
            </a:r>
          </a:p>
        </p:txBody>
      </p:sp>
      <p:sp>
        <p:nvSpPr>
          <p:cNvPr id="4" name="Slide Number Placeholder 3"/>
          <p:cNvSpPr>
            <a:spLocks noGrp="1"/>
          </p:cNvSpPr>
          <p:nvPr>
            <p:ph type="sldNum" sz="quarter" idx="5"/>
          </p:nvPr>
        </p:nvSpPr>
        <p:spPr/>
        <p:txBody>
          <a:bodyPr/>
          <a:lstStyle/>
          <a:p>
            <a:fld id="{7AC24BBB-0DA3-45BB-BE65-49ED26D12D47}" type="slidenum">
              <a:rPr lang="en-US" smtClean="0"/>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br>
              <a:rPr lang="en-US" dirty="0"/>
            </a:br>
            <a:r>
              <a:rPr lang="en-US" dirty="0"/>
              <a:t>Source: </a:t>
            </a:r>
            <a:r>
              <a:rPr lang="en-US" sz="1800" b="0" i="0" u="none" strike="noStrike" dirty="0">
                <a:solidFill>
                  <a:srgbClr val="000000"/>
                </a:solidFill>
                <a:effectLst/>
                <a:latin typeface="Calibri" panose="020F0502020204030204" pitchFamily="34" charset="0"/>
              </a:rPr>
              <a:t>Risk Rating\[Risk Rating Classification - Final Version.xlsx]</a:t>
            </a:r>
            <a:r>
              <a:rPr lang="en-US" sz="1800" b="0" i="0" u="none" strike="noStrike" dirty="0" err="1">
                <a:solidFill>
                  <a:srgbClr val="000000"/>
                </a:solidFill>
                <a:effectLst/>
                <a:latin typeface="Calibri" panose="020F0502020204030204" pitchFamily="34" charset="0"/>
              </a:rPr>
              <a:t>Final_Rating_Summary</a:t>
            </a:r>
            <a:r>
              <a:rPr lang="en-US" dirty="0"/>
              <a:t> </a:t>
            </a:r>
          </a:p>
        </p:txBody>
      </p:sp>
      <p:sp>
        <p:nvSpPr>
          <p:cNvPr id="4" name="Slide Number Placeholder 3"/>
          <p:cNvSpPr>
            <a:spLocks noGrp="1"/>
          </p:cNvSpPr>
          <p:nvPr>
            <p:ph type="sldNum" sz="quarter" idx="5"/>
          </p:nvPr>
        </p:nvSpPr>
        <p:spPr/>
        <p:txBody>
          <a:bodyPr/>
          <a:lstStyle/>
          <a:p>
            <a:fld id="{7AC24BBB-0DA3-45BB-BE65-49ED26D12D47}" type="slidenum">
              <a:rPr lang="en-US" smtClean="0"/>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4BBB-0DA3-45BB-BE65-49ED26D12D47}"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4112" y="568411"/>
            <a:ext cx="1992185" cy="590102"/>
          </a:xfrm>
          <a:prstGeom prst="rect">
            <a:avLst/>
          </a:prstGeom>
        </p:spPr>
      </p:pic>
      <p:pic>
        <p:nvPicPr>
          <p:cNvPr id="8" name="Picture 7"/>
          <p:cNvPicPr>
            <a:picLocks noChangeAspect="1"/>
          </p:cNvPicPr>
          <p:nvPr userDrawn="1"/>
        </p:nvPicPr>
        <p:blipFill rotWithShape="1">
          <a:blip r:embed="rId3">
            <a:extLst>
              <a:ext uri="{28A0092B-C50C-407E-A947-70E740481C1C}">
                <a14:useLocalDpi xmlns:a14="http://schemas.microsoft.com/office/drawing/2010/main" val="0"/>
              </a:ext>
            </a:extLst>
          </a:blip>
          <a:srcRect b="71191"/>
          <a:stretch>
            <a:fillRect/>
          </a:stretch>
        </p:blipFill>
        <p:spPr>
          <a:xfrm>
            <a:off x="954717" y="-12246"/>
            <a:ext cx="8189284" cy="4408715"/>
          </a:xfrm>
          <a:prstGeom prst="rect">
            <a:avLst/>
          </a:prstGeom>
        </p:spPr>
      </p:pic>
      <p:sp>
        <p:nvSpPr>
          <p:cNvPr id="5" name="Title 1"/>
          <p:cNvSpPr>
            <a:spLocks noGrp="1"/>
          </p:cNvSpPr>
          <p:nvPr>
            <p:ph type="title" hasCustomPrompt="1"/>
          </p:nvPr>
        </p:nvSpPr>
        <p:spPr>
          <a:xfrm>
            <a:off x="2104566" y="2192112"/>
            <a:ext cx="3477528" cy="1834970"/>
          </a:xfrm>
        </p:spPr>
        <p:txBody>
          <a:bodyPr anchor="ctr">
            <a:normAutofit/>
          </a:bodyPr>
          <a:lstStyle>
            <a:lvl1pPr>
              <a:defRPr sz="4500">
                <a:solidFill>
                  <a:schemeClr val="bg1"/>
                </a:solidFill>
                <a:latin typeface="Barlow regular" panose="00000500000000000000" pitchFamily="2" charset="0"/>
              </a:defRPr>
            </a:lvl1pPr>
          </a:lstStyle>
          <a:p>
            <a:r>
              <a:rPr lang="en-US"/>
              <a:t>Title Slide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18" y="557213"/>
            <a:ext cx="7507691" cy="458628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9820" y="61004"/>
            <a:ext cx="1468478" cy="434976"/>
          </a:xfrm>
          <a:prstGeom prst="rect">
            <a:avLst/>
          </a:prstGeom>
        </p:spPr>
      </p:pic>
      <p:sp>
        <p:nvSpPr>
          <p:cNvPr id="5" name="Title 1"/>
          <p:cNvSpPr>
            <a:spLocks noGrp="1"/>
          </p:cNvSpPr>
          <p:nvPr>
            <p:ph type="title" hasCustomPrompt="1"/>
          </p:nvPr>
        </p:nvSpPr>
        <p:spPr>
          <a:xfrm>
            <a:off x="645247" y="1578082"/>
            <a:ext cx="4482304" cy="2289512"/>
          </a:xfrm>
        </p:spPr>
        <p:txBody>
          <a:bodyPr anchor="ctr">
            <a:normAutofit/>
          </a:bodyPr>
          <a:lstStyle>
            <a:lvl1pPr>
              <a:defRPr sz="4500">
                <a:solidFill>
                  <a:schemeClr val="bg1"/>
                </a:solidFill>
                <a:latin typeface="Barlow regular" panose="00000500000000000000" pitchFamily="2" charset="0"/>
              </a:defRPr>
            </a:lvl1pPr>
          </a:lstStyle>
          <a:p>
            <a:r>
              <a:rPr lang="en-US"/>
              <a:t>Separator Slide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t="21118"/>
          <a:stretch>
            <a:fillRect/>
          </a:stretch>
        </p:blipFill>
        <p:spPr>
          <a:xfrm>
            <a:off x="1" y="1"/>
            <a:ext cx="6963032" cy="640154"/>
          </a:xfrm>
          <a:prstGeom prst="rect">
            <a:avLst/>
          </a:prstGeom>
        </p:spPr>
      </p:pic>
      <p:sp>
        <p:nvSpPr>
          <p:cNvPr id="2" name="Title 1"/>
          <p:cNvSpPr>
            <a:spLocks noGrp="1"/>
          </p:cNvSpPr>
          <p:nvPr>
            <p:ph type="title"/>
          </p:nvPr>
        </p:nvSpPr>
        <p:spPr>
          <a:xfrm>
            <a:off x="342219" y="36765"/>
            <a:ext cx="6356578" cy="468935"/>
          </a:xfrm>
        </p:spPr>
        <p:txBody>
          <a:bodyPr anchor="ctr">
            <a:normAutofit/>
          </a:bodyPr>
          <a:lstStyle>
            <a:lvl1pPr>
              <a:defRPr sz="2100">
                <a:solidFill>
                  <a:schemeClr val="bg1"/>
                </a:solidFill>
                <a:latin typeface="Barlow regular"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623888" y="734786"/>
            <a:ext cx="7886700" cy="3832452"/>
          </a:xfrm>
        </p:spPr>
        <p:txBody>
          <a:bodyPr>
            <a:normAutofit/>
          </a:bodyPr>
          <a:lstStyle>
            <a:lvl1pPr marL="0" indent="0">
              <a:buNone/>
              <a:defRPr sz="1350">
                <a:solidFill>
                  <a:schemeClr val="tx1"/>
                </a:solidFill>
                <a:latin typeface="Barlow regular" panose="00000500000000000000"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9820" y="61004"/>
            <a:ext cx="1468478" cy="43497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260872"/>
            <a:ext cx="3868340" cy="617934"/>
          </a:xfrm>
        </p:spPr>
        <p:txBody>
          <a:bodyPr anchor="b"/>
          <a:lstStyle>
            <a:lvl1pPr marL="0" indent="0">
              <a:buNone/>
              <a:defRPr sz="1800" b="1">
                <a:latin typeface="Barlow regular" panose="00000500000000000000" pitchFamily="2"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lvl1pPr>
              <a:defRPr>
                <a:latin typeface="Barlow regular" panose="00000500000000000000" pitchFamily="2" charset="0"/>
              </a:defRPr>
            </a:lvl1pPr>
            <a:lvl2pPr>
              <a:defRPr>
                <a:latin typeface="Barlow regular" panose="00000500000000000000" pitchFamily="2" charset="0"/>
              </a:defRPr>
            </a:lvl2pPr>
            <a:lvl3pPr>
              <a:defRPr>
                <a:latin typeface="Barlow regular" panose="00000500000000000000" pitchFamily="2" charset="0"/>
              </a:defRPr>
            </a:lvl3pPr>
            <a:lvl4pPr>
              <a:defRPr>
                <a:latin typeface="Barlow regular" panose="00000500000000000000" pitchFamily="2" charset="0"/>
              </a:defRPr>
            </a:lvl4pPr>
            <a:lvl5pPr>
              <a:defRPr>
                <a:latin typeface="Barlow regular"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atin typeface="Barlow regular" panose="00000500000000000000" pitchFamily="2"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lvl1pPr>
              <a:defRPr>
                <a:latin typeface="Barlow regular" panose="00000500000000000000" pitchFamily="2" charset="0"/>
              </a:defRPr>
            </a:lvl1pPr>
            <a:lvl2pPr>
              <a:defRPr>
                <a:latin typeface="Barlow regular" panose="00000500000000000000" pitchFamily="2" charset="0"/>
              </a:defRPr>
            </a:lvl2pPr>
            <a:lvl3pPr>
              <a:defRPr>
                <a:latin typeface="Barlow regular" panose="00000500000000000000" pitchFamily="2" charset="0"/>
              </a:defRPr>
            </a:lvl3pPr>
            <a:lvl4pPr>
              <a:defRPr>
                <a:latin typeface="Barlow regular" panose="00000500000000000000" pitchFamily="2" charset="0"/>
              </a:defRPr>
            </a:lvl4pPr>
            <a:lvl5pPr>
              <a:defRPr>
                <a:latin typeface="Barlow regular"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Barlow regular" panose="00000500000000000000" pitchFamily="2" charset="0"/>
              </a:defRPr>
            </a:lvl1p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lvl1pPr>
              <a:defRPr>
                <a:latin typeface="Barlow regular" panose="00000500000000000000" pitchFamily="2" charset="0"/>
              </a:defRPr>
            </a:lvl1pPr>
          </a:lstStyle>
          <a:p>
            <a:pPr defTabSz="6858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lvl1pPr>
              <a:defRPr>
                <a:latin typeface="Barlow regular" panose="00000500000000000000" pitchFamily="2" charset="0"/>
              </a:defRPr>
            </a:lvl1p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21118"/>
          <a:stretch>
            <a:fillRect/>
          </a:stretch>
        </p:blipFill>
        <p:spPr>
          <a:xfrm>
            <a:off x="1" y="1"/>
            <a:ext cx="6963032" cy="640154"/>
          </a:xfrm>
          <a:prstGeom prst="rect">
            <a:avLst/>
          </a:prstGeom>
        </p:spPr>
      </p:pic>
      <p:sp>
        <p:nvSpPr>
          <p:cNvPr id="12" name="Title 1"/>
          <p:cNvSpPr>
            <a:spLocks noGrp="1"/>
          </p:cNvSpPr>
          <p:nvPr>
            <p:ph type="title"/>
          </p:nvPr>
        </p:nvSpPr>
        <p:spPr>
          <a:xfrm>
            <a:off x="342219" y="36765"/>
            <a:ext cx="6356578" cy="468935"/>
          </a:xfrm>
        </p:spPr>
        <p:txBody>
          <a:bodyPr anchor="ctr">
            <a:normAutofit/>
          </a:bodyPr>
          <a:lstStyle>
            <a:lvl1pPr>
              <a:defRPr sz="2100">
                <a:solidFill>
                  <a:schemeClr val="bg1"/>
                </a:solidFill>
                <a:latin typeface="Barlow regular" panose="00000500000000000000" pitchFamily="2" charset="0"/>
              </a:defRPr>
            </a:lvl1pPr>
          </a:lstStyle>
          <a:p>
            <a:r>
              <a:rPr lang="en-US"/>
              <a:t>Click to edit Master title style</a:t>
            </a:r>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9820" y="61004"/>
            <a:ext cx="1468478" cy="43497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2937" y="1"/>
            <a:ext cx="7911063" cy="5143500"/>
          </a:xfrm>
          <a:prstGeom prst="rect">
            <a:avLst/>
          </a:prstGeom>
        </p:spPr>
      </p:pic>
      <p:sp>
        <p:nvSpPr>
          <p:cNvPr id="5" name="Title 1"/>
          <p:cNvSpPr>
            <a:spLocks noGrp="1"/>
          </p:cNvSpPr>
          <p:nvPr>
            <p:ph type="title" hasCustomPrompt="1"/>
          </p:nvPr>
        </p:nvSpPr>
        <p:spPr>
          <a:xfrm>
            <a:off x="5015425" y="1701685"/>
            <a:ext cx="3477528" cy="870065"/>
          </a:xfrm>
        </p:spPr>
        <p:txBody>
          <a:bodyPr anchor="ctr">
            <a:normAutofit/>
          </a:bodyPr>
          <a:lstStyle>
            <a:lvl1pPr algn="ctr">
              <a:defRPr sz="4500">
                <a:solidFill>
                  <a:schemeClr val="bg1"/>
                </a:solidFill>
                <a:latin typeface="Barlow regular" panose="00000500000000000000" pitchFamily="2" charset="0"/>
              </a:defRPr>
            </a:lvl1pPr>
          </a:lstStyle>
          <a:p>
            <a:r>
              <a:rPr lang="en-US"/>
              <a:t>Thank You</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9820" y="61004"/>
            <a:ext cx="1468478" cy="43497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858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858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778D0751-BF71-4E0F-B54A-B743D8325089}" type="datetimeFigureOut">
              <a:rPr lang="en-US" smtClean="0">
                <a:solidFill>
                  <a:prstClr val="black">
                    <a:tint val="75000"/>
                  </a:prstClr>
                </a:solidFill>
              </a:rPr>
              <a:t>2/13/2025</a:t>
            </a:fld>
            <a:endParaRPr lang="en-US">
              <a:solidFill>
                <a:prstClr val="black">
                  <a:tint val="75000"/>
                </a:prst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B52CAE73-3679-492E-BB01-09D50B38A23B}"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bseindia.com/markets/equity/EQReports/additional_surveillance_measure.aspx"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www.nseindia.com/reports/as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02773"/>
            <a:ext cx="5433435" cy="2289512"/>
          </a:xfrm>
        </p:spPr>
        <p:txBody>
          <a:bodyPr/>
          <a:lstStyle/>
          <a:p>
            <a:r>
              <a:rPr lang="en-US" dirty="0"/>
              <a:t>Risk Ratings Rules</a:t>
            </a:r>
          </a:p>
        </p:txBody>
      </p:sp>
      <p:sp>
        <p:nvSpPr>
          <p:cNvPr id="5"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6"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Proposed vs. Current Rules</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2412959132"/>
              </p:ext>
            </p:extLst>
          </p:nvPr>
        </p:nvGraphicFramePr>
        <p:xfrm>
          <a:off x="609600" y="548125"/>
          <a:ext cx="8420102" cy="2128117"/>
        </p:xfrm>
        <a:graphic>
          <a:graphicData uri="http://schemas.openxmlformats.org/drawingml/2006/table">
            <a:tbl>
              <a:tblPr/>
              <a:tblGrid>
                <a:gridCol w="1608686">
                  <a:extLst>
                    <a:ext uri="{9D8B030D-6E8A-4147-A177-3AD203B41FA5}">
                      <a16:colId xmlns:a16="http://schemas.microsoft.com/office/drawing/2014/main" val="20000"/>
                    </a:ext>
                  </a:extLst>
                </a:gridCol>
                <a:gridCol w="851427">
                  <a:extLst>
                    <a:ext uri="{9D8B030D-6E8A-4147-A177-3AD203B41FA5}">
                      <a16:colId xmlns:a16="http://schemas.microsoft.com/office/drawing/2014/main" val="20001"/>
                    </a:ext>
                  </a:extLst>
                </a:gridCol>
                <a:gridCol w="851427">
                  <a:extLst>
                    <a:ext uri="{9D8B030D-6E8A-4147-A177-3AD203B41FA5}">
                      <a16:colId xmlns:a16="http://schemas.microsoft.com/office/drawing/2014/main" val="20002"/>
                    </a:ext>
                  </a:extLst>
                </a:gridCol>
                <a:gridCol w="851427">
                  <a:extLst>
                    <a:ext uri="{9D8B030D-6E8A-4147-A177-3AD203B41FA5}">
                      <a16:colId xmlns:a16="http://schemas.microsoft.com/office/drawing/2014/main" val="20003"/>
                    </a:ext>
                  </a:extLst>
                </a:gridCol>
                <a:gridCol w="851427">
                  <a:extLst>
                    <a:ext uri="{9D8B030D-6E8A-4147-A177-3AD203B41FA5}">
                      <a16:colId xmlns:a16="http://schemas.microsoft.com/office/drawing/2014/main" val="20004"/>
                    </a:ext>
                  </a:extLst>
                </a:gridCol>
                <a:gridCol w="851427">
                  <a:extLst>
                    <a:ext uri="{9D8B030D-6E8A-4147-A177-3AD203B41FA5}">
                      <a16:colId xmlns:a16="http://schemas.microsoft.com/office/drawing/2014/main" val="20005"/>
                    </a:ext>
                  </a:extLst>
                </a:gridCol>
                <a:gridCol w="851427">
                  <a:extLst>
                    <a:ext uri="{9D8B030D-6E8A-4147-A177-3AD203B41FA5}">
                      <a16:colId xmlns:a16="http://schemas.microsoft.com/office/drawing/2014/main" val="20006"/>
                    </a:ext>
                  </a:extLst>
                </a:gridCol>
                <a:gridCol w="851427">
                  <a:extLst>
                    <a:ext uri="{9D8B030D-6E8A-4147-A177-3AD203B41FA5}">
                      <a16:colId xmlns:a16="http://schemas.microsoft.com/office/drawing/2014/main" val="20007"/>
                    </a:ext>
                  </a:extLst>
                </a:gridCol>
                <a:gridCol w="851427">
                  <a:extLst>
                    <a:ext uri="{9D8B030D-6E8A-4147-A177-3AD203B41FA5}">
                      <a16:colId xmlns:a16="http://schemas.microsoft.com/office/drawing/2014/main" val="20008"/>
                    </a:ext>
                  </a:extLst>
                </a:gridCol>
              </a:tblGrid>
              <a:tr h="137922">
                <a:tc>
                  <a:txBody>
                    <a:bodyPr/>
                    <a:lstStyle/>
                    <a:p>
                      <a:pPr algn="ctr" fontAlgn="b"/>
                      <a:r>
                        <a:rPr lang="en-US" sz="950" b="1" i="0" u="sng" strike="noStrike" dirty="0">
                          <a:solidFill>
                            <a:srgbClr val="000000"/>
                          </a:solidFill>
                          <a:effectLst/>
                          <a:latin typeface="Barlow" panose="00000500000000000000" pitchFamily="2" charset="0"/>
                        </a:rPr>
                        <a:t>Non-F&amp;O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4">
                  <a:txBody>
                    <a:bodyPr/>
                    <a:lstStyle/>
                    <a:p>
                      <a:pPr algn="ctr" fontAlgn="b"/>
                      <a:r>
                        <a:rPr lang="en-US" sz="950" b="1" i="0" u="none" strike="noStrike" dirty="0">
                          <a:solidFill>
                            <a:srgbClr val="000000"/>
                          </a:solidFill>
                          <a:effectLst/>
                          <a:latin typeface="Barlow" panose="00000500000000000000" pitchFamily="2" charset="0"/>
                        </a:rPr>
                        <a:t>Existing System</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4">
                  <a:txBody>
                    <a:bodyPr/>
                    <a:lstStyle/>
                    <a:p>
                      <a:pPr algn="ctr" fontAlgn="b"/>
                      <a:r>
                        <a:rPr lang="en-US" sz="950" b="1" i="0" u="none" strike="noStrike" dirty="0">
                          <a:solidFill>
                            <a:srgbClr val="000000"/>
                          </a:solidFill>
                          <a:effectLst/>
                          <a:latin typeface="Barlow" panose="00000500000000000000" pitchFamily="2" charset="0"/>
                        </a:rPr>
                        <a:t>Old System</a:t>
                      </a:r>
                    </a:p>
                  </a:txBody>
                  <a:tcPr marL="6350" marR="6350" marT="635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7922">
                <a:tc>
                  <a:txBody>
                    <a:bodyPr/>
                    <a:lstStyle/>
                    <a:p>
                      <a:pPr algn="ctr" fontAlgn="b"/>
                      <a:r>
                        <a:rPr lang="en-US" sz="950" b="0" i="0" u="none" strike="noStrike" dirty="0">
                          <a:solidFill>
                            <a:srgbClr val="000000"/>
                          </a:solidFill>
                          <a:effectLst/>
                          <a:latin typeface="Barlow" panose="00000500000000000000" pitchFamily="2" charset="0"/>
                        </a:rPr>
                        <a:t> </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err="1">
                          <a:solidFill>
                            <a:srgbClr val="000000"/>
                          </a:solidFill>
                          <a:effectLst/>
                          <a:latin typeface="Barlow" panose="00000500000000000000" pitchFamily="2" charset="0"/>
                        </a:rPr>
                        <a:t>Bluechip</a:t>
                      </a:r>
                      <a:endParaRPr lang="en-US" sz="950" b="1"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Good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Average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Poor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err="1">
                          <a:solidFill>
                            <a:srgbClr val="000000"/>
                          </a:solidFill>
                          <a:effectLst/>
                          <a:latin typeface="Barlow" panose="00000500000000000000" pitchFamily="2" charset="0"/>
                        </a:rPr>
                        <a:t>Bluechip</a:t>
                      </a:r>
                      <a:endParaRPr lang="en-US" sz="950" b="1" i="0" u="none" strike="noStrike" dirty="0">
                        <a:solidFill>
                          <a:srgbClr val="000000"/>
                        </a:solidFill>
                        <a:effectLst/>
                        <a:latin typeface="Barlow" panose="00000500000000000000" pitchFamily="2" charset="0"/>
                      </a:endParaRP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Good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Average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Poor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137922">
                <a:tc>
                  <a:txBody>
                    <a:bodyPr/>
                    <a:lstStyle/>
                    <a:p>
                      <a:pPr algn="ctr" fontAlgn="b"/>
                      <a:r>
                        <a:rPr lang="en-US" sz="95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 </a:t>
                      </a:r>
                      <a:r>
                        <a:rPr lang="en-US" sz="950" b="0" i="0" u="none" strike="noStrike" dirty="0" err="1">
                          <a:solidFill>
                            <a:srgbClr val="000000"/>
                          </a:solidFill>
                          <a:effectLst/>
                          <a:latin typeface="Barlow" panose="00000500000000000000" pitchFamily="2" charset="0"/>
                        </a:rPr>
                        <a:t>cr</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37922">
                <a:tc>
                  <a:txBody>
                    <a:bodyPr/>
                    <a:lstStyle/>
                    <a:p>
                      <a:pPr algn="ctr" fontAlgn="b"/>
                      <a:r>
                        <a:rPr lang="en-US" sz="9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 </a:t>
                      </a:r>
                      <a:r>
                        <a:rPr lang="en-US" sz="950" b="0" i="0" u="none" strike="noStrike" dirty="0" err="1">
                          <a:solidFill>
                            <a:srgbClr val="000000"/>
                          </a:solidFill>
                          <a:effectLst/>
                          <a:latin typeface="Barlow" panose="00000500000000000000" pitchFamily="2" charset="0"/>
                        </a:rPr>
                        <a:t>cr</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6127">
                <a:tc>
                  <a:txBody>
                    <a:bodyPr/>
                    <a:lstStyle/>
                    <a:p>
                      <a:pPr algn="ctr" fontAlgn="b"/>
                      <a:r>
                        <a:rPr lang="en-US" sz="950" b="0" i="0" u="none" strike="noStrike" dirty="0">
                          <a:solidFill>
                            <a:srgbClr val="000000"/>
                          </a:solidFill>
                          <a:effectLst/>
                          <a:latin typeface="Barlow" panose="00000500000000000000" pitchFamily="2" charset="0"/>
                        </a:rPr>
                        <a:t>F&amp;O Stock?</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3458">
                <a:tc>
                  <a:txBody>
                    <a:bodyPr/>
                    <a:lstStyle/>
                    <a:p>
                      <a:pPr algn="ctr" fontAlgn="b"/>
                      <a:r>
                        <a:rPr lang="en-US" sz="9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PET (% of 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Not meeting PET/</a:t>
                      </a:r>
                      <a:r>
                        <a:rPr lang="en-US" sz="950" b="0" i="0" u="none" strike="noStrike" dirty="0" err="1">
                          <a:solidFill>
                            <a:srgbClr val="000000"/>
                          </a:solidFill>
                          <a:effectLst/>
                          <a:latin typeface="Barlow" panose="00000500000000000000" pitchFamily="2" charset="0"/>
                        </a:rPr>
                        <a:t>Fscore</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37922">
                <a:tc>
                  <a:txBody>
                    <a:bodyPr/>
                    <a:lstStyle/>
                    <a:p>
                      <a:pPr algn="ctr" fontAlgn="b"/>
                      <a:r>
                        <a:rPr lang="en-US" sz="950" b="0" i="1" u="none" strike="noStrike" dirty="0">
                          <a:solidFill>
                            <a:srgbClr val="000000"/>
                          </a:solidFill>
                          <a:effectLst/>
                          <a:latin typeface="Barlow" panose="00000500000000000000" pitchFamily="2" charset="0"/>
                        </a:rPr>
                        <a:t>Power/Emp/Tax (Above)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1" u="none" strike="noStrike" dirty="0">
                          <a:solidFill>
                            <a:srgbClr val="000000"/>
                          </a:solidFill>
                          <a:effectLst/>
                          <a:latin typeface="Barlow" panose="00000500000000000000" pitchFamily="2" charset="0"/>
                        </a:rPr>
                        <a:t>&gt;1%/1%/15%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1" u="none" strike="noStrike" dirty="0">
                          <a:solidFill>
                            <a:srgbClr val="000000"/>
                          </a:solidFill>
                          <a:effectLst/>
                          <a:latin typeface="Barlow" panose="00000500000000000000" pitchFamily="2" charset="0"/>
                        </a:rPr>
                        <a:t>&gt;1%/1%/15%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950" b="0" i="1"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&gt;= 10/10/10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 &gt;=2/2/2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&lt; 2/2/2</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37922">
                <a:tc>
                  <a:txBody>
                    <a:bodyPr/>
                    <a:lstStyle/>
                    <a:p>
                      <a:pPr algn="ctr" fontAlgn="b"/>
                      <a:r>
                        <a:rPr lang="en-US" sz="95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1%</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37922">
                <a:tc>
                  <a:txBody>
                    <a:bodyPr/>
                    <a:lstStyle/>
                    <a:p>
                      <a:pPr algn="ctr" fontAlgn="b"/>
                      <a:r>
                        <a:rPr lang="en-US" sz="950" b="0" i="0" u="none" strike="noStrike" dirty="0">
                          <a:solidFill>
                            <a:srgbClr val="000000"/>
                          </a:solidFill>
                          <a:effectLst/>
                          <a:latin typeface="Barlow" panose="00000500000000000000" pitchFamily="2" charset="0"/>
                        </a:rPr>
                        <a:t>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 1000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 200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200 Cr</a:t>
                      </a:r>
                      <a:endParaRPr lang="pl-PL"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endParaRPr lang="pl-PL" sz="950" b="0" i="0" u="none" strike="noStrike" dirty="0">
                        <a:solidFill>
                          <a:srgbClr val="000000"/>
                        </a:solidFill>
                        <a:effectLst/>
                        <a:latin typeface="Barlow" panose="00000500000000000000" pitchFamily="2" charset="0"/>
                      </a:endParaRP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37922">
                <a:tc>
                  <a:txBody>
                    <a:bodyPr/>
                    <a:lstStyle/>
                    <a:p>
                      <a:pPr algn="ctr" fontAlgn="b"/>
                      <a:r>
                        <a:rPr lang="en-US" sz="9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&lt;25%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50%</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7922">
                <a:tc>
                  <a:txBody>
                    <a:bodyPr/>
                    <a:lstStyle/>
                    <a:p>
                      <a:pPr algn="ctr" fontAlgn="b"/>
                      <a:r>
                        <a:rPr lang="en-US" sz="950" b="0" i="0" u="none" strike="noStrike" dirty="0">
                          <a:solidFill>
                            <a:srgbClr val="000000"/>
                          </a:solidFill>
                          <a:effectLst/>
                          <a:latin typeface="Barlow" panose="00000500000000000000" pitchFamily="2" charset="0"/>
                        </a:rPr>
                        <a:t>6M Median Daily Turnover +</a:t>
                      </a:r>
                      <a:br>
                        <a:rPr lang="en-US" sz="950" b="0" i="0" u="none" strike="noStrike" dirty="0">
                          <a:solidFill>
                            <a:srgbClr val="000000"/>
                          </a:solidFill>
                          <a:effectLst/>
                          <a:latin typeface="Barlow" panose="00000500000000000000" pitchFamily="2" charset="0"/>
                        </a:rPr>
                      </a:br>
                      <a:r>
                        <a:rPr lang="en-US" sz="950" b="0" i="0" u="none" strike="noStrike" dirty="0" err="1">
                          <a:solidFill>
                            <a:srgbClr val="000000"/>
                          </a:solidFill>
                          <a:effectLst/>
                          <a:latin typeface="Barlow" panose="00000500000000000000" pitchFamily="2" charset="0"/>
                        </a:rPr>
                        <a:t>Lastest</a:t>
                      </a:r>
                      <a:r>
                        <a:rPr lang="en-US" sz="950" b="0" i="0" u="none" strike="noStrike" dirty="0">
                          <a:solidFill>
                            <a:srgbClr val="000000"/>
                          </a:solidFill>
                          <a:effectLst/>
                          <a:latin typeface="Barlow" panose="00000500000000000000" pitchFamily="2" charset="0"/>
                        </a:rPr>
                        <a:t> 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&gt;2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&gt;1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 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37922">
                <a:tc>
                  <a:txBody>
                    <a:bodyPr/>
                    <a:lstStyle/>
                    <a:p>
                      <a:pPr algn="ctr" fontAlgn="b"/>
                      <a:r>
                        <a:rPr lang="en-US" sz="950" b="0" i="0" u="none" strike="noStrike" dirty="0">
                          <a:solidFill>
                            <a:srgbClr val="000000"/>
                          </a:solidFill>
                          <a:effectLst/>
                          <a:latin typeface="Barlow" panose="00000500000000000000" pitchFamily="2" charset="0"/>
                        </a:rPr>
                        <a:t>NSE/ BSE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gridSpan="3">
                  <a:txBody>
                    <a:bodyPr/>
                    <a:lstStyle/>
                    <a:p>
                      <a:pPr algn="ctr" fontAlgn="b"/>
                      <a:r>
                        <a:rPr lang="en-US" sz="950" b="0" i="0" u="none" strike="noStrike" dirty="0">
                          <a:solidFill>
                            <a:srgbClr val="000000"/>
                          </a:solidFill>
                          <a:effectLst/>
                          <a:latin typeface="Barlow" panose="00000500000000000000" pitchFamily="2" charset="0"/>
                        </a:rPr>
                        <a:t>Refer Next Slide</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622215672"/>
              </p:ext>
            </p:extLst>
          </p:nvPr>
        </p:nvGraphicFramePr>
        <p:xfrm>
          <a:off x="609600" y="2747944"/>
          <a:ext cx="8420102" cy="2103120"/>
        </p:xfrm>
        <a:graphic>
          <a:graphicData uri="http://schemas.openxmlformats.org/drawingml/2006/table">
            <a:tbl>
              <a:tblPr/>
              <a:tblGrid>
                <a:gridCol w="1608686">
                  <a:extLst>
                    <a:ext uri="{9D8B030D-6E8A-4147-A177-3AD203B41FA5}">
                      <a16:colId xmlns:a16="http://schemas.microsoft.com/office/drawing/2014/main" val="20000"/>
                    </a:ext>
                  </a:extLst>
                </a:gridCol>
                <a:gridCol w="851427">
                  <a:extLst>
                    <a:ext uri="{9D8B030D-6E8A-4147-A177-3AD203B41FA5}">
                      <a16:colId xmlns:a16="http://schemas.microsoft.com/office/drawing/2014/main" val="20001"/>
                    </a:ext>
                  </a:extLst>
                </a:gridCol>
                <a:gridCol w="851427">
                  <a:extLst>
                    <a:ext uri="{9D8B030D-6E8A-4147-A177-3AD203B41FA5}">
                      <a16:colId xmlns:a16="http://schemas.microsoft.com/office/drawing/2014/main" val="20002"/>
                    </a:ext>
                  </a:extLst>
                </a:gridCol>
                <a:gridCol w="851427">
                  <a:extLst>
                    <a:ext uri="{9D8B030D-6E8A-4147-A177-3AD203B41FA5}">
                      <a16:colId xmlns:a16="http://schemas.microsoft.com/office/drawing/2014/main" val="20003"/>
                    </a:ext>
                  </a:extLst>
                </a:gridCol>
                <a:gridCol w="851427">
                  <a:extLst>
                    <a:ext uri="{9D8B030D-6E8A-4147-A177-3AD203B41FA5}">
                      <a16:colId xmlns:a16="http://schemas.microsoft.com/office/drawing/2014/main" val="20004"/>
                    </a:ext>
                  </a:extLst>
                </a:gridCol>
                <a:gridCol w="851427">
                  <a:extLst>
                    <a:ext uri="{9D8B030D-6E8A-4147-A177-3AD203B41FA5}">
                      <a16:colId xmlns:a16="http://schemas.microsoft.com/office/drawing/2014/main" val="20005"/>
                    </a:ext>
                  </a:extLst>
                </a:gridCol>
                <a:gridCol w="851427">
                  <a:extLst>
                    <a:ext uri="{9D8B030D-6E8A-4147-A177-3AD203B41FA5}">
                      <a16:colId xmlns:a16="http://schemas.microsoft.com/office/drawing/2014/main" val="20006"/>
                    </a:ext>
                  </a:extLst>
                </a:gridCol>
                <a:gridCol w="851427">
                  <a:extLst>
                    <a:ext uri="{9D8B030D-6E8A-4147-A177-3AD203B41FA5}">
                      <a16:colId xmlns:a16="http://schemas.microsoft.com/office/drawing/2014/main" val="20007"/>
                    </a:ext>
                  </a:extLst>
                </a:gridCol>
                <a:gridCol w="851427">
                  <a:extLst>
                    <a:ext uri="{9D8B030D-6E8A-4147-A177-3AD203B41FA5}">
                      <a16:colId xmlns:a16="http://schemas.microsoft.com/office/drawing/2014/main" val="20008"/>
                    </a:ext>
                  </a:extLst>
                </a:gridCol>
              </a:tblGrid>
              <a:tr h="0">
                <a:tc>
                  <a:txBody>
                    <a:bodyPr/>
                    <a:lstStyle/>
                    <a:p>
                      <a:pPr algn="ctr" fontAlgn="b"/>
                      <a:r>
                        <a:rPr lang="en-US" sz="950" b="1" i="0" u="sng" strike="noStrike" dirty="0">
                          <a:solidFill>
                            <a:srgbClr val="000000"/>
                          </a:solidFill>
                          <a:effectLst/>
                          <a:latin typeface="Barlow" panose="00000500000000000000" pitchFamily="2" charset="0"/>
                        </a:rPr>
                        <a:t>F&amp;O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4">
                  <a:txBody>
                    <a:bodyPr/>
                    <a:lstStyle/>
                    <a:p>
                      <a:pPr algn="ctr" fontAlgn="b"/>
                      <a:r>
                        <a:rPr lang="en-US" sz="950" b="1" i="0" u="none" strike="noStrike" dirty="0">
                          <a:solidFill>
                            <a:srgbClr val="000000"/>
                          </a:solidFill>
                          <a:effectLst/>
                          <a:latin typeface="Barlow" panose="00000500000000000000" pitchFamily="2" charset="0"/>
                        </a:rPr>
                        <a:t>Existing System</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4">
                  <a:txBody>
                    <a:bodyPr/>
                    <a:lstStyle/>
                    <a:p>
                      <a:pPr algn="ctr" fontAlgn="b"/>
                      <a:r>
                        <a:rPr lang="en-US" sz="950" b="1" i="0" u="none" strike="noStrike" dirty="0">
                          <a:solidFill>
                            <a:srgbClr val="000000"/>
                          </a:solidFill>
                          <a:effectLst/>
                          <a:latin typeface="Barlow" panose="00000500000000000000" pitchFamily="2" charset="0"/>
                        </a:rPr>
                        <a:t>Old System</a:t>
                      </a:r>
                    </a:p>
                  </a:txBody>
                  <a:tcPr marL="6350" marR="6350" marT="635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950" b="0" i="0" u="none" strike="noStrike" dirty="0">
                          <a:solidFill>
                            <a:srgbClr val="000000"/>
                          </a:solidFill>
                          <a:effectLst/>
                          <a:latin typeface="Barlow" panose="00000500000000000000" pitchFamily="2" charset="0"/>
                        </a:rPr>
                        <a:t> </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err="1">
                          <a:solidFill>
                            <a:srgbClr val="000000"/>
                          </a:solidFill>
                          <a:effectLst/>
                          <a:latin typeface="Barlow" panose="00000500000000000000" pitchFamily="2" charset="0"/>
                        </a:rPr>
                        <a:t>Bluechip</a:t>
                      </a:r>
                      <a:endParaRPr lang="en-US" sz="950" b="1"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Good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Average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Poor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err="1">
                          <a:solidFill>
                            <a:srgbClr val="000000"/>
                          </a:solidFill>
                          <a:effectLst/>
                          <a:latin typeface="Barlow" panose="00000500000000000000" pitchFamily="2" charset="0"/>
                        </a:rPr>
                        <a:t>Bluechip</a:t>
                      </a:r>
                      <a:endParaRPr lang="en-US" sz="950" b="1" i="0" u="none" strike="noStrike" dirty="0">
                        <a:solidFill>
                          <a:srgbClr val="000000"/>
                        </a:solidFill>
                        <a:effectLst/>
                        <a:latin typeface="Barlow" panose="00000500000000000000" pitchFamily="2" charset="0"/>
                      </a:endParaRP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Good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Average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950" b="1" i="0" u="none" strike="noStrike" dirty="0">
                          <a:solidFill>
                            <a:srgbClr val="000000"/>
                          </a:solidFill>
                          <a:effectLst/>
                          <a:latin typeface="Barlow" panose="00000500000000000000" pitchFamily="2" charset="0"/>
                        </a:rPr>
                        <a:t>Poor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0">
                <a:tc>
                  <a:txBody>
                    <a:bodyPr/>
                    <a:lstStyle/>
                    <a:p>
                      <a:pPr algn="ctr" fontAlgn="b"/>
                      <a:r>
                        <a:rPr lang="en-US" sz="95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&gt;=2000cr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&gt;=2000cr</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fontAlgn="b"/>
                      <a:r>
                        <a:rPr lang="en-US" sz="9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&gt;=5000cr</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&lt;100cr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b"/>
                      <a:r>
                        <a:rPr lang="en-US" sz="950" b="0" i="0" u="none" strike="noStrike" dirty="0">
                          <a:solidFill>
                            <a:srgbClr val="000000"/>
                          </a:solidFill>
                          <a:effectLst/>
                          <a:latin typeface="Barlow" panose="00000500000000000000" pitchFamily="2" charset="0"/>
                        </a:rPr>
                        <a:t>F&amp;O Stock?</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Yes</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35626">
                <a:tc>
                  <a:txBody>
                    <a:bodyPr/>
                    <a:lstStyle/>
                    <a:p>
                      <a:pPr algn="ctr" fontAlgn="b"/>
                      <a:r>
                        <a:rPr lang="en-US" sz="9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PET (% of 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PET or F-Score </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Not meeting PET/</a:t>
                      </a:r>
                      <a:r>
                        <a:rPr lang="en-US" sz="950" b="0" i="0" u="none" strike="noStrike" dirty="0" err="1">
                          <a:solidFill>
                            <a:srgbClr val="000000"/>
                          </a:solidFill>
                          <a:effectLst/>
                          <a:latin typeface="Barlow" panose="00000500000000000000" pitchFamily="2" charset="0"/>
                        </a:rPr>
                        <a:t>Fscore</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PET Absolute (in Cr)</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PET Absolute (in 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fontAlgn="b"/>
                      <a:r>
                        <a:rPr lang="en-US" sz="950" b="0" i="1" u="none" strike="noStrike" dirty="0">
                          <a:solidFill>
                            <a:srgbClr val="000000"/>
                          </a:solidFill>
                          <a:effectLst/>
                          <a:latin typeface="Barlow" panose="00000500000000000000" pitchFamily="2" charset="0"/>
                        </a:rPr>
                        <a:t>Power/Emp/Tax (Above)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1" u="none" strike="noStrike" dirty="0">
                          <a:solidFill>
                            <a:srgbClr val="000000"/>
                          </a:solidFill>
                          <a:effectLst/>
                          <a:latin typeface="Barlow" panose="00000500000000000000" pitchFamily="2" charset="0"/>
                        </a:rPr>
                        <a:t>&gt;1%/1%/15%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1" u="none" strike="noStrike" dirty="0">
                          <a:solidFill>
                            <a:srgbClr val="000000"/>
                          </a:solidFill>
                          <a:effectLst/>
                          <a:latin typeface="Barlow" panose="00000500000000000000" pitchFamily="2" charset="0"/>
                        </a:rPr>
                        <a:t>&gt;1%/1%/15%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1" u="none" strike="noStrike" dirty="0">
                          <a:solidFill>
                            <a:srgbClr val="000000"/>
                          </a:solidFill>
                          <a:effectLst/>
                          <a:latin typeface="Barlow" panose="00000500000000000000" pitchFamily="2" charset="0"/>
                        </a:rPr>
                        <a:t>&gt;1%/1%/15%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950" b="0" i="1"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&gt;=50/50/50</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&gt;= 10/10/10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 &gt;=2/2/2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1" u="none" strike="noStrike" dirty="0">
                          <a:solidFill>
                            <a:srgbClr val="000000"/>
                          </a:solidFill>
                          <a:effectLst/>
                          <a:latin typeface="Barlow" panose="00000500000000000000" pitchFamily="2" charset="0"/>
                        </a:rPr>
                        <a:t>&lt; 2/2/2</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fontAlgn="b"/>
                      <a:r>
                        <a:rPr lang="en-US" sz="95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1%</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b"/>
                      <a:r>
                        <a:rPr lang="en-US" sz="950" b="0" i="0" u="none" strike="noStrike" dirty="0">
                          <a:solidFill>
                            <a:srgbClr val="000000"/>
                          </a:solidFill>
                          <a:effectLst/>
                          <a:latin typeface="Barlow" panose="00000500000000000000" pitchFamily="2" charset="0"/>
                        </a:rPr>
                        <a:t>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5000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 1000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 200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200 Cr</a:t>
                      </a:r>
                      <a:endParaRPr lang="pl-PL"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endParaRPr lang="pl-PL" sz="950" b="0" i="0" u="none" strike="noStrike" dirty="0">
                        <a:solidFill>
                          <a:srgbClr val="000000"/>
                        </a:solidFill>
                        <a:effectLst/>
                        <a:latin typeface="Barlow" panose="00000500000000000000" pitchFamily="2" charset="0"/>
                      </a:endParaRP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b"/>
                      <a:r>
                        <a:rPr lang="en-US" sz="9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&lt;25%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&lt;40%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&lt;50%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50%</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6M Median Daily Turnover +</a:t>
                      </a:r>
                      <a:br>
                        <a:rPr lang="en-US" sz="950" b="0" i="0" u="none" strike="noStrike" dirty="0">
                          <a:solidFill>
                            <a:srgbClr val="000000"/>
                          </a:solidFill>
                          <a:effectLst/>
                          <a:latin typeface="Barlow" panose="00000500000000000000" pitchFamily="2" charset="0"/>
                        </a:rPr>
                      </a:br>
                      <a:r>
                        <a:rPr lang="en-US" sz="950" b="0" i="0" u="none" strike="noStrike" dirty="0">
                          <a:solidFill>
                            <a:srgbClr val="000000"/>
                          </a:solidFill>
                          <a:effectLst/>
                          <a:latin typeface="Barlow" panose="00000500000000000000" pitchFamily="2" charset="0"/>
                        </a:rPr>
                        <a:t>Latest 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&gt;20cr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&gt;15cr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950" b="0" i="0" u="none" strike="noStrike" dirty="0">
                          <a:solidFill>
                            <a:srgbClr val="000000"/>
                          </a:solidFill>
                          <a:effectLst/>
                          <a:latin typeface="Barlow" panose="00000500000000000000" pitchFamily="2" charset="0"/>
                        </a:rPr>
                        <a:t>&gt;2cr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 Cr</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b"/>
                      <a:r>
                        <a:rPr lang="en-US" sz="950" b="0" i="0" u="none" strike="noStrike" dirty="0">
                          <a:solidFill>
                            <a:srgbClr val="000000"/>
                          </a:solidFill>
                          <a:effectLst/>
                          <a:latin typeface="Barlow" panose="00000500000000000000" pitchFamily="2" charset="0"/>
                        </a:rPr>
                        <a:t>NSE /BSE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4">
                  <a:txBody>
                    <a:bodyPr/>
                    <a:lstStyle/>
                    <a:p>
                      <a:pPr algn="ctr" fontAlgn="b"/>
                      <a:r>
                        <a:rPr lang="en-US" sz="950" b="0" i="0" u="none" strike="noStrike" dirty="0">
                          <a:solidFill>
                            <a:srgbClr val="000000"/>
                          </a:solidFill>
                          <a:effectLst/>
                          <a:latin typeface="Barlow" panose="00000500000000000000" pitchFamily="2" charset="0"/>
                        </a:rPr>
                        <a:t>Refer Next Slide</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 name="TextBox 3"/>
          <p:cNvSpPr txBox="1"/>
          <p:nvPr/>
        </p:nvSpPr>
        <p:spPr>
          <a:xfrm>
            <a:off x="100443" y="4890444"/>
            <a:ext cx="9144000" cy="261610"/>
          </a:xfrm>
          <a:prstGeom prst="rect">
            <a:avLst/>
          </a:prstGeom>
          <a:noFill/>
        </p:spPr>
        <p:txBody>
          <a:bodyPr wrap="square">
            <a:spAutoFit/>
          </a:bodyPr>
          <a:lstStyle/>
          <a:p>
            <a:pPr marL="171450" indent="-171450">
              <a:buFont typeface="Arial" panose="020B0604020202020204" pitchFamily="34" charset="0"/>
              <a:buChar char="•"/>
            </a:pPr>
            <a:r>
              <a:rPr lang="en-US" sz="1100" b="1" dirty="0">
                <a:solidFill>
                  <a:srgbClr val="000000"/>
                </a:solidFill>
                <a:highlight>
                  <a:srgbClr val="FFFF00"/>
                </a:highlight>
                <a:latin typeface="Barlow" panose="00000500000000000000" pitchFamily="2" charset="0"/>
              </a:rPr>
              <a:t>The output from these rules are subject to manual intervention in case required. This process remains similar to existing system</a:t>
            </a:r>
            <a:r>
              <a:rPr lang="en-US" sz="1100" dirty="0">
                <a:solidFill>
                  <a:srgbClr val="000000"/>
                </a:solidFill>
                <a:latin typeface="Barlow" panose="00000500000000000000" pitchFamily="2" charset="0"/>
              </a:rPr>
              <a:t>. </a:t>
            </a:r>
          </a:p>
        </p:txBody>
      </p:sp>
      <p:sp>
        <p:nvSpPr>
          <p:cNvPr id="6" name="Left Brace 5"/>
          <p:cNvSpPr/>
          <p:nvPr/>
        </p:nvSpPr>
        <p:spPr>
          <a:xfrm>
            <a:off x="533400" y="895350"/>
            <a:ext cx="49186" cy="42025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p:cNvSpPr/>
          <p:nvPr/>
        </p:nvSpPr>
        <p:spPr>
          <a:xfrm>
            <a:off x="525780" y="1322443"/>
            <a:ext cx="56806" cy="42021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e 7"/>
          <p:cNvSpPr/>
          <p:nvPr/>
        </p:nvSpPr>
        <p:spPr>
          <a:xfrm>
            <a:off x="498073" y="1749494"/>
            <a:ext cx="111527" cy="9335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p:cNvSpPr/>
          <p:nvPr/>
        </p:nvSpPr>
        <p:spPr>
          <a:xfrm>
            <a:off x="529936" y="3066545"/>
            <a:ext cx="52650" cy="4196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p:cNvSpPr/>
          <p:nvPr/>
        </p:nvSpPr>
        <p:spPr>
          <a:xfrm>
            <a:off x="523703" y="3486150"/>
            <a:ext cx="85897" cy="4042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p:cNvSpPr/>
          <p:nvPr/>
        </p:nvSpPr>
        <p:spPr>
          <a:xfrm>
            <a:off x="533400" y="3942032"/>
            <a:ext cx="89365" cy="9157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0" y="904393"/>
            <a:ext cx="537555" cy="369332"/>
          </a:xfrm>
          <a:prstGeom prst="rect">
            <a:avLst/>
          </a:prstGeom>
          <a:noFill/>
        </p:spPr>
        <p:txBody>
          <a:bodyPr wrap="square" rtlCol="0">
            <a:spAutoFit/>
          </a:bodyPr>
          <a:lstStyle/>
          <a:p>
            <a:pPr algn="ctr"/>
            <a:r>
              <a:rPr lang="en-US" sz="900" dirty="0"/>
              <a:t>No change</a:t>
            </a:r>
          </a:p>
        </p:txBody>
      </p:sp>
      <p:sp>
        <p:nvSpPr>
          <p:cNvPr id="14" name="TextBox 13"/>
          <p:cNvSpPr txBox="1"/>
          <p:nvPr/>
        </p:nvSpPr>
        <p:spPr>
          <a:xfrm>
            <a:off x="-49186" y="1409435"/>
            <a:ext cx="605445" cy="369332"/>
          </a:xfrm>
          <a:prstGeom prst="rect">
            <a:avLst/>
          </a:prstGeom>
          <a:noFill/>
        </p:spPr>
        <p:txBody>
          <a:bodyPr wrap="square" rtlCol="0">
            <a:spAutoFit/>
          </a:bodyPr>
          <a:lstStyle/>
          <a:p>
            <a:pPr algn="ctr"/>
            <a:r>
              <a:rPr lang="en-US" sz="900" dirty="0"/>
              <a:t>Changed to %</a:t>
            </a:r>
          </a:p>
        </p:txBody>
      </p:sp>
      <p:sp>
        <p:nvSpPr>
          <p:cNvPr id="15" name="TextBox 14"/>
          <p:cNvSpPr txBox="1"/>
          <p:nvPr/>
        </p:nvSpPr>
        <p:spPr>
          <a:xfrm>
            <a:off x="-49186" y="2053324"/>
            <a:ext cx="658786" cy="369332"/>
          </a:xfrm>
          <a:prstGeom prst="rect">
            <a:avLst/>
          </a:prstGeom>
          <a:noFill/>
        </p:spPr>
        <p:txBody>
          <a:bodyPr wrap="square" rtlCol="0">
            <a:spAutoFit/>
          </a:bodyPr>
          <a:lstStyle/>
          <a:p>
            <a:pPr algn="ctr"/>
            <a:r>
              <a:rPr lang="en-US" sz="900" dirty="0"/>
              <a:t>Newly added</a:t>
            </a:r>
          </a:p>
        </p:txBody>
      </p:sp>
      <p:sp>
        <p:nvSpPr>
          <p:cNvPr id="16" name="TextBox 15"/>
          <p:cNvSpPr txBox="1"/>
          <p:nvPr/>
        </p:nvSpPr>
        <p:spPr>
          <a:xfrm>
            <a:off x="-53341" y="3190423"/>
            <a:ext cx="609600" cy="369332"/>
          </a:xfrm>
          <a:prstGeom prst="rect">
            <a:avLst/>
          </a:prstGeom>
          <a:noFill/>
        </p:spPr>
        <p:txBody>
          <a:bodyPr wrap="square" rtlCol="0">
            <a:spAutoFit/>
          </a:bodyPr>
          <a:lstStyle/>
          <a:p>
            <a:pPr algn="ctr"/>
            <a:r>
              <a:rPr lang="en-US" sz="900" dirty="0"/>
              <a:t>No change</a:t>
            </a:r>
          </a:p>
        </p:txBody>
      </p:sp>
      <p:sp>
        <p:nvSpPr>
          <p:cNvPr id="17" name="TextBox 16"/>
          <p:cNvSpPr txBox="1"/>
          <p:nvPr/>
        </p:nvSpPr>
        <p:spPr>
          <a:xfrm>
            <a:off x="-76200" y="3527878"/>
            <a:ext cx="658786" cy="369332"/>
          </a:xfrm>
          <a:prstGeom prst="rect">
            <a:avLst/>
          </a:prstGeom>
          <a:noFill/>
        </p:spPr>
        <p:txBody>
          <a:bodyPr wrap="square" rtlCol="0">
            <a:spAutoFit/>
          </a:bodyPr>
          <a:lstStyle/>
          <a:p>
            <a:pPr algn="ctr"/>
            <a:r>
              <a:rPr lang="en-US" sz="900" dirty="0"/>
              <a:t>Changed to %</a:t>
            </a:r>
          </a:p>
        </p:txBody>
      </p:sp>
      <p:sp>
        <p:nvSpPr>
          <p:cNvPr id="18" name="TextBox 17"/>
          <p:cNvSpPr txBox="1"/>
          <p:nvPr/>
        </p:nvSpPr>
        <p:spPr>
          <a:xfrm>
            <a:off x="-47067" y="3960776"/>
            <a:ext cx="658786" cy="369332"/>
          </a:xfrm>
          <a:prstGeom prst="rect">
            <a:avLst/>
          </a:prstGeom>
          <a:noFill/>
        </p:spPr>
        <p:txBody>
          <a:bodyPr wrap="square" rtlCol="0">
            <a:spAutoFit/>
          </a:bodyPr>
          <a:lstStyle/>
          <a:p>
            <a:pPr algn="ctr"/>
            <a:r>
              <a:rPr lang="en-US" sz="900" dirty="0"/>
              <a:t>Newly added</a:t>
            </a:r>
          </a:p>
        </p:txBody>
      </p:sp>
      <p:sp>
        <p:nvSpPr>
          <p:cNvPr id="20"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21"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Poor Restricted Rules</a:t>
            </a:r>
            <a:endParaRPr lang="en-IN" dirty="0"/>
          </a:p>
        </p:txBody>
      </p:sp>
      <p:sp>
        <p:nvSpPr>
          <p:cNvPr id="22" name="TextBox 21"/>
          <p:cNvSpPr txBox="1"/>
          <p:nvPr/>
        </p:nvSpPr>
        <p:spPr>
          <a:xfrm>
            <a:off x="1942814" y="4364400"/>
            <a:ext cx="5105400" cy="276999"/>
          </a:xfrm>
          <a:prstGeom prst="rect">
            <a:avLst/>
          </a:prstGeom>
          <a:noFill/>
        </p:spPr>
        <p:txBody>
          <a:bodyPr wrap="square">
            <a:spAutoFit/>
          </a:bodyPr>
          <a:lstStyle/>
          <a:p>
            <a:r>
              <a:rPr lang="en-US" sz="1200" dirty="0">
                <a:solidFill>
                  <a:srgbClr val="000000"/>
                </a:solidFill>
                <a:latin typeface="Barlow" panose="00000500000000000000" pitchFamily="2" charset="0"/>
              </a:rPr>
              <a:t>Please note, </a:t>
            </a:r>
            <a:r>
              <a:rPr lang="en-US" sz="1200" b="1" dirty="0">
                <a:solidFill>
                  <a:srgbClr val="000000"/>
                </a:solidFill>
                <a:latin typeface="Barlow" panose="00000500000000000000" pitchFamily="2" charset="0"/>
              </a:rPr>
              <a:t>ONLY </a:t>
            </a:r>
            <a:r>
              <a:rPr lang="en-US" sz="1200" dirty="0">
                <a:solidFill>
                  <a:srgbClr val="000000"/>
                </a:solidFill>
                <a:latin typeface="Barlow" panose="00000500000000000000" pitchFamily="2" charset="0"/>
              </a:rPr>
              <a:t>Non F&amp;O stocks are categorized as Poor, Restricted</a:t>
            </a:r>
          </a:p>
        </p:txBody>
      </p:sp>
      <p:graphicFrame>
        <p:nvGraphicFramePr>
          <p:cNvPr id="6" name="Table 5">
            <a:extLst>
              <a:ext uri="{FF2B5EF4-FFF2-40B4-BE49-F238E27FC236}">
                <a16:creationId xmlns:a16="http://schemas.microsoft.com/office/drawing/2014/main" id="{5B758612-3AA3-F86A-BB7E-01C742F983CD}"/>
              </a:ext>
            </a:extLst>
          </p:cNvPr>
          <p:cNvGraphicFramePr>
            <a:graphicFrameLocks noGrp="1"/>
          </p:cNvGraphicFramePr>
          <p:nvPr>
            <p:extLst>
              <p:ext uri="{D42A27DB-BD31-4B8C-83A1-F6EECF244321}">
                <p14:modId xmlns:p14="http://schemas.microsoft.com/office/powerpoint/2010/main" val="1450694279"/>
              </p:ext>
            </p:extLst>
          </p:nvPr>
        </p:nvGraphicFramePr>
        <p:xfrm>
          <a:off x="3124200" y="938323"/>
          <a:ext cx="2251526" cy="2775817"/>
        </p:xfrm>
        <a:graphic>
          <a:graphicData uri="http://schemas.openxmlformats.org/drawingml/2006/table">
            <a:tbl>
              <a:tblPr/>
              <a:tblGrid>
                <a:gridCol w="1472289">
                  <a:extLst>
                    <a:ext uri="{9D8B030D-6E8A-4147-A177-3AD203B41FA5}">
                      <a16:colId xmlns:a16="http://schemas.microsoft.com/office/drawing/2014/main" val="2787217800"/>
                    </a:ext>
                  </a:extLst>
                </a:gridCol>
                <a:gridCol w="779237">
                  <a:extLst>
                    <a:ext uri="{9D8B030D-6E8A-4147-A177-3AD203B41FA5}">
                      <a16:colId xmlns:a16="http://schemas.microsoft.com/office/drawing/2014/main" val="821285383"/>
                    </a:ext>
                  </a:extLst>
                </a:gridCol>
              </a:tblGrid>
              <a:tr h="137922">
                <a:tc>
                  <a:txBody>
                    <a:bodyPr/>
                    <a:lstStyle/>
                    <a:p>
                      <a:pPr algn="ctr" fontAlgn="b"/>
                      <a:r>
                        <a:rPr lang="en-US" sz="1050" b="1" i="0" u="sng" strike="noStrike" dirty="0">
                          <a:solidFill>
                            <a:srgbClr val="000000"/>
                          </a:solidFill>
                          <a:effectLst/>
                          <a:latin typeface="Barlow" panose="00000500000000000000" pitchFamily="2" charset="0"/>
                        </a:rPr>
                        <a:t>Non-F&amp;O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050" b="1" i="0" u="none" strike="noStrike" dirty="0">
                          <a:solidFill>
                            <a:srgbClr val="000000"/>
                          </a:solidFill>
                          <a:effectLst/>
                          <a:latin typeface="Barlow" panose="00000500000000000000" pitchFamily="2" charset="0"/>
                        </a:rPr>
                        <a:t>Current System</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26982576"/>
                  </a:ext>
                </a:extLst>
              </a:tr>
              <a:tr h="137922">
                <a:tc>
                  <a:txBody>
                    <a:bodyPr/>
                    <a:lstStyle/>
                    <a:p>
                      <a:pPr algn="ctr" fontAlgn="b"/>
                      <a:r>
                        <a:rPr lang="en-US" sz="1050" b="0" i="0" u="none" strike="noStrike" dirty="0">
                          <a:solidFill>
                            <a:srgbClr val="000000"/>
                          </a:solidFill>
                          <a:effectLst/>
                          <a:latin typeface="Barlow" panose="00000500000000000000" pitchFamily="2" charset="0"/>
                        </a:rPr>
                        <a:t> </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endParaRPr lang="en-US" sz="1050" b="1"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85151984"/>
                  </a:ext>
                </a:extLst>
              </a:tr>
              <a:tr h="137922">
                <a:tc>
                  <a:txBody>
                    <a:bodyPr/>
                    <a:lstStyle/>
                    <a:p>
                      <a:pPr algn="ctr" fontAlgn="b"/>
                      <a:r>
                        <a:rPr lang="en-US" sz="105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 </a:t>
                      </a:r>
                      <a:r>
                        <a:rPr lang="en-US" sz="950" b="0" i="0" u="none" strike="noStrike" dirty="0" err="1">
                          <a:solidFill>
                            <a:srgbClr val="000000"/>
                          </a:solidFill>
                          <a:effectLst/>
                          <a:latin typeface="Barlow" panose="00000500000000000000" pitchFamily="2" charset="0"/>
                        </a:rPr>
                        <a:t>cr</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1047358"/>
                  </a:ext>
                </a:extLst>
              </a:tr>
              <a:tr h="137922">
                <a:tc>
                  <a:txBody>
                    <a:bodyPr/>
                    <a:lstStyle/>
                    <a:p>
                      <a:pPr algn="ctr" fontAlgn="b"/>
                      <a:r>
                        <a:rPr lang="en-US" sz="10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100 </a:t>
                      </a:r>
                      <a:r>
                        <a:rPr lang="en-US" sz="950" b="0" i="0" u="none" strike="noStrike" dirty="0" err="1">
                          <a:solidFill>
                            <a:srgbClr val="000000"/>
                          </a:solidFill>
                          <a:effectLst/>
                          <a:latin typeface="Barlow" panose="00000500000000000000" pitchFamily="2" charset="0"/>
                        </a:rPr>
                        <a:t>cr</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5487871"/>
                  </a:ext>
                </a:extLst>
              </a:tr>
              <a:tr h="176127">
                <a:tc>
                  <a:txBody>
                    <a:bodyPr/>
                    <a:lstStyle/>
                    <a:p>
                      <a:pPr algn="ctr" fontAlgn="b"/>
                      <a:r>
                        <a:rPr lang="en-US" sz="1050" b="0" i="0" u="none" strike="noStrike" dirty="0">
                          <a:solidFill>
                            <a:srgbClr val="000000"/>
                          </a:solidFill>
                          <a:effectLst/>
                          <a:latin typeface="Barlow" panose="00000500000000000000" pitchFamily="2" charset="0"/>
                        </a:rPr>
                        <a:t>F&amp;O Stock?</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No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9781091"/>
                  </a:ext>
                </a:extLst>
              </a:tr>
              <a:tr h="273458">
                <a:tc>
                  <a:txBody>
                    <a:bodyPr/>
                    <a:lstStyle/>
                    <a:p>
                      <a:pPr algn="ctr" fontAlgn="b"/>
                      <a:r>
                        <a:rPr lang="en-US" sz="10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950" b="0" i="0" u="none" strike="noStrike" dirty="0">
                          <a:solidFill>
                            <a:srgbClr val="000000"/>
                          </a:solidFill>
                          <a:effectLst/>
                          <a:latin typeface="Barlow" panose="00000500000000000000" pitchFamily="2" charset="0"/>
                        </a:rPr>
                        <a:t>Not meeting PET/</a:t>
                      </a:r>
                      <a:r>
                        <a:rPr lang="en-US" sz="950" b="0" i="0" u="none" strike="noStrike" dirty="0" err="1">
                          <a:solidFill>
                            <a:srgbClr val="000000"/>
                          </a:solidFill>
                          <a:effectLst/>
                          <a:latin typeface="Barlow" panose="00000500000000000000" pitchFamily="2" charset="0"/>
                        </a:rPr>
                        <a:t>Fscore</a:t>
                      </a:r>
                      <a:endParaRPr lang="en-US"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9193370"/>
                  </a:ext>
                </a:extLst>
              </a:tr>
              <a:tr h="137922">
                <a:tc>
                  <a:txBody>
                    <a:bodyPr/>
                    <a:lstStyle/>
                    <a:p>
                      <a:pPr algn="ctr" fontAlgn="b"/>
                      <a:r>
                        <a:rPr lang="en-US" sz="1050" b="0" i="1" u="none" strike="noStrike" dirty="0">
                          <a:solidFill>
                            <a:srgbClr val="000000"/>
                          </a:solidFill>
                          <a:effectLst/>
                          <a:latin typeface="Barlow" panose="00000500000000000000" pitchFamily="2" charset="0"/>
                        </a:rPr>
                        <a:t>Power/Emp/Tax (Above)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050" b="0" i="1"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6755890"/>
                  </a:ext>
                </a:extLst>
              </a:tr>
              <a:tr h="137922">
                <a:tc>
                  <a:txBody>
                    <a:bodyPr/>
                    <a:lstStyle/>
                    <a:p>
                      <a:pPr algn="ctr" fontAlgn="b"/>
                      <a:r>
                        <a:rPr lang="en-US" sz="105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5617565"/>
                  </a:ext>
                </a:extLst>
              </a:tr>
              <a:tr h="137922">
                <a:tc>
                  <a:txBody>
                    <a:bodyPr/>
                    <a:lstStyle/>
                    <a:p>
                      <a:pPr algn="ctr" fontAlgn="b"/>
                      <a:r>
                        <a:rPr lang="en-US" sz="1050" b="0" i="0" u="none" strike="noStrike" dirty="0">
                          <a:solidFill>
                            <a:srgbClr val="000000"/>
                          </a:solidFill>
                          <a:effectLst/>
                          <a:latin typeface="Barlow" panose="00000500000000000000" pitchFamily="2" charset="0"/>
                        </a:rPr>
                        <a:t>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=&lt; 200 Cr</a:t>
                      </a:r>
                      <a:endParaRPr lang="pl-PL" sz="9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6858"/>
                  </a:ext>
                </a:extLst>
              </a:tr>
              <a:tr h="137922">
                <a:tc>
                  <a:txBody>
                    <a:bodyPr/>
                    <a:lstStyle/>
                    <a:p>
                      <a:pPr algn="ctr" fontAlgn="b"/>
                      <a:r>
                        <a:rPr lang="en-US" sz="10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Barlow" panose="00000500000000000000" pitchFamily="2" charset="0"/>
                        </a:rPr>
                        <a:t>&gt;= 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8857432"/>
                  </a:ext>
                </a:extLst>
              </a:tr>
              <a:tr h="137922">
                <a:tc>
                  <a:txBody>
                    <a:bodyPr/>
                    <a:lstStyle/>
                    <a:p>
                      <a:pPr algn="ctr" fontAlgn="b"/>
                      <a:r>
                        <a:rPr lang="en-US" sz="1050" b="0" i="0" u="none" strike="noStrike" dirty="0">
                          <a:solidFill>
                            <a:srgbClr val="000000"/>
                          </a:solidFill>
                          <a:effectLst/>
                          <a:latin typeface="Barlow" panose="00000500000000000000" pitchFamily="2" charset="0"/>
                        </a:rPr>
                        <a:t>6M Average Daily Turnover +</a:t>
                      </a:r>
                      <a:br>
                        <a:rPr lang="en-US" sz="1050" b="0" i="0" u="none" strike="noStrike" dirty="0">
                          <a:solidFill>
                            <a:srgbClr val="000000"/>
                          </a:solidFill>
                          <a:effectLst/>
                          <a:latin typeface="Barlow" panose="00000500000000000000" pitchFamily="2" charset="0"/>
                        </a:rPr>
                      </a:br>
                      <a:r>
                        <a:rPr lang="en-US" sz="1050" b="0" i="0" u="none" strike="noStrike" dirty="0">
                          <a:solidFill>
                            <a:srgbClr val="000000"/>
                          </a:solidFill>
                          <a:effectLst/>
                          <a:latin typeface="Barlow" panose="00000500000000000000" pitchFamily="2" charset="0"/>
                        </a:rPr>
                        <a:t>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Barlow" panose="00000500000000000000" pitchFamily="2" charset="0"/>
                        </a:rPr>
                        <a:t>&lt; 0. 2 Cr</a:t>
                      </a:r>
                    </a:p>
                    <a:p>
                      <a:pPr algn="ctr" fontAlgn="b"/>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7778830"/>
                  </a:ext>
                </a:extLst>
              </a:tr>
              <a:tr h="137922">
                <a:tc>
                  <a:txBody>
                    <a:bodyPr/>
                    <a:lstStyle/>
                    <a:p>
                      <a:pPr algn="ctr" fontAlgn="b"/>
                      <a:r>
                        <a:rPr lang="en-US" sz="1050" b="0" i="0" u="none" strike="noStrike" dirty="0">
                          <a:solidFill>
                            <a:srgbClr val="000000"/>
                          </a:solidFill>
                          <a:effectLst/>
                          <a:latin typeface="Barlow" panose="00000500000000000000" pitchFamily="2" charset="0"/>
                        </a:rPr>
                        <a:t>NSE/ BSE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Barlow" panose="00000500000000000000" pitchFamily="2" charset="0"/>
                        </a:rPr>
                        <a:t>Z, P (BSE)</a:t>
                      </a:r>
                      <a:br>
                        <a:rPr lang="en-US" sz="1050" b="0" i="0" u="none" strike="noStrike" dirty="0">
                          <a:solidFill>
                            <a:srgbClr val="000000"/>
                          </a:solidFill>
                          <a:effectLst/>
                          <a:latin typeface="Barlow" panose="00000500000000000000" pitchFamily="2" charset="0"/>
                        </a:rPr>
                      </a:br>
                      <a:r>
                        <a:rPr lang="en-US" sz="1050" b="0" i="0" u="none" strike="noStrike" dirty="0">
                          <a:solidFill>
                            <a:srgbClr val="000000"/>
                          </a:solidFill>
                          <a:effectLst/>
                          <a:latin typeface="Barlow" panose="00000500000000000000" pitchFamily="2" charset="0"/>
                        </a:rPr>
                        <a:t>BZ (NSE)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8914550"/>
                  </a:ext>
                </a:extLst>
              </a:tr>
            </a:tbl>
          </a:graphicData>
        </a:graphic>
      </p:graphicFrame>
      <p:sp>
        <p:nvSpPr>
          <p:cNvPr id="8" name="TextBox 7">
            <a:extLst>
              <a:ext uri="{FF2B5EF4-FFF2-40B4-BE49-F238E27FC236}">
                <a16:creationId xmlns:a16="http://schemas.microsoft.com/office/drawing/2014/main" id="{F055235B-F376-3599-604D-9384BA6487F8}"/>
              </a:ext>
            </a:extLst>
          </p:cNvPr>
          <p:cNvSpPr txBox="1"/>
          <p:nvPr/>
        </p:nvSpPr>
        <p:spPr>
          <a:xfrm>
            <a:off x="1942814" y="3970020"/>
            <a:ext cx="5105400" cy="276999"/>
          </a:xfrm>
          <a:prstGeom prst="rect">
            <a:avLst/>
          </a:prstGeom>
          <a:noFill/>
        </p:spPr>
        <p:txBody>
          <a:bodyPr wrap="square">
            <a:spAutoFit/>
          </a:bodyPr>
          <a:lstStyle/>
          <a:p>
            <a:r>
              <a:rPr lang="en-US" sz="1200" dirty="0">
                <a:solidFill>
                  <a:srgbClr val="000000"/>
                </a:solidFill>
                <a:latin typeface="Barlow" panose="00000500000000000000" pitchFamily="2" charset="0"/>
              </a:rPr>
              <a:t>Please note, </a:t>
            </a:r>
            <a:r>
              <a:rPr lang="en-US" sz="1200" b="1" dirty="0">
                <a:solidFill>
                  <a:srgbClr val="000000"/>
                </a:solidFill>
                <a:latin typeface="Barlow" panose="00000500000000000000" pitchFamily="2" charset="0"/>
              </a:rPr>
              <a:t>ONLY </a:t>
            </a:r>
            <a:r>
              <a:rPr lang="en-US" sz="1200" dirty="0">
                <a:solidFill>
                  <a:srgbClr val="000000"/>
                </a:solidFill>
                <a:latin typeface="Barlow" panose="00000500000000000000" pitchFamily="2" charset="0"/>
              </a:rPr>
              <a:t>Poor Stocks can be categorized as Restricted</a:t>
            </a:r>
          </a:p>
        </p:txBody>
      </p:sp>
      <p:sp>
        <p:nvSpPr>
          <p:cNvPr id="7"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NSE/BSE Classification</a:t>
            </a:r>
            <a:endParaRPr lang="en-IN" dirty="0"/>
          </a:p>
        </p:txBody>
      </p:sp>
      <p:graphicFrame>
        <p:nvGraphicFramePr>
          <p:cNvPr id="22" name="Table 21"/>
          <p:cNvGraphicFramePr>
            <a:graphicFrameLocks noGrp="1"/>
          </p:cNvGraphicFramePr>
          <p:nvPr/>
        </p:nvGraphicFramePr>
        <p:xfrm>
          <a:off x="381000" y="1047750"/>
          <a:ext cx="3772581" cy="3775209"/>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20000"/>
                    </a:ext>
                  </a:extLst>
                </a:gridCol>
                <a:gridCol w="3391581">
                  <a:extLst>
                    <a:ext uri="{9D8B030D-6E8A-4147-A177-3AD203B41FA5}">
                      <a16:colId xmlns:a16="http://schemas.microsoft.com/office/drawing/2014/main" val="20001"/>
                    </a:ext>
                  </a:extLst>
                </a:gridCol>
              </a:tblGrid>
              <a:tr h="226645">
                <a:tc>
                  <a:txBody>
                    <a:bodyPr/>
                    <a:lstStyle/>
                    <a:p>
                      <a:pPr algn="ctr" fontAlgn="ctr"/>
                      <a:r>
                        <a:rPr lang="en-US" sz="900" b="1" i="0" u="none" strike="noStrike" dirty="0">
                          <a:solidFill>
                            <a:srgbClr val="000000"/>
                          </a:solidFill>
                          <a:effectLst/>
                          <a:latin typeface="Barlow" panose="00000500000000000000" pitchFamily="2" charset="0"/>
                        </a:rPr>
                        <a:t>BSE Group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900" b="1" i="0" u="none" strike="noStrike" dirty="0">
                          <a:solidFill>
                            <a:srgbClr val="000000"/>
                          </a:solidFill>
                          <a:effectLst/>
                          <a:latin typeface="Barlow" panose="00000500000000000000" pitchFamily="2" charset="0"/>
                        </a:rPr>
                        <a:t>Explanation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26645">
                <a:tc rowSpan="4">
                  <a:txBody>
                    <a:bodyPr/>
                    <a:lstStyle/>
                    <a:p>
                      <a:pPr algn="ctr" fontAlgn="ctr"/>
                      <a:r>
                        <a:rPr lang="en-US" sz="900" u="none" strike="noStrike" dirty="0">
                          <a:effectLst/>
                          <a:latin typeface="Barlow" panose="00000500000000000000" pitchFamily="2" charset="0"/>
                        </a:rPr>
                        <a:t>A</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Group consist of stocks which are actively traded in the market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6645">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Traded for at least 98% of days in last 3 months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24483">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Listed for minimum 3 months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39967">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Passed the investigation and compliance held by Dept of Surveillance and Supervision</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24483">
                <a:tc rowSpan="3">
                  <a:txBody>
                    <a:bodyPr/>
                    <a:lstStyle/>
                    <a:p>
                      <a:pPr algn="ctr" fontAlgn="ctr"/>
                      <a:r>
                        <a:rPr lang="en-US" sz="900" u="none" strike="noStrike" dirty="0">
                          <a:effectLst/>
                          <a:latin typeface="Barlow" panose="00000500000000000000" pitchFamily="2" charset="0"/>
                        </a:rPr>
                        <a:t>T</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No intraday allowed, only delivery</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24483">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Showing abnormal volatility</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24483">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Does not below to derivative segment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26645">
                <a:tc>
                  <a:txBody>
                    <a:bodyPr/>
                    <a:lstStyle/>
                    <a:p>
                      <a:pPr algn="ctr" fontAlgn="ctr"/>
                      <a:r>
                        <a:rPr lang="en-US" sz="900" u="none" strike="noStrike" dirty="0">
                          <a:effectLst/>
                          <a:latin typeface="Barlow" panose="00000500000000000000" pitchFamily="2" charset="0"/>
                        </a:rPr>
                        <a:t>X/XT</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Only listed on BSE and settled on trade-to-trade basis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24483">
                <a:tc rowSpan="4">
                  <a:txBody>
                    <a:bodyPr/>
                    <a:lstStyle/>
                    <a:p>
                      <a:pPr algn="ctr" fontAlgn="ctr"/>
                      <a:r>
                        <a:rPr lang="en-US" sz="900" u="none" strike="noStrike" dirty="0">
                          <a:effectLst/>
                          <a:latin typeface="Barlow" panose="00000500000000000000" pitchFamily="2" charset="0"/>
                        </a:rPr>
                        <a:t>Z</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Blacklisted Stocks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26645">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They failed to comply with exchange's listing requirement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24483">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Unable to redress complaints of investors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39967">
                <a:tc vMerge="1">
                  <a:txBody>
                    <a:bodyPr/>
                    <a:lstStyle/>
                    <a:p>
                      <a:endParaRPr lang="en-US"/>
                    </a:p>
                  </a:txBody>
                  <a:tcPr/>
                </a:tc>
                <a:tc>
                  <a:txBody>
                    <a:bodyPr/>
                    <a:lstStyle/>
                    <a:p>
                      <a:pPr algn="ctr" fontAlgn="b"/>
                      <a:r>
                        <a:rPr lang="en-US" sz="900" u="none" strike="noStrike" dirty="0">
                          <a:effectLst/>
                          <a:latin typeface="Barlow" panose="00000500000000000000" pitchFamily="2" charset="0"/>
                        </a:rPr>
                        <a:t>Those who have not made dematerialized arrangements with both the depositories (CDSL and NSDL)</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124483">
                <a:tc>
                  <a:txBody>
                    <a:bodyPr/>
                    <a:lstStyle/>
                    <a:p>
                      <a:pPr algn="ctr" fontAlgn="ctr"/>
                      <a:r>
                        <a:rPr lang="en-US" sz="900" u="none" strike="noStrike" dirty="0">
                          <a:effectLst/>
                          <a:latin typeface="Barlow" panose="00000500000000000000" pitchFamily="2" charset="0"/>
                        </a:rPr>
                        <a:t>ZP</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Trade to trade settlement only</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26645">
                <a:tc>
                  <a:txBody>
                    <a:bodyPr/>
                    <a:lstStyle/>
                    <a:p>
                      <a:pPr algn="ctr" fontAlgn="ctr"/>
                      <a:r>
                        <a:rPr lang="en-US" sz="900" u="none" strike="noStrike" dirty="0">
                          <a:effectLst/>
                          <a:latin typeface="Barlow" panose="00000500000000000000" pitchFamily="2" charset="0"/>
                        </a:rPr>
                        <a:t>M/MT</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Small &amp; Medium enterprises, Trade to trade settlement only</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26645">
                <a:tc>
                  <a:txBody>
                    <a:bodyPr/>
                    <a:lstStyle/>
                    <a:p>
                      <a:pPr algn="ctr" fontAlgn="ctr"/>
                      <a:r>
                        <a:rPr lang="en-US" sz="900" u="none" strike="noStrike" dirty="0">
                          <a:effectLst/>
                          <a:latin typeface="Barlow" panose="00000500000000000000" pitchFamily="2" charset="0"/>
                        </a:rPr>
                        <a:t>P</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Physical settlement, Trade to trade settlement only</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26645">
                <a:tc>
                  <a:txBody>
                    <a:bodyPr/>
                    <a:lstStyle/>
                    <a:p>
                      <a:pPr algn="ctr" fontAlgn="ctr"/>
                      <a:r>
                        <a:rPr lang="en-US" sz="900" u="none" strike="noStrike" dirty="0">
                          <a:effectLst/>
                          <a:latin typeface="Barlow" panose="00000500000000000000" pitchFamily="2" charset="0"/>
                        </a:rPr>
                        <a:t>B</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err="1">
                          <a:effectLst/>
                          <a:latin typeface="Barlow" panose="00000500000000000000" pitchFamily="2" charset="0"/>
                        </a:rPr>
                        <a:t>Misc</a:t>
                      </a:r>
                      <a:r>
                        <a:rPr lang="en-US" sz="900" u="none" strike="noStrike" dirty="0">
                          <a:effectLst/>
                          <a:latin typeface="Barlow" panose="00000500000000000000" pitchFamily="2" charset="0"/>
                        </a:rPr>
                        <a:t>, companies not forming part of above group is categorized here</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24483">
                <a:tc>
                  <a:txBody>
                    <a:bodyPr/>
                    <a:lstStyle/>
                    <a:p>
                      <a:pPr algn="ctr" fontAlgn="ctr"/>
                      <a:r>
                        <a:rPr lang="en-US" sz="900" u="none" strike="noStrike" dirty="0">
                          <a:effectLst/>
                          <a:latin typeface="Barlow" panose="00000500000000000000" pitchFamily="2" charset="0"/>
                        </a:rPr>
                        <a:t>IF</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Investment trusts and REITs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24483">
                <a:tc>
                  <a:txBody>
                    <a:bodyPr/>
                    <a:lstStyle/>
                    <a:p>
                      <a:pPr algn="ctr" fontAlgn="ctr"/>
                      <a:r>
                        <a:rPr lang="en-US" sz="900" b="0" i="0" u="none" strike="noStrike" dirty="0">
                          <a:solidFill>
                            <a:srgbClr val="000000"/>
                          </a:solidFill>
                          <a:effectLst/>
                          <a:latin typeface="Barlow" panose="00000500000000000000" pitchFamily="2" charset="0"/>
                        </a:rPr>
                        <a:t>MS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graphicFrame>
        <p:nvGraphicFramePr>
          <p:cNvPr id="24" name="Table 23"/>
          <p:cNvGraphicFramePr>
            <a:graphicFrameLocks noGrp="1"/>
          </p:cNvGraphicFramePr>
          <p:nvPr/>
        </p:nvGraphicFramePr>
        <p:xfrm>
          <a:off x="4495800" y="1047750"/>
          <a:ext cx="4343400" cy="3638045"/>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2816">
                <a:tc>
                  <a:txBody>
                    <a:bodyPr/>
                    <a:lstStyle/>
                    <a:p>
                      <a:pPr algn="ctr" fontAlgn="ctr"/>
                      <a:r>
                        <a:rPr lang="en-US" sz="900" b="1" i="0" u="none" strike="noStrike" dirty="0">
                          <a:solidFill>
                            <a:srgbClr val="000000"/>
                          </a:solidFill>
                          <a:effectLst/>
                          <a:latin typeface="Barlow" panose="00000500000000000000" pitchFamily="2" charset="0"/>
                        </a:rPr>
                        <a:t>NSE Group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900" b="1" i="0" u="none" strike="noStrike" dirty="0">
                          <a:solidFill>
                            <a:srgbClr val="000000"/>
                          </a:solidFill>
                          <a:effectLst/>
                          <a:latin typeface="Barlow" panose="00000500000000000000" pitchFamily="2" charset="0"/>
                        </a:rPr>
                        <a:t>Explanation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24364">
                <a:tc>
                  <a:txBody>
                    <a:bodyPr/>
                    <a:lstStyle/>
                    <a:p>
                      <a:pPr algn="ctr" fontAlgn="ctr"/>
                      <a:r>
                        <a:rPr lang="en-US" sz="900" u="none" strike="noStrike" dirty="0">
                          <a:effectLst/>
                          <a:latin typeface="Barlow" panose="00000500000000000000" pitchFamily="2" charset="0"/>
                        </a:rPr>
                        <a:t>EQ</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Intraday + Delivery possible</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4364">
                <a:tc>
                  <a:txBody>
                    <a:bodyPr/>
                    <a:lstStyle/>
                    <a:p>
                      <a:pPr algn="ctr" fontAlgn="ctr"/>
                      <a:r>
                        <a:rPr lang="en-US" sz="900" u="none" strike="noStrike" dirty="0">
                          <a:effectLst/>
                          <a:latin typeface="Barlow" panose="00000500000000000000" pitchFamily="2" charset="0"/>
                        </a:rPr>
                        <a:t>BE</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No intraday allowed, only trade for trade settlement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4364">
                <a:tc>
                  <a:txBody>
                    <a:bodyPr/>
                    <a:lstStyle/>
                    <a:p>
                      <a:pPr algn="ctr" fontAlgn="ctr"/>
                      <a:r>
                        <a:rPr lang="en-US" sz="900" u="none" strike="noStrike" dirty="0">
                          <a:effectLst/>
                          <a:latin typeface="Barlow" panose="00000500000000000000" pitchFamily="2" charset="0"/>
                        </a:rPr>
                        <a:t>BL</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For facilitating block deals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48728">
                <a:tc>
                  <a:txBody>
                    <a:bodyPr/>
                    <a:lstStyle/>
                    <a:p>
                      <a:pPr algn="ctr" fontAlgn="ctr"/>
                      <a:r>
                        <a:rPr lang="en-US" sz="900" u="none" strike="noStrike" dirty="0">
                          <a:effectLst/>
                          <a:latin typeface="Barlow" panose="00000500000000000000" pitchFamily="2" charset="0"/>
                        </a:rPr>
                        <a:t>BT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Provides exit route to small investors having shares in the physical form with a cap of 500 shares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08497">
                <a:tc>
                  <a:txBody>
                    <a:bodyPr/>
                    <a:lstStyle/>
                    <a:p>
                      <a:pPr algn="ctr" fontAlgn="ctr"/>
                      <a:r>
                        <a:rPr lang="en-US" sz="900" u="none" strike="noStrike" dirty="0">
                          <a:effectLst/>
                          <a:latin typeface="Barlow" panose="00000500000000000000" pitchFamily="2" charset="0"/>
                        </a:rPr>
                        <a:t>BZ</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Blacklisted for violation of exchange rules. No intraday or BTST allowed</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4364">
                <a:tc>
                  <a:txBody>
                    <a:bodyPr/>
                    <a:lstStyle/>
                    <a:p>
                      <a:pPr algn="ctr" fontAlgn="ctr"/>
                      <a:r>
                        <a:rPr lang="en-US" sz="900" u="none" strike="noStrike" dirty="0">
                          <a:effectLst/>
                          <a:latin typeface="Barlow" panose="00000500000000000000" pitchFamily="2" charset="0"/>
                        </a:rPr>
                        <a:t>GC</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Govt securities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24364">
                <a:tc>
                  <a:txBody>
                    <a:bodyPr/>
                    <a:lstStyle/>
                    <a:p>
                      <a:pPr algn="ctr" fontAlgn="ctr"/>
                      <a:r>
                        <a:rPr lang="en-US" sz="900" u="none" strike="noStrike" dirty="0">
                          <a:effectLst/>
                          <a:latin typeface="Barlow" panose="00000500000000000000" pitchFamily="2" charset="0"/>
                        </a:rPr>
                        <a:t>IQ</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Allow QFIs to trade without approval</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24364">
                <a:tc>
                  <a:txBody>
                    <a:bodyPr/>
                    <a:lstStyle/>
                    <a:p>
                      <a:pPr algn="ctr" fontAlgn="ctr"/>
                      <a:r>
                        <a:rPr lang="en-US" sz="900" u="none" strike="noStrike" dirty="0">
                          <a:effectLst/>
                          <a:latin typeface="Barlow" panose="00000500000000000000" pitchFamily="2" charset="0"/>
                        </a:rPr>
                        <a:t>IL</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FIIs can trade among themselves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24364">
                <a:tc>
                  <a:txBody>
                    <a:bodyPr/>
                    <a:lstStyle/>
                    <a:p>
                      <a:pPr algn="ctr" fontAlgn="ctr"/>
                      <a:r>
                        <a:rPr lang="en-US" sz="900" u="none" strike="noStrike" dirty="0">
                          <a:effectLst/>
                          <a:latin typeface="Barlow" panose="00000500000000000000" pitchFamily="2" charset="0"/>
                        </a:rPr>
                        <a:t>SM</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SME stocks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24364">
                <a:tc>
                  <a:txBody>
                    <a:bodyPr/>
                    <a:lstStyle/>
                    <a:p>
                      <a:pPr algn="ctr" fontAlgn="ctr"/>
                      <a:r>
                        <a:rPr lang="en-US" sz="900" u="none" strike="noStrike" dirty="0">
                          <a:effectLst/>
                          <a:latin typeface="Barlow" panose="00000500000000000000" pitchFamily="2" charset="0"/>
                        </a:rPr>
                        <a:t>ST</a:t>
                      </a:r>
                      <a:endParaRPr lang="en-US" sz="900" b="0" i="0" u="none" strike="noStrike" dirty="0">
                        <a:solidFill>
                          <a:srgbClr val="FF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en-US" sz="900" u="none" strike="noStrike" dirty="0">
                          <a:effectLst/>
                          <a:latin typeface="Barlow" panose="00000500000000000000" pitchFamily="2" charset="0"/>
                        </a:rPr>
                        <a:t>Trade for trade settlement</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24364">
                <a:tc>
                  <a:txBody>
                    <a:bodyPr/>
                    <a:lstStyle/>
                    <a:p>
                      <a:pPr algn="ctr" fontAlgn="ctr"/>
                      <a:r>
                        <a:rPr lang="en-US" sz="900" u="none" strike="noStrike">
                          <a:effectLst/>
                          <a:latin typeface="Barlow" panose="00000500000000000000" pitchFamily="2" charset="0"/>
                        </a:rPr>
                        <a:t>E1</a:t>
                      </a:r>
                      <a:endParaRPr lang="en-US" sz="900" b="0" i="0" u="none" strike="noStrike">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Partly paid shares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24364">
                <a:tc>
                  <a:txBody>
                    <a:bodyPr/>
                    <a:lstStyle/>
                    <a:p>
                      <a:pPr algn="ctr" fontAlgn="ctr"/>
                      <a:r>
                        <a:rPr lang="en-US" sz="900" u="none" strike="noStrike">
                          <a:effectLst/>
                          <a:latin typeface="Barlow" panose="00000500000000000000" pitchFamily="2" charset="0"/>
                        </a:rPr>
                        <a:t>RR</a:t>
                      </a:r>
                      <a:endParaRPr lang="en-US" sz="900" b="0" i="0" u="none" strike="noStrike">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REITs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24364">
                <a:tc>
                  <a:txBody>
                    <a:bodyPr/>
                    <a:lstStyle/>
                    <a:p>
                      <a:pPr algn="ctr" fontAlgn="ctr"/>
                      <a:r>
                        <a:rPr lang="en-US" sz="900" u="none" strike="noStrike">
                          <a:effectLst/>
                          <a:latin typeface="Barlow" panose="00000500000000000000" pitchFamily="2" charset="0"/>
                        </a:rPr>
                        <a:t>IV</a:t>
                      </a:r>
                      <a:endParaRPr lang="en-US" sz="900" b="0" i="0" u="none" strike="noStrike">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900" u="none" strike="noStrike" dirty="0">
                          <a:effectLst/>
                          <a:latin typeface="Barlow" panose="00000500000000000000" pitchFamily="2" charset="0"/>
                        </a:rPr>
                        <a:t>Investment trusts</a:t>
                      </a:r>
                      <a:endParaRPr lang="en-US" sz="900" b="0" i="0" u="none" strike="noStrike" dirty="0">
                        <a:solidFill>
                          <a:srgbClr val="000000"/>
                        </a:solidFill>
                        <a:effectLst/>
                        <a:latin typeface="Barlow" panose="000005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25" name="TextBox 24"/>
          <p:cNvSpPr txBox="1"/>
          <p:nvPr/>
        </p:nvSpPr>
        <p:spPr>
          <a:xfrm>
            <a:off x="13855" y="616862"/>
            <a:ext cx="9144000" cy="276999"/>
          </a:xfrm>
          <a:prstGeom prst="rect">
            <a:avLst/>
          </a:prstGeom>
          <a:noFill/>
        </p:spPr>
        <p:txBody>
          <a:bodyPr wrap="square">
            <a:spAutoFit/>
          </a:bodyPr>
          <a:lstStyle/>
          <a:p>
            <a:r>
              <a:rPr lang="en-US" sz="1200" dirty="0">
                <a:solidFill>
                  <a:srgbClr val="000000"/>
                </a:solidFill>
                <a:latin typeface="Barlow" panose="00000500000000000000" pitchFamily="2" charset="0"/>
              </a:rPr>
              <a:t>BSE / NSE Group which are marked in Red are categorized as “Poor” </a:t>
            </a:r>
          </a:p>
        </p:txBody>
      </p:sp>
      <p:sp>
        <p:nvSpPr>
          <p:cNvPr id="5"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6"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152400" y="49428"/>
            <a:ext cx="6356578" cy="468935"/>
          </a:xfrm>
        </p:spPr>
        <p:txBody>
          <a:bodyPr>
            <a:normAutofit/>
          </a:bodyPr>
          <a:lstStyle/>
          <a:p>
            <a:r>
              <a:rPr lang="en-US" dirty="0"/>
              <a:t>Exception Rule for SIZE and ADTO (Poor </a:t>
            </a:r>
            <a:r>
              <a:rPr lang="en-US" dirty="0">
                <a:sym typeface="Wingdings" panose="05000000000000000000" pitchFamily="2" charset="2"/>
              </a:rPr>
              <a:t> Average)</a:t>
            </a:r>
            <a:endParaRPr lang="en-IN" dirty="0"/>
          </a:p>
        </p:txBody>
      </p:sp>
      <p:sp>
        <p:nvSpPr>
          <p:cNvPr id="2" name="TextBox 1"/>
          <p:cNvSpPr txBox="1"/>
          <p:nvPr/>
        </p:nvSpPr>
        <p:spPr>
          <a:xfrm>
            <a:off x="13855" y="616862"/>
            <a:ext cx="9144000" cy="461665"/>
          </a:xfrm>
          <a:prstGeom prst="rect">
            <a:avLst/>
          </a:prstGeom>
          <a:noFill/>
        </p:spPr>
        <p:txBody>
          <a:bodyPr wrap="square">
            <a:spAutoFit/>
          </a:bodyPr>
          <a:lstStyle/>
          <a:p>
            <a:r>
              <a:rPr lang="en-US" sz="1200" b="1" dirty="0">
                <a:solidFill>
                  <a:srgbClr val="000000"/>
                </a:solidFill>
                <a:latin typeface="Barlow" panose="00000500000000000000" pitchFamily="2" charset="0"/>
              </a:rPr>
              <a:t>Size Exception</a:t>
            </a:r>
          </a:p>
          <a:p>
            <a:r>
              <a:rPr lang="en-US" sz="1200" dirty="0">
                <a:solidFill>
                  <a:srgbClr val="000000"/>
                </a:solidFill>
                <a:latin typeface="Barlow" panose="00000500000000000000" pitchFamily="2" charset="0"/>
              </a:rPr>
              <a:t>It is only applicable on stocks which have been rated “Poor” based on above rules only because of not meeting any one of the size </a:t>
            </a:r>
            <a:r>
              <a:rPr lang="en-US" sz="1200" dirty="0" err="1">
                <a:solidFill>
                  <a:srgbClr val="000000"/>
                </a:solidFill>
                <a:latin typeface="Barlow" panose="00000500000000000000" pitchFamily="2" charset="0"/>
              </a:rPr>
              <a:t>critiera</a:t>
            </a:r>
            <a:endParaRPr lang="en-US" sz="1200" dirty="0">
              <a:solidFill>
                <a:srgbClr val="000000"/>
              </a:solidFill>
              <a:latin typeface="Barlow" panose="00000500000000000000" pitchFamily="2" charset="0"/>
            </a:endParaRPr>
          </a:p>
        </p:txBody>
      </p:sp>
      <p:graphicFrame>
        <p:nvGraphicFramePr>
          <p:cNvPr id="3" name="Table 2"/>
          <p:cNvGraphicFramePr>
            <a:graphicFrameLocks noGrp="1"/>
          </p:cNvGraphicFramePr>
          <p:nvPr/>
        </p:nvGraphicFramePr>
        <p:xfrm>
          <a:off x="381000" y="1200150"/>
          <a:ext cx="2667000" cy="149894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a:solidFill>
                            <a:srgbClr val="000000"/>
                          </a:solidFill>
                          <a:effectLst/>
                          <a:latin typeface="Barlow" panose="00000500000000000000" pitchFamily="2" charset="0"/>
                        </a:rPr>
                        <a:t>Net worth</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0">
                <a:tc>
                  <a:txBody>
                    <a:bodyPr/>
                    <a:lstStyle/>
                    <a:p>
                      <a:pPr algn="ctr" fontAlgn="b"/>
                      <a:r>
                        <a:rPr lang="en-US" sz="10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2"/>
                  </a:ext>
                </a:extLst>
              </a:tr>
              <a:tr h="167980">
                <a:tc>
                  <a:txBody>
                    <a:bodyPr/>
                    <a:lstStyle/>
                    <a:p>
                      <a:pPr algn="ctr" fontAlgn="b"/>
                      <a:r>
                        <a:rPr lang="en-US" sz="10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05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fontAlgn="b"/>
                      <a:r>
                        <a:rPr lang="en-US" sz="105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ctr" fontAlgn="b"/>
                      <a:r>
                        <a:rPr lang="en-US" sz="1050" b="0" i="0" u="none" strike="noStrike">
                          <a:solidFill>
                            <a:srgbClr val="000000"/>
                          </a:solidFill>
                          <a:effectLst/>
                          <a:latin typeface="Barlow" panose="00000500000000000000" pitchFamily="2" charset="0"/>
                        </a:rPr>
                        <a:t>Sales</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&gt;100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5"/>
                  </a:ext>
                </a:extLst>
              </a:tr>
              <a:tr h="0">
                <a:tc>
                  <a:txBody>
                    <a:bodyPr/>
                    <a:lstStyle/>
                    <a:p>
                      <a:pPr algn="ctr" fontAlgn="b"/>
                      <a:r>
                        <a:rPr lang="en-US" sz="10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algn="ctr" fontAlgn="b"/>
                      <a:r>
                        <a:rPr lang="en-US" sz="1050" b="0" i="0" u="none" strike="noStrike" dirty="0">
                          <a:solidFill>
                            <a:srgbClr val="000000"/>
                          </a:solidFill>
                          <a:effectLst/>
                          <a:latin typeface="Barlow" panose="00000500000000000000" pitchFamily="2" charset="0"/>
                        </a:rPr>
                        <a:t>6M Median ADTO + 3M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pPr algn="ctr" fontAlgn="b"/>
                      <a:r>
                        <a:rPr lang="en-US" sz="1050" b="0" i="0" u="none" strike="noStrike" dirty="0">
                          <a:solidFill>
                            <a:srgbClr val="000000"/>
                          </a:solidFill>
                          <a:effectLst/>
                          <a:latin typeface="Barlow" panose="00000500000000000000" pitchFamily="2" charset="0"/>
                        </a:rPr>
                        <a:t>BSE/NSE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6" name="Table 15"/>
          <p:cNvGraphicFramePr>
            <a:graphicFrameLocks noGrp="1"/>
          </p:cNvGraphicFramePr>
          <p:nvPr/>
        </p:nvGraphicFramePr>
        <p:xfrm>
          <a:off x="3733800" y="1200150"/>
          <a:ext cx="2667000" cy="66548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a:solidFill>
                            <a:srgbClr val="000000"/>
                          </a:solidFill>
                          <a:effectLst/>
                          <a:latin typeface="Barlow" panose="00000500000000000000" pitchFamily="2" charset="0"/>
                        </a:rPr>
                        <a:t>Net worth</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&gt;=150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fontAlgn="b"/>
                      <a:r>
                        <a:rPr lang="en-US" sz="10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&gt;=150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fontAlgn="b"/>
                      <a:r>
                        <a:rPr lang="en-US" sz="1050" b="0" i="0" u="none" strike="noStrike">
                          <a:solidFill>
                            <a:srgbClr val="000000"/>
                          </a:solidFill>
                          <a:effectLst/>
                          <a:latin typeface="Barlow" panose="00000500000000000000" pitchFamily="2" charset="0"/>
                        </a:rPr>
                        <a:t>Sales</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&gt;300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30" name="TextBox 29"/>
          <p:cNvSpPr txBox="1"/>
          <p:nvPr/>
        </p:nvSpPr>
        <p:spPr>
          <a:xfrm>
            <a:off x="3733800" y="1865630"/>
            <a:ext cx="2819400" cy="1223412"/>
          </a:xfrm>
          <a:prstGeom prst="rect">
            <a:avLst/>
          </a:prstGeom>
          <a:noFill/>
        </p:spPr>
        <p:txBody>
          <a:bodyPr wrap="square">
            <a:spAutoFit/>
          </a:bodyPr>
          <a:lstStyle/>
          <a:p>
            <a:r>
              <a:rPr lang="en-US" sz="1050" b="1" dirty="0">
                <a:solidFill>
                  <a:srgbClr val="000000"/>
                </a:solidFill>
                <a:latin typeface="Barlow" panose="00000500000000000000" pitchFamily="2" charset="0"/>
              </a:rPr>
              <a:t>Needs to meet at least 2 out of the 3 conditions above</a:t>
            </a:r>
          </a:p>
          <a:p>
            <a:r>
              <a:rPr lang="en-US" sz="1050" dirty="0">
                <a:solidFill>
                  <a:srgbClr val="000000"/>
                </a:solidFill>
                <a:latin typeface="Barlow" panose="00000500000000000000" pitchFamily="2" charset="0"/>
              </a:rPr>
              <a:t>Size requirement has been increased by 50% of average. </a:t>
            </a:r>
          </a:p>
          <a:p>
            <a:r>
              <a:rPr lang="en-US" sz="1050" dirty="0">
                <a:solidFill>
                  <a:srgbClr val="000000"/>
                </a:solidFill>
                <a:latin typeface="Barlow" panose="00000500000000000000" pitchFamily="2" charset="0"/>
              </a:rPr>
              <a:t>If we are being lenient on one of the size conditions, we have become strict on other 2 conditions. </a:t>
            </a:r>
          </a:p>
        </p:txBody>
      </p:sp>
      <p:sp>
        <p:nvSpPr>
          <p:cNvPr id="31" name="TextBox 30"/>
          <p:cNvSpPr txBox="1"/>
          <p:nvPr/>
        </p:nvSpPr>
        <p:spPr>
          <a:xfrm>
            <a:off x="387926" y="2693755"/>
            <a:ext cx="2507673" cy="253916"/>
          </a:xfrm>
          <a:prstGeom prst="rect">
            <a:avLst/>
          </a:prstGeom>
          <a:noFill/>
        </p:spPr>
        <p:txBody>
          <a:bodyPr wrap="square">
            <a:spAutoFit/>
          </a:bodyPr>
          <a:lstStyle/>
          <a:p>
            <a:r>
              <a:rPr lang="en-US" sz="1050" dirty="0">
                <a:solidFill>
                  <a:srgbClr val="000000"/>
                </a:solidFill>
                <a:latin typeface="Barlow" panose="00000500000000000000" pitchFamily="2" charset="0"/>
              </a:rPr>
              <a:t>Need to meet all the conditions above</a:t>
            </a:r>
          </a:p>
        </p:txBody>
      </p:sp>
      <p:pic>
        <p:nvPicPr>
          <p:cNvPr id="34" name="Graphic 33"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81733" y="1352550"/>
            <a:ext cx="211406" cy="211406"/>
          </a:xfrm>
          <a:prstGeom prst="rect">
            <a:avLst/>
          </a:prstGeom>
        </p:spPr>
      </p:pic>
      <p:sp>
        <p:nvSpPr>
          <p:cNvPr id="35" name="Arrow: Right 34"/>
          <p:cNvSpPr/>
          <p:nvPr/>
        </p:nvSpPr>
        <p:spPr>
          <a:xfrm>
            <a:off x="3120736" y="1522554"/>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Right 36"/>
          <p:cNvSpPr/>
          <p:nvPr/>
        </p:nvSpPr>
        <p:spPr>
          <a:xfrm>
            <a:off x="6553200" y="1423278"/>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7230035" y="1299656"/>
            <a:ext cx="1676400" cy="461665"/>
          </a:xfrm>
          <a:prstGeom prst="rect">
            <a:avLst/>
          </a:prstGeom>
          <a:noFill/>
        </p:spPr>
        <p:txBody>
          <a:bodyPr wrap="square">
            <a:spAutoFit/>
          </a:bodyPr>
          <a:lstStyle/>
          <a:p>
            <a:r>
              <a:rPr lang="en-US" sz="1200" dirty="0">
                <a:solidFill>
                  <a:srgbClr val="000000"/>
                </a:solidFill>
                <a:latin typeface="Barlow" panose="00000500000000000000" pitchFamily="2" charset="0"/>
              </a:rPr>
              <a:t>Stock Upgraded from “Poor” to “Average”</a:t>
            </a:r>
          </a:p>
        </p:txBody>
      </p:sp>
      <p:pic>
        <p:nvPicPr>
          <p:cNvPr id="39" name="Graphic 38"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9535" y="1233523"/>
            <a:ext cx="211406" cy="211406"/>
          </a:xfrm>
          <a:prstGeom prst="rect">
            <a:avLst/>
          </a:prstGeom>
        </p:spPr>
      </p:pic>
      <p:sp>
        <p:nvSpPr>
          <p:cNvPr id="40" name="TextBox 39"/>
          <p:cNvSpPr txBox="1"/>
          <p:nvPr/>
        </p:nvSpPr>
        <p:spPr>
          <a:xfrm>
            <a:off x="152400" y="2952750"/>
            <a:ext cx="9144000" cy="461665"/>
          </a:xfrm>
          <a:prstGeom prst="rect">
            <a:avLst/>
          </a:prstGeom>
          <a:noFill/>
        </p:spPr>
        <p:txBody>
          <a:bodyPr wrap="square">
            <a:spAutoFit/>
          </a:bodyPr>
          <a:lstStyle/>
          <a:p>
            <a:r>
              <a:rPr lang="en-US" sz="1200" b="1" dirty="0">
                <a:solidFill>
                  <a:srgbClr val="000000"/>
                </a:solidFill>
                <a:latin typeface="Barlow" panose="00000500000000000000" pitchFamily="2" charset="0"/>
              </a:rPr>
              <a:t>ADTO Exception</a:t>
            </a:r>
          </a:p>
          <a:p>
            <a:r>
              <a:rPr lang="en-US" sz="1200" dirty="0">
                <a:solidFill>
                  <a:srgbClr val="000000"/>
                </a:solidFill>
                <a:latin typeface="Barlow" panose="00000500000000000000" pitchFamily="2" charset="0"/>
              </a:rPr>
              <a:t>It is only applicable on stocks which have been rated “Poor” based on above rules</a:t>
            </a:r>
          </a:p>
        </p:txBody>
      </p:sp>
      <p:graphicFrame>
        <p:nvGraphicFramePr>
          <p:cNvPr id="41" name="Table 40"/>
          <p:cNvGraphicFramePr>
            <a:graphicFrameLocks noGrp="1"/>
          </p:cNvGraphicFramePr>
          <p:nvPr/>
        </p:nvGraphicFramePr>
        <p:xfrm>
          <a:off x="381000" y="3448304"/>
          <a:ext cx="2667000" cy="149894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&gt;=100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fontAlgn="b"/>
                      <a:r>
                        <a:rPr lang="en-US" sz="1050" b="0" i="0" u="none" strike="noStrike">
                          <a:solidFill>
                            <a:srgbClr val="000000"/>
                          </a:solidFill>
                          <a:effectLst/>
                          <a:latin typeface="Barlow" panose="00000500000000000000" pitchFamily="2" charset="0"/>
                        </a:rPr>
                        <a:t>Market Cap</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&gt;=100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7980">
                <a:tc>
                  <a:txBody>
                    <a:bodyPr/>
                    <a:lstStyle/>
                    <a:p>
                      <a:pPr algn="ctr" fontAlgn="b"/>
                      <a:r>
                        <a:rPr lang="en-US" sz="10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05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fontAlgn="b"/>
                      <a:r>
                        <a:rPr lang="en-US" sz="1050" b="0" i="0" u="none" strike="noStrike">
                          <a:solidFill>
                            <a:srgbClr val="000000"/>
                          </a:solidFill>
                          <a:effectLst/>
                          <a:latin typeface="Barlow" panose="00000500000000000000" pitchFamily="2" charset="0"/>
                        </a:rPr>
                        <a:t>Impact cost</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ctr" fontAlgn="b"/>
                      <a:r>
                        <a:rPr lang="en-US" sz="1050" b="0" i="0" u="none" strike="noStrike">
                          <a:solidFill>
                            <a:srgbClr val="000000"/>
                          </a:solidFill>
                          <a:effectLst/>
                          <a:latin typeface="Barlow" panose="00000500000000000000" pitchFamily="2" charset="0"/>
                        </a:rPr>
                        <a:t>Sales</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&gt;200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algn="ctr" fontAlgn="b"/>
                      <a:r>
                        <a:rPr lang="en-US" sz="10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algn="ctr" fontAlgn="b"/>
                      <a:r>
                        <a:rPr lang="en-US" sz="1050" b="0" i="0" u="none" strike="noStrike" dirty="0">
                          <a:solidFill>
                            <a:srgbClr val="000000"/>
                          </a:solidFill>
                          <a:effectLst/>
                          <a:latin typeface="Barlow" panose="00000500000000000000" pitchFamily="2" charset="0"/>
                        </a:rPr>
                        <a:t>Average Daily Turnover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7"/>
                  </a:ext>
                </a:extLst>
              </a:tr>
              <a:tr h="0">
                <a:tc>
                  <a:txBody>
                    <a:bodyPr/>
                    <a:lstStyle/>
                    <a:p>
                      <a:pPr algn="ctr" fontAlgn="b"/>
                      <a:r>
                        <a:rPr lang="en-US" sz="1050" b="0" i="0" u="none" strike="noStrike" dirty="0">
                          <a:solidFill>
                            <a:srgbClr val="000000"/>
                          </a:solidFill>
                          <a:effectLst/>
                          <a:latin typeface="Barlow" panose="00000500000000000000" pitchFamily="2" charset="0"/>
                        </a:rPr>
                        <a:t>BSE/NSE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pic>
        <p:nvPicPr>
          <p:cNvPr id="43" name="Graphic 42"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85197" y="3867150"/>
            <a:ext cx="211406" cy="211406"/>
          </a:xfrm>
          <a:prstGeom prst="rect">
            <a:avLst/>
          </a:prstGeom>
        </p:spPr>
      </p:pic>
      <p:sp>
        <p:nvSpPr>
          <p:cNvPr id="45" name="Arrow: Right 44"/>
          <p:cNvSpPr/>
          <p:nvPr/>
        </p:nvSpPr>
        <p:spPr>
          <a:xfrm>
            <a:off x="3124200" y="4037154"/>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Table 46"/>
          <p:cNvGraphicFramePr>
            <a:graphicFrameLocks noGrp="1"/>
          </p:cNvGraphicFramePr>
          <p:nvPr/>
        </p:nvGraphicFramePr>
        <p:xfrm>
          <a:off x="3719133" y="3631299"/>
          <a:ext cx="2667000" cy="83185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a:solidFill>
                            <a:srgbClr val="000000"/>
                          </a:solidFill>
                          <a:effectLst/>
                          <a:latin typeface="Barlow" panose="00000500000000000000" pitchFamily="2" charset="0"/>
                        </a:rPr>
                        <a:t>Net worth</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&gt;=300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fontAlgn="b"/>
                      <a:r>
                        <a:rPr lang="en-US" sz="10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&gt;=300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fontAlgn="b"/>
                      <a:r>
                        <a:rPr lang="en-US" sz="1050" b="0" i="0" u="none" strike="noStrike" dirty="0">
                          <a:solidFill>
                            <a:srgbClr val="000000"/>
                          </a:solidFill>
                          <a:effectLst/>
                          <a:latin typeface="Barlow" panose="00000500000000000000" pitchFamily="2" charset="0"/>
                        </a:rPr>
                        <a:t>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&gt;600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fontAlgn="b"/>
                      <a:r>
                        <a:rPr lang="en-US" sz="1050" b="0" i="0" u="none" strike="noStrike" dirty="0">
                          <a:solidFill>
                            <a:srgbClr val="000000"/>
                          </a:solidFill>
                          <a:effectLst/>
                          <a:latin typeface="Barlow" panose="00000500000000000000" pitchFamily="2" charset="0"/>
                        </a:rPr>
                        <a:t>6M Median ADTO + 3M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 0.5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49" name="TextBox 48"/>
          <p:cNvSpPr txBox="1"/>
          <p:nvPr/>
        </p:nvSpPr>
        <p:spPr>
          <a:xfrm>
            <a:off x="3798796" y="4488918"/>
            <a:ext cx="2507673" cy="738664"/>
          </a:xfrm>
          <a:prstGeom prst="rect">
            <a:avLst/>
          </a:prstGeom>
          <a:noFill/>
        </p:spPr>
        <p:txBody>
          <a:bodyPr wrap="square">
            <a:spAutoFit/>
          </a:bodyPr>
          <a:lstStyle/>
          <a:p>
            <a:r>
              <a:rPr lang="en-US" sz="1050" dirty="0">
                <a:solidFill>
                  <a:srgbClr val="000000"/>
                </a:solidFill>
                <a:latin typeface="Barlow" panose="00000500000000000000" pitchFamily="2" charset="0"/>
              </a:rPr>
              <a:t>Need to meet all the 4 conditions above</a:t>
            </a:r>
          </a:p>
          <a:p>
            <a:r>
              <a:rPr lang="en-US" sz="1050" dirty="0">
                <a:solidFill>
                  <a:srgbClr val="000000"/>
                </a:solidFill>
                <a:latin typeface="Barlow" panose="00000500000000000000" pitchFamily="2" charset="0"/>
              </a:rPr>
              <a:t>Size requirement has been increased by 3x of average. </a:t>
            </a:r>
          </a:p>
          <a:p>
            <a:endParaRPr lang="en-US" sz="1050" dirty="0">
              <a:solidFill>
                <a:srgbClr val="000000"/>
              </a:solidFill>
              <a:latin typeface="Barlow" panose="00000500000000000000" pitchFamily="2" charset="0"/>
            </a:endParaRPr>
          </a:p>
        </p:txBody>
      </p:sp>
      <p:sp>
        <p:nvSpPr>
          <p:cNvPr id="51" name="TextBox 50"/>
          <p:cNvSpPr txBox="1"/>
          <p:nvPr/>
        </p:nvSpPr>
        <p:spPr>
          <a:xfrm>
            <a:off x="387927" y="4933950"/>
            <a:ext cx="2507673" cy="253916"/>
          </a:xfrm>
          <a:prstGeom prst="rect">
            <a:avLst/>
          </a:prstGeom>
          <a:noFill/>
        </p:spPr>
        <p:txBody>
          <a:bodyPr wrap="square">
            <a:spAutoFit/>
          </a:bodyPr>
          <a:lstStyle/>
          <a:p>
            <a:r>
              <a:rPr lang="en-US" sz="1050" dirty="0">
                <a:solidFill>
                  <a:srgbClr val="000000"/>
                </a:solidFill>
                <a:latin typeface="Barlow" panose="00000500000000000000" pitchFamily="2" charset="0"/>
              </a:rPr>
              <a:t>Need to meet all the conditions above</a:t>
            </a:r>
          </a:p>
        </p:txBody>
      </p:sp>
      <p:sp>
        <p:nvSpPr>
          <p:cNvPr id="52" name="Arrow: Right 51"/>
          <p:cNvSpPr/>
          <p:nvPr/>
        </p:nvSpPr>
        <p:spPr>
          <a:xfrm>
            <a:off x="6553200" y="4051292"/>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9535" y="3861537"/>
            <a:ext cx="211406" cy="211406"/>
          </a:xfrm>
          <a:prstGeom prst="rect">
            <a:avLst/>
          </a:prstGeom>
        </p:spPr>
      </p:pic>
      <p:sp>
        <p:nvSpPr>
          <p:cNvPr id="54" name="TextBox 53"/>
          <p:cNvSpPr txBox="1"/>
          <p:nvPr/>
        </p:nvSpPr>
        <p:spPr>
          <a:xfrm>
            <a:off x="7229676" y="3913532"/>
            <a:ext cx="1676400" cy="461665"/>
          </a:xfrm>
          <a:prstGeom prst="rect">
            <a:avLst/>
          </a:prstGeom>
          <a:noFill/>
        </p:spPr>
        <p:txBody>
          <a:bodyPr wrap="square">
            <a:spAutoFit/>
          </a:bodyPr>
          <a:lstStyle/>
          <a:p>
            <a:r>
              <a:rPr lang="en-US" sz="1200" dirty="0">
                <a:solidFill>
                  <a:srgbClr val="000000"/>
                </a:solidFill>
                <a:latin typeface="Barlow" panose="00000500000000000000" pitchFamily="2" charset="0"/>
              </a:rPr>
              <a:t>Stock Upgraded from “Poor” to “Average”</a:t>
            </a:r>
          </a:p>
        </p:txBody>
      </p:sp>
      <p:sp>
        <p:nvSpPr>
          <p:cNvPr id="6"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7"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152400" y="49428"/>
            <a:ext cx="6356578" cy="468935"/>
          </a:xfrm>
        </p:spPr>
        <p:txBody>
          <a:bodyPr>
            <a:normAutofit/>
          </a:bodyPr>
          <a:lstStyle/>
          <a:p>
            <a:r>
              <a:rPr lang="en-US" dirty="0"/>
              <a:t>Exception Rule for SIZE and ADTO (Average </a:t>
            </a:r>
            <a:r>
              <a:rPr lang="en-US" dirty="0">
                <a:sym typeface="Wingdings" panose="05000000000000000000" pitchFamily="2" charset="2"/>
              </a:rPr>
              <a:t> Good)</a:t>
            </a:r>
            <a:endParaRPr lang="en-IN" dirty="0"/>
          </a:p>
        </p:txBody>
      </p:sp>
      <p:sp>
        <p:nvSpPr>
          <p:cNvPr id="2" name="TextBox 1"/>
          <p:cNvSpPr txBox="1"/>
          <p:nvPr/>
        </p:nvSpPr>
        <p:spPr>
          <a:xfrm>
            <a:off x="13855" y="616862"/>
            <a:ext cx="9144000" cy="461665"/>
          </a:xfrm>
          <a:prstGeom prst="rect">
            <a:avLst/>
          </a:prstGeom>
          <a:noFill/>
        </p:spPr>
        <p:txBody>
          <a:bodyPr wrap="square">
            <a:spAutoFit/>
          </a:bodyPr>
          <a:lstStyle/>
          <a:p>
            <a:r>
              <a:rPr lang="en-US" sz="1200" b="1" dirty="0">
                <a:solidFill>
                  <a:srgbClr val="000000"/>
                </a:solidFill>
                <a:latin typeface="Barlow" panose="00000500000000000000" pitchFamily="2" charset="0"/>
              </a:rPr>
              <a:t>Size Exception</a:t>
            </a:r>
          </a:p>
          <a:p>
            <a:r>
              <a:rPr lang="en-US" sz="1200" dirty="0">
                <a:solidFill>
                  <a:srgbClr val="000000"/>
                </a:solidFill>
                <a:latin typeface="Barlow" panose="00000500000000000000" pitchFamily="2" charset="0"/>
              </a:rPr>
              <a:t>It is only applicable on stocks which have been rated “Average” based on above rules</a:t>
            </a:r>
          </a:p>
        </p:txBody>
      </p:sp>
      <p:graphicFrame>
        <p:nvGraphicFramePr>
          <p:cNvPr id="3" name="Table 2"/>
          <p:cNvGraphicFramePr>
            <a:graphicFrameLocks noGrp="1"/>
          </p:cNvGraphicFramePr>
          <p:nvPr/>
        </p:nvGraphicFramePr>
        <p:xfrm>
          <a:off x="381000" y="1200150"/>
          <a:ext cx="2667000" cy="149894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a:solidFill>
                            <a:srgbClr val="000000"/>
                          </a:solidFill>
                          <a:effectLst/>
                          <a:latin typeface="Barlow" panose="00000500000000000000" pitchFamily="2" charset="0"/>
                        </a:rPr>
                        <a:t>Net worth</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0">
                <a:tc>
                  <a:txBody>
                    <a:bodyPr/>
                    <a:lstStyle/>
                    <a:p>
                      <a:pPr algn="ctr" fontAlgn="b"/>
                      <a:r>
                        <a:rPr lang="en-US" sz="1050" b="0" i="0" u="none" strike="noStrike">
                          <a:solidFill>
                            <a:srgbClr val="000000"/>
                          </a:solidFill>
                          <a:effectLst/>
                          <a:latin typeface="Barlow" panose="00000500000000000000" pitchFamily="2" charset="0"/>
                        </a:rPr>
                        <a:t>Market Cap</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2"/>
                  </a:ext>
                </a:extLst>
              </a:tr>
              <a:tr h="167980">
                <a:tc>
                  <a:txBody>
                    <a:bodyPr/>
                    <a:lstStyle/>
                    <a:p>
                      <a:pPr algn="ctr" fontAlgn="b"/>
                      <a:r>
                        <a:rPr lang="en-US" sz="105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05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fontAlgn="b"/>
                      <a:r>
                        <a:rPr lang="en-US" sz="105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ctr" fontAlgn="b"/>
                      <a:r>
                        <a:rPr lang="en-US" sz="1050" b="0" i="0" u="none" strike="noStrike">
                          <a:solidFill>
                            <a:srgbClr val="000000"/>
                          </a:solidFill>
                          <a:effectLst/>
                          <a:latin typeface="Barlow" panose="00000500000000000000" pitchFamily="2" charset="0"/>
                        </a:rPr>
                        <a:t>Sales</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5"/>
                  </a:ext>
                </a:extLst>
              </a:tr>
              <a:tr h="0">
                <a:tc>
                  <a:txBody>
                    <a:bodyPr/>
                    <a:lstStyle/>
                    <a:p>
                      <a:pPr algn="ctr" fontAlgn="b"/>
                      <a:r>
                        <a:rPr lang="en-US" sz="105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&lt;25%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algn="ctr" fontAlgn="b"/>
                      <a:r>
                        <a:rPr lang="en-US" sz="1050" b="0" i="0" u="none" strike="noStrike" dirty="0">
                          <a:solidFill>
                            <a:srgbClr val="000000"/>
                          </a:solidFill>
                          <a:effectLst/>
                          <a:latin typeface="Barlow" panose="00000500000000000000" pitchFamily="2" charset="0"/>
                        </a:rPr>
                        <a:t>Median 6M ADTO + 3M ADTO</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&gt;2 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pPr algn="ctr" fontAlgn="b"/>
                      <a:r>
                        <a:rPr lang="en-US" sz="1050" b="0" i="0" u="none" strike="noStrike" dirty="0">
                          <a:solidFill>
                            <a:srgbClr val="000000"/>
                          </a:solidFill>
                          <a:effectLst/>
                          <a:latin typeface="Barlow" panose="00000500000000000000" pitchFamily="2" charset="0"/>
                        </a:rPr>
                        <a:t>BSE/NSE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Yes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6" name="Table 15"/>
          <p:cNvGraphicFramePr>
            <a:graphicFrameLocks noGrp="1"/>
          </p:cNvGraphicFramePr>
          <p:nvPr/>
        </p:nvGraphicFramePr>
        <p:xfrm>
          <a:off x="3733800" y="1200150"/>
          <a:ext cx="2667000" cy="665480"/>
        </p:xfrm>
        <a:graphic>
          <a:graphicData uri="http://schemas.openxmlformats.org/drawingml/2006/table">
            <a:tbl>
              <a:tblPr/>
              <a:tblGrid>
                <a:gridCol w="1743970">
                  <a:extLst>
                    <a:ext uri="{9D8B030D-6E8A-4147-A177-3AD203B41FA5}">
                      <a16:colId xmlns:a16="http://schemas.microsoft.com/office/drawing/2014/main" val="20000"/>
                    </a:ext>
                  </a:extLst>
                </a:gridCol>
                <a:gridCol w="923030">
                  <a:extLst>
                    <a:ext uri="{9D8B030D-6E8A-4147-A177-3AD203B41FA5}">
                      <a16:colId xmlns:a16="http://schemas.microsoft.com/office/drawing/2014/main" val="20001"/>
                    </a:ext>
                  </a:extLst>
                </a:gridCol>
              </a:tblGrid>
              <a:tr h="0">
                <a:tc>
                  <a:txBody>
                    <a:bodyPr/>
                    <a:lstStyle/>
                    <a:p>
                      <a:pPr algn="ctr" fontAlgn="b"/>
                      <a:r>
                        <a:rPr lang="en-US" sz="1050" b="1" i="0" u="sng"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050" b="1" i="0" u="sng" strike="noStrike" dirty="0">
                          <a:solidFill>
                            <a:srgbClr val="000000"/>
                          </a:solidFill>
                          <a:effectLst/>
                          <a:latin typeface="Barlow" panose="00000500000000000000" pitchFamily="2" charset="0"/>
                        </a:rPr>
                        <a:t>Rules</a:t>
                      </a:r>
                    </a:p>
                  </a:txBody>
                  <a:tcPr marL="6350" marR="6350" marT="6350" marB="0"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fontAlgn="b"/>
                      <a:r>
                        <a:rPr lang="en-US" sz="1050" b="0" i="0" u="none" strike="noStrike">
                          <a:solidFill>
                            <a:srgbClr val="000000"/>
                          </a:solidFill>
                          <a:effectLst/>
                          <a:latin typeface="Barlow" panose="00000500000000000000" pitchFamily="2" charset="0"/>
                        </a:rPr>
                        <a:t>Net worth</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&gt;=750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fontAlgn="b"/>
                      <a:r>
                        <a:rPr lang="en-US" sz="105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&gt;=750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fontAlgn="b"/>
                      <a:r>
                        <a:rPr lang="en-US" sz="1050" b="0" i="0" u="none" strike="noStrike">
                          <a:solidFill>
                            <a:srgbClr val="000000"/>
                          </a:solidFill>
                          <a:effectLst/>
                          <a:latin typeface="Barlow" panose="00000500000000000000" pitchFamily="2" charset="0"/>
                        </a:rPr>
                        <a:t>Sales</a:t>
                      </a:r>
                      <a:endParaRPr lang="en-US" sz="105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Barlow" panose="00000500000000000000" pitchFamily="2" charset="0"/>
                        </a:rPr>
                        <a:t>&gt;1500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30" name="TextBox 29"/>
          <p:cNvSpPr txBox="1"/>
          <p:nvPr/>
        </p:nvSpPr>
        <p:spPr>
          <a:xfrm>
            <a:off x="3733800" y="1865630"/>
            <a:ext cx="2819400" cy="1223412"/>
          </a:xfrm>
          <a:prstGeom prst="rect">
            <a:avLst/>
          </a:prstGeom>
          <a:noFill/>
        </p:spPr>
        <p:txBody>
          <a:bodyPr wrap="square">
            <a:spAutoFit/>
          </a:bodyPr>
          <a:lstStyle/>
          <a:p>
            <a:r>
              <a:rPr lang="en-US" sz="1050" b="1" dirty="0">
                <a:solidFill>
                  <a:srgbClr val="000000"/>
                </a:solidFill>
                <a:latin typeface="Barlow" panose="00000500000000000000" pitchFamily="2" charset="0"/>
              </a:rPr>
              <a:t>Needs to meet at least 2 out of the 3 conditions above</a:t>
            </a:r>
          </a:p>
          <a:p>
            <a:r>
              <a:rPr lang="en-US" sz="1050" dirty="0">
                <a:solidFill>
                  <a:srgbClr val="000000"/>
                </a:solidFill>
                <a:latin typeface="Barlow" panose="00000500000000000000" pitchFamily="2" charset="0"/>
              </a:rPr>
              <a:t>Size requirement has been increased by 50% of Good. </a:t>
            </a:r>
          </a:p>
          <a:p>
            <a:r>
              <a:rPr lang="en-US" sz="1050" dirty="0">
                <a:solidFill>
                  <a:srgbClr val="000000"/>
                </a:solidFill>
                <a:latin typeface="Barlow" panose="00000500000000000000" pitchFamily="2" charset="0"/>
              </a:rPr>
              <a:t>If we are being lenient on one of the size conditions, we have become strict on other 2 conditions. </a:t>
            </a:r>
          </a:p>
        </p:txBody>
      </p:sp>
      <p:sp>
        <p:nvSpPr>
          <p:cNvPr id="31" name="TextBox 30"/>
          <p:cNvSpPr txBox="1"/>
          <p:nvPr/>
        </p:nvSpPr>
        <p:spPr>
          <a:xfrm>
            <a:off x="366272" y="2698834"/>
            <a:ext cx="2507673" cy="253916"/>
          </a:xfrm>
          <a:prstGeom prst="rect">
            <a:avLst/>
          </a:prstGeom>
          <a:noFill/>
        </p:spPr>
        <p:txBody>
          <a:bodyPr wrap="square">
            <a:spAutoFit/>
          </a:bodyPr>
          <a:lstStyle/>
          <a:p>
            <a:r>
              <a:rPr lang="en-US" sz="1050" dirty="0">
                <a:solidFill>
                  <a:srgbClr val="000000"/>
                </a:solidFill>
                <a:latin typeface="Barlow" panose="00000500000000000000" pitchFamily="2" charset="0"/>
              </a:rPr>
              <a:t>Need to meet all the conditions above</a:t>
            </a:r>
          </a:p>
        </p:txBody>
      </p:sp>
      <p:pic>
        <p:nvPicPr>
          <p:cNvPr id="34" name="Graphic 33"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81733" y="1352550"/>
            <a:ext cx="211406" cy="211406"/>
          </a:xfrm>
          <a:prstGeom prst="rect">
            <a:avLst/>
          </a:prstGeom>
        </p:spPr>
      </p:pic>
      <p:sp>
        <p:nvSpPr>
          <p:cNvPr id="35" name="Arrow: Right 34"/>
          <p:cNvSpPr/>
          <p:nvPr/>
        </p:nvSpPr>
        <p:spPr>
          <a:xfrm>
            <a:off x="3120736" y="1522554"/>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Right 36"/>
          <p:cNvSpPr/>
          <p:nvPr/>
        </p:nvSpPr>
        <p:spPr>
          <a:xfrm>
            <a:off x="6553200" y="1423278"/>
            <a:ext cx="533400" cy="21442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7230035" y="1299656"/>
            <a:ext cx="1676400" cy="461665"/>
          </a:xfrm>
          <a:prstGeom prst="rect">
            <a:avLst/>
          </a:prstGeom>
          <a:noFill/>
        </p:spPr>
        <p:txBody>
          <a:bodyPr wrap="square">
            <a:spAutoFit/>
          </a:bodyPr>
          <a:lstStyle/>
          <a:p>
            <a:r>
              <a:rPr lang="en-US" sz="1200" dirty="0">
                <a:solidFill>
                  <a:srgbClr val="000000"/>
                </a:solidFill>
                <a:latin typeface="Barlow" panose="00000500000000000000" pitchFamily="2" charset="0"/>
              </a:rPr>
              <a:t>Stock Upgraded from “Average” to “Good”</a:t>
            </a:r>
          </a:p>
        </p:txBody>
      </p:sp>
      <p:pic>
        <p:nvPicPr>
          <p:cNvPr id="39" name="Graphic 38"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9535" y="1233523"/>
            <a:ext cx="211406" cy="211406"/>
          </a:xfrm>
          <a:prstGeom prst="rect">
            <a:avLst/>
          </a:prstGeom>
        </p:spPr>
      </p:pic>
      <p:sp>
        <p:nvSpPr>
          <p:cNvPr id="40" name="TextBox 39"/>
          <p:cNvSpPr txBox="1"/>
          <p:nvPr/>
        </p:nvSpPr>
        <p:spPr>
          <a:xfrm>
            <a:off x="152400" y="2952750"/>
            <a:ext cx="9144000" cy="646331"/>
          </a:xfrm>
          <a:prstGeom prst="rect">
            <a:avLst/>
          </a:prstGeom>
          <a:noFill/>
        </p:spPr>
        <p:txBody>
          <a:bodyPr wrap="square">
            <a:spAutoFit/>
          </a:bodyPr>
          <a:lstStyle/>
          <a:p>
            <a:r>
              <a:rPr lang="en-US" sz="1200" b="1" dirty="0">
                <a:solidFill>
                  <a:srgbClr val="000000"/>
                </a:solidFill>
                <a:latin typeface="Barlow" panose="00000500000000000000" pitchFamily="2" charset="0"/>
              </a:rPr>
              <a:t>ADTO Exception</a:t>
            </a:r>
          </a:p>
          <a:p>
            <a:r>
              <a:rPr lang="en-US" sz="1200" dirty="0">
                <a:solidFill>
                  <a:srgbClr val="000000"/>
                </a:solidFill>
                <a:latin typeface="Barlow" panose="00000500000000000000" pitchFamily="2" charset="0"/>
              </a:rPr>
              <a:t>No ADTO exception have been created since company is already meeting ADTO requirement of 1 Cr, since it has been rated “Average” without any exception rules</a:t>
            </a:r>
          </a:p>
        </p:txBody>
      </p:sp>
      <p:sp>
        <p:nvSpPr>
          <p:cNvPr id="6"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7"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ADTO </a:t>
            </a:r>
            <a:r>
              <a:rPr lang="en-US" dirty="0" err="1"/>
              <a:t>Wipsaw</a:t>
            </a:r>
            <a:endParaRPr lang="en-IN" dirty="0"/>
          </a:p>
        </p:txBody>
      </p:sp>
      <p:sp>
        <p:nvSpPr>
          <p:cNvPr id="3" name="TextBox 2"/>
          <p:cNvSpPr txBox="1"/>
          <p:nvPr/>
        </p:nvSpPr>
        <p:spPr>
          <a:xfrm>
            <a:off x="152400" y="664273"/>
            <a:ext cx="8686800" cy="1384995"/>
          </a:xfrm>
          <a:prstGeom prst="rect">
            <a:avLst/>
          </a:prstGeom>
          <a:noFill/>
        </p:spPr>
        <p:txBody>
          <a:bodyPr wrap="square">
            <a:spAutoFit/>
          </a:bodyPr>
          <a:lstStyle/>
          <a:p>
            <a:r>
              <a:rPr lang="en-US" sz="1200" b="1" u="sng" dirty="0">
                <a:solidFill>
                  <a:srgbClr val="000000"/>
                </a:solidFill>
                <a:latin typeface="Barlow" panose="00000500000000000000" pitchFamily="2" charset="0"/>
              </a:rPr>
              <a:t>Rules for avoiding ADTO </a:t>
            </a:r>
            <a:r>
              <a:rPr lang="en-US" sz="1200" b="1" u="sng" dirty="0" err="1">
                <a:solidFill>
                  <a:srgbClr val="000000"/>
                </a:solidFill>
                <a:latin typeface="Barlow" panose="00000500000000000000" pitchFamily="2" charset="0"/>
              </a:rPr>
              <a:t>Wipsaw</a:t>
            </a:r>
            <a:endParaRPr lang="en-US" sz="1200" b="1" u="sng" dirty="0">
              <a:solidFill>
                <a:srgbClr val="000000"/>
              </a:solidFill>
              <a:latin typeface="Barlow" panose="00000500000000000000" pitchFamily="2" charset="0"/>
            </a:endParaRPr>
          </a:p>
          <a:p>
            <a:endParaRPr lang="en-US" sz="1200" i="0" u="none" strike="noStrike" dirty="0">
              <a:solidFill>
                <a:srgbClr val="000000"/>
              </a:solidFill>
              <a:effectLst/>
              <a:latin typeface="Barlow" panose="00000500000000000000" pitchFamily="2" charset="0"/>
            </a:endParaRPr>
          </a:p>
          <a:p>
            <a:r>
              <a:rPr lang="en-US" sz="1200" i="0" u="none" strike="noStrike" dirty="0">
                <a:solidFill>
                  <a:srgbClr val="000000"/>
                </a:solidFill>
                <a:effectLst/>
                <a:latin typeface="Barlow" panose="00000500000000000000" pitchFamily="2" charset="0"/>
              </a:rPr>
              <a:t>Current ADTO rule requires that 6 months median volume should be above the threshold AND each of the </a:t>
            </a:r>
            <a:r>
              <a:rPr lang="en-US" sz="1200" i="0" u="none" strike="noStrike" dirty="0" err="1">
                <a:solidFill>
                  <a:srgbClr val="000000"/>
                </a:solidFill>
                <a:effectLst/>
                <a:latin typeface="Barlow" panose="00000500000000000000" pitchFamily="2" charset="0"/>
              </a:rPr>
              <a:t>lastest</a:t>
            </a:r>
            <a:r>
              <a:rPr lang="en-US" sz="1200" i="0" u="none" strike="noStrike" dirty="0">
                <a:solidFill>
                  <a:srgbClr val="000000"/>
                </a:solidFill>
                <a:effectLst/>
                <a:latin typeface="Barlow" panose="00000500000000000000" pitchFamily="2" charset="0"/>
              </a:rPr>
              <a:t> 3 Months volume should be above the threshold. </a:t>
            </a:r>
          </a:p>
          <a:p>
            <a:r>
              <a:rPr lang="en-US" sz="1200" dirty="0">
                <a:solidFill>
                  <a:srgbClr val="000000"/>
                </a:solidFill>
                <a:latin typeface="Barlow" panose="00000500000000000000" pitchFamily="2" charset="0"/>
              </a:rPr>
              <a:t>With this rule, below type of companies will be unnecessarily punished:</a:t>
            </a:r>
          </a:p>
          <a:p>
            <a:endParaRPr lang="en-US" sz="1200" i="0" u="none" strike="noStrike" dirty="0">
              <a:solidFill>
                <a:srgbClr val="000000"/>
              </a:solidFill>
              <a:effectLst/>
              <a:latin typeface="Barlow" panose="00000500000000000000" pitchFamily="2" charset="0"/>
            </a:endParaRPr>
          </a:p>
          <a:p>
            <a:endParaRPr lang="en-US" sz="1200" i="0" u="none" strike="noStrike" dirty="0">
              <a:solidFill>
                <a:srgbClr val="000000"/>
              </a:solidFill>
              <a:effectLst/>
              <a:latin typeface="Barlow" panose="00000500000000000000" pitchFamily="2" charset="0"/>
            </a:endParaRPr>
          </a:p>
        </p:txBody>
      </p:sp>
      <p:graphicFrame>
        <p:nvGraphicFramePr>
          <p:cNvPr id="5" name="Table 4"/>
          <p:cNvGraphicFramePr>
            <a:graphicFrameLocks noGrp="1"/>
          </p:cNvGraphicFramePr>
          <p:nvPr/>
        </p:nvGraphicFramePr>
        <p:xfrm>
          <a:off x="228599" y="1722318"/>
          <a:ext cx="3276602" cy="919536"/>
        </p:xfrm>
        <a:graphic>
          <a:graphicData uri="http://schemas.openxmlformats.org/drawingml/2006/table">
            <a:tbl>
              <a:tblPr/>
              <a:tblGrid>
                <a:gridCol w="1371601">
                  <a:extLst>
                    <a:ext uri="{9D8B030D-6E8A-4147-A177-3AD203B41FA5}">
                      <a16:colId xmlns:a16="http://schemas.microsoft.com/office/drawing/2014/main" val="20000"/>
                    </a:ext>
                  </a:extLst>
                </a:gridCol>
                <a:gridCol w="1905001">
                  <a:extLst>
                    <a:ext uri="{9D8B030D-6E8A-4147-A177-3AD203B41FA5}">
                      <a16:colId xmlns:a16="http://schemas.microsoft.com/office/drawing/2014/main" val="20001"/>
                    </a:ext>
                  </a:extLst>
                </a:gridCol>
              </a:tblGrid>
              <a:tr h="0">
                <a:tc>
                  <a:txBody>
                    <a:bodyPr/>
                    <a:lstStyle/>
                    <a:p>
                      <a:pPr algn="ctr" fontAlgn="b"/>
                      <a:endParaRPr lang="en-US" sz="1000" b="1"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000" b="1" i="0" u="none" strike="noStrike" dirty="0">
                          <a:solidFill>
                            <a:srgbClr val="000000"/>
                          </a:solidFill>
                          <a:effectLst/>
                          <a:latin typeface="Barlow" panose="00000500000000000000" pitchFamily="2" charset="0"/>
                        </a:rPr>
                        <a:t>ADTO in Crores for the Month</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191784">
                <a:tc>
                  <a:txBody>
                    <a:bodyPr/>
                    <a:lstStyle/>
                    <a:p>
                      <a:pPr algn="ctr" fontAlgn="b"/>
                      <a:r>
                        <a:rPr lang="en-US" sz="1000" b="0" i="0" u="none" strike="noStrike" dirty="0">
                          <a:solidFill>
                            <a:srgbClr val="000000"/>
                          </a:solidFill>
                          <a:effectLst/>
                          <a:latin typeface="Barlow" panose="00000500000000000000" pitchFamily="2" charset="0"/>
                        </a:rPr>
                        <a:t>Month 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2.40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91784">
                <a:tc>
                  <a:txBody>
                    <a:bodyPr/>
                    <a:lstStyle/>
                    <a:p>
                      <a:pPr algn="ctr" fontAlgn="b"/>
                      <a:r>
                        <a:rPr lang="en-US" sz="1000" b="0" i="0" u="none" strike="noStrike" dirty="0">
                          <a:solidFill>
                            <a:srgbClr val="000000"/>
                          </a:solidFill>
                          <a:effectLst/>
                          <a:latin typeface="Barlow" panose="00000500000000000000" pitchFamily="2" charset="0"/>
                        </a:rPr>
                        <a:t>Month 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1.33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91784">
                <a:tc>
                  <a:txBody>
                    <a:bodyPr/>
                    <a:lstStyle/>
                    <a:p>
                      <a:pPr algn="ctr" fontAlgn="b"/>
                      <a:r>
                        <a:rPr lang="en-US" sz="1000" b="0" i="0" u="none" strike="noStrike" dirty="0">
                          <a:solidFill>
                            <a:srgbClr val="000000"/>
                          </a:solidFill>
                          <a:effectLst/>
                          <a:latin typeface="Barlow" panose="00000500000000000000" pitchFamily="2" charset="0"/>
                        </a:rPr>
                        <a:t>Month 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0.95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1784">
                <a:tc>
                  <a:txBody>
                    <a:bodyPr/>
                    <a:lstStyle/>
                    <a:p>
                      <a:pPr algn="ctr" fontAlgn="b"/>
                      <a:r>
                        <a:rPr lang="en-US" sz="1000" b="0" i="0" u="none" strike="noStrike" dirty="0">
                          <a:solidFill>
                            <a:srgbClr val="000000"/>
                          </a:solidFill>
                          <a:effectLst/>
                          <a:latin typeface="Barlow" panose="00000500000000000000" pitchFamily="2" charset="0"/>
                        </a:rPr>
                        <a:t>6 Months ADTO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1.49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3798145" y="1722318"/>
            <a:ext cx="5117253" cy="830997"/>
          </a:xfrm>
          <a:prstGeom prst="rect">
            <a:avLst/>
          </a:prstGeom>
          <a:noFill/>
        </p:spPr>
        <p:txBody>
          <a:bodyPr wrap="square">
            <a:spAutoFit/>
          </a:bodyPr>
          <a:lstStyle/>
          <a:p>
            <a:r>
              <a:rPr lang="en-US" sz="1200" dirty="0">
                <a:solidFill>
                  <a:srgbClr val="000000"/>
                </a:solidFill>
                <a:latin typeface="Barlow" panose="00000500000000000000" pitchFamily="2" charset="0"/>
              </a:rPr>
              <a:t>In this case, company is meeting 6 Months ADTO condition but failed to meet latest 3 month condition for average (&gt; 1 Crore). </a:t>
            </a:r>
          </a:p>
          <a:p>
            <a:r>
              <a:rPr lang="en-US" sz="1200" dirty="0">
                <a:solidFill>
                  <a:srgbClr val="000000"/>
                </a:solidFill>
                <a:latin typeface="Barlow" panose="00000500000000000000" pitchFamily="2" charset="0"/>
              </a:rPr>
              <a:t>But failure is only for 1 month, hence to avoid </a:t>
            </a:r>
            <a:r>
              <a:rPr lang="en-US" sz="1200" dirty="0" err="1">
                <a:solidFill>
                  <a:srgbClr val="000000"/>
                </a:solidFill>
                <a:latin typeface="Barlow" panose="00000500000000000000" pitchFamily="2" charset="0"/>
              </a:rPr>
              <a:t>wipsaw</a:t>
            </a:r>
            <a:r>
              <a:rPr lang="en-US" sz="1200" dirty="0">
                <a:solidFill>
                  <a:srgbClr val="000000"/>
                </a:solidFill>
                <a:latin typeface="Barlow" panose="00000500000000000000" pitchFamily="2" charset="0"/>
              </a:rPr>
              <a:t> and reduce unnecessary penalizing such companies, we introduced an exception to it.</a:t>
            </a:r>
          </a:p>
        </p:txBody>
      </p:sp>
      <p:pic>
        <p:nvPicPr>
          <p:cNvPr id="8" name="Graphic 7"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64467" y="1879484"/>
            <a:ext cx="182880" cy="182880"/>
          </a:xfrm>
          <a:prstGeom prst="rect">
            <a:avLst/>
          </a:prstGeom>
        </p:spPr>
      </p:pic>
      <p:pic>
        <p:nvPicPr>
          <p:cNvPr id="16" name="Graphic 15" descr="Close with solid fill"/>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6000" y="2284418"/>
            <a:ext cx="182880" cy="182880"/>
          </a:xfrm>
          <a:prstGeom prst="rect">
            <a:avLst/>
          </a:prstGeom>
        </p:spPr>
      </p:pic>
      <p:graphicFrame>
        <p:nvGraphicFramePr>
          <p:cNvPr id="18" name="Table 17"/>
          <p:cNvGraphicFramePr>
            <a:graphicFrameLocks noGrp="1"/>
          </p:cNvGraphicFramePr>
          <p:nvPr/>
        </p:nvGraphicFramePr>
        <p:xfrm>
          <a:off x="228599" y="3318744"/>
          <a:ext cx="8610602" cy="1767606"/>
        </p:xfrm>
        <a:graphic>
          <a:graphicData uri="http://schemas.openxmlformats.org/drawingml/2006/table">
            <a:tbl>
              <a:tblPr/>
              <a:tblGrid>
                <a:gridCol w="1530775">
                  <a:extLst>
                    <a:ext uri="{9D8B030D-6E8A-4147-A177-3AD203B41FA5}">
                      <a16:colId xmlns:a16="http://schemas.microsoft.com/office/drawing/2014/main" val="20000"/>
                    </a:ext>
                  </a:extLst>
                </a:gridCol>
                <a:gridCol w="3731260">
                  <a:extLst>
                    <a:ext uri="{9D8B030D-6E8A-4147-A177-3AD203B41FA5}">
                      <a16:colId xmlns:a16="http://schemas.microsoft.com/office/drawing/2014/main" val="20001"/>
                    </a:ext>
                  </a:extLst>
                </a:gridCol>
                <a:gridCol w="3348567">
                  <a:extLst>
                    <a:ext uri="{9D8B030D-6E8A-4147-A177-3AD203B41FA5}">
                      <a16:colId xmlns:a16="http://schemas.microsoft.com/office/drawing/2014/main" val="20002"/>
                    </a:ext>
                  </a:extLst>
                </a:gridCol>
              </a:tblGrid>
              <a:tr h="160691">
                <a:tc>
                  <a:txBody>
                    <a:bodyPr/>
                    <a:lstStyle/>
                    <a:p>
                      <a:pPr algn="ctr" fontAlgn="b"/>
                      <a:endParaRPr lang="en-US" sz="1000" b="1"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000" b="1" i="0" u="none" strike="noStrike" dirty="0">
                          <a:solidFill>
                            <a:srgbClr val="000000"/>
                          </a:solidFill>
                          <a:effectLst/>
                          <a:latin typeface="Barlow" panose="00000500000000000000" pitchFamily="2" charset="0"/>
                        </a:rPr>
                        <a:t>Additional Check</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000" b="1" i="0" u="none" strike="noStrike" dirty="0">
                          <a:solidFill>
                            <a:srgbClr val="000000"/>
                          </a:solidFill>
                          <a:effectLst/>
                          <a:latin typeface="Barlow" panose="00000500000000000000" pitchFamily="2" charset="0"/>
                        </a:rPr>
                        <a:t>Outcome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321383">
                <a:tc>
                  <a:txBody>
                    <a:bodyPr/>
                    <a:lstStyle/>
                    <a:p>
                      <a:pPr algn="ctr" fontAlgn="b"/>
                      <a:r>
                        <a:rPr lang="en-US" sz="1000" b="0" i="0" u="none" strike="noStrike" dirty="0">
                          <a:solidFill>
                            <a:srgbClr val="000000"/>
                          </a:solidFill>
                          <a:effectLst/>
                          <a:latin typeface="Barlow" panose="00000500000000000000" pitchFamily="2" charset="0"/>
                        </a:rPr>
                        <a:t>Average </a:t>
                      </a:r>
                      <a:r>
                        <a:rPr lang="en-US" sz="1000" b="0" i="0" u="none" strike="noStrike" dirty="0">
                          <a:solidFill>
                            <a:srgbClr val="000000"/>
                          </a:solidFill>
                          <a:effectLst/>
                          <a:latin typeface="Barlow" panose="00000500000000000000" pitchFamily="2" charset="0"/>
                          <a:sym typeface="Wingdings" panose="05000000000000000000" pitchFamily="2" charset="2"/>
                        </a:rPr>
                        <a:t> </a:t>
                      </a:r>
                      <a:r>
                        <a:rPr lang="en-US" sz="1000" b="0" i="0" u="none" strike="noStrike" dirty="0">
                          <a:solidFill>
                            <a:srgbClr val="000000"/>
                          </a:solidFill>
                          <a:effectLst/>
                          <a:latin typeface="Barlow" panose="00000500000000000000" pitchFamily="2" charset="0"/>
                        </a:rPr>
                        <a:t>Poor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28600" indent="-228600" algn="ctr" fontAlgn="b">
                        <a:buAutoNum type="arabicPeriod"/>
                      </a:pPr>
                      <a:r>
                        <a:rPr lang="en-US" sz="1000" b="0" i="0" u="none" strike="noStrike" dirty="0">
                          <a:solidFill>
                            <a:srgbClr val="000000"/>
                          </a:solidFill>
                          <a:effectLst/>
                          <a:latin typeface="Barlow" panose="00000500000000000000" pitchFamily="2" charset="0"/>
                        </a:rPr>
                        <a:t>Only single month ADTO is less than 1 Cr</a:t>
                      </a:r>
                    </a:p>
                    <a:p>
                      <a:pPr marL="228600" indent="-228600" algn="ctr" fontAlgn="b">
                        <a:buAutoNum type="arabicPeriod"/>
                      </a:pPr>
                      <a:r>
                        <a:rPr lang="en-US" sz="1000" b="0" i="0" u="none" strike="noStrike" dirty="0">
                          <a:solidFill>
                            <a:srgbClr val="000000"/>
                          </a:solidFill>
                          <a:effectLst/>
                          <a:latin typeface="Barlow" panose="00000500000000000000" pitchFamily="2" charset="0"/>
                        </a:rPr>
                        <a:t>Median ADTO of last 3 months &gt; 1 Cr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If condition met, then keep it “Average”, </a:t>
                      </a:r>
                      <a:br>
                        <a:rPr lang="en-US" sz="1000" b="0" i="0" u="none" strike="noStrike" dirty="0">
                          <a:solidFill>
                            <a:srgbClr val="000000"/>
                          </a:solidFill>
                          <a:effectLst/>
                          <a:latin typeface="Barlow" panose="00000500000000000000" pitchFamily="2" charset="0"/>
                        </a:rPr>
                      </a:br>
                      <a:r>
                        <a:rPr lang="en-US" sz="1000" b="0" i="0" u="none" strike="noStrike" dirty="0">
                          <a:solidFill>
                            <a:srgbClr val="000000"/>
                          </a:solidFill>
                          <a:effectLst/>
                          <a:latin typeface="Barlow" panose="00000500000000000000" pitchFamily="2" charset="0"/>
                        </a:rPr>
                        <a:t>else “Poor”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64149">
                <a:tc>
                  <a:txBody>
                    <a:bodyPr/>
                    <a:lstStyle/>
                    <a:p>
                      <a:pPr algn="ctr" fontAlgn="b"/>
                      <a:r>
                        <a:rPr lang="en-US" sz="1000" b="0" i="0" u="none" strike="noStrike" dirty="0">
                          <a:solidFill>
                            <a:srgbClr val="000000"/>
                          </a:solidFill>
                          <a:effectLst/>
                          <a:latin typeface="Barlow" panose="00000500000000000000" pitchFamily="2" charset="0"/>
                        </a:rPr>
                        <a:t>Good </a:t>
                      </a:r>
                      <a:r>
                        <a:rPr lang="en-US" sz="1000" b="0" i="0" u="none" strike="noStrike" dirty="0">
                          <a:solidFill>
                            <a:srgbClr val="000000"/>
                          </a:solidFill>
                          <a:effectLst/>
                          <a:latin typeface="Barlow" panose="00000500000000000000" pitchFamily="2" charset="0"/>
                          <a:sym typeface="Wingdings" panose="05000000000000000000" pitchFamily="2" charset="2"/>
                        </a:rPr>
                        <a:t> Poor</a:t>
                      </a:r>
                      <a:endParaRPr lang="en-US" sz="10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28600" indent="-228600" algn="ctr" fontAlgn="b">
                        <a:buAutoNum type="arabicPeriod"/>
                      </a:pPr>
                      <a:r>
                        <a:rPr lang="en-US" sz="1000" b="0" i="0" u="none" strike="noStrike" dirty="0">
                          <a:solidFill>
                            <a:srgbClr val="000000"/>
                          </a:solidFill>
                          <a:effectLst/>
                          <a:latin typeface="Barlow" panose="00000500000000000000" pitchFamily="2" charset="0"/>
                        </a:rPr>
                        <a:t>Only single month ADTO is less than 2 Cr</a:t>
                      </a:r>
                    </a:p>
                    <a:p>
                      <a:pPr marL="228600" indent="-228600" algn="ctr" fontAlgn="b">
                        <a:buAutoNum type="arabicPeriod"/>
                      </a:pPr>
                      <a:r>
                        <a:rPr lang="en-US" sz="1000" b="0" i="0" u="none" strike="noStrike" dirty="0">
                          <a:solidFill>
                            <a:srgbClr val="000000"/>
                          </a:solidFill>
                          <a:effectLst/>
                          <a:latin typeface="Barlow" panose="00000500000000000000" pitchFamily="2" charset="0"/>
                        </a:rPr>
                        <a:t>Median ADTO of last 3 months &gt; 2 Cr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If condition met, then keep it “Good”,</a:t>
                      </a:r>
                      <a:br>
                        <a:rPr lang="en-US" sz="1000" b="0" i="0" u="none" strike="noStrike" dirty="0">
                          <a:solidFill>
                            <a:srgbClr val="000000"/>
                          </a:solidFill>
                          <a:effectLst/>
                          <a:latin typeface="Barlow" panose="00000500000000000000" pitchFamily="2" charset="0"/>
                        </a:rPr>
                      </a:br>
                      <a:r>
                        <a:rPr lang="en-US" sz="1000" b="0" i="0" u="none" strike="noStrike" dirty="0">
                          <a:solidFill>
                            <a:srgbClr val="000000"/>
                          </a:solidFill>
                          <a:effectLst/>
                          <a:latin typeface="Barlow" panose="00000500000000000000" pitchFamily="2" charset="0"/>
                        </a:rPr>
                        <a:t>else check </a:t>
                      </a:r>
                      <a:br>
                        <a:rPr lang="en-US" sz="1000" b="0" i="0" u="none" strike="noStrike" dirty="0">
                          <a:solidFill>
                            <a:srgbClr val="000000"/>
                          </a:solidFill>
                          <a:effectLst/>
                          <a:latin typeface="Barlow" panose="00000500000000000000" pitchFamily="2" charset="0"/>
                        </a:rPr>
                      </a:br>
                      <a:r>
                        <a:rPr lang="en-US" sz="1000" b="0" i="0" u="none" strike="noStrike" dirty="0">
                          <a:solidFill>
                            <a:srgbClr val="000000"/>
                          </a:solidFill>
                          <a:effectLst/>
                          <a:latin typeface="Barlow" panose="00000500000000000000" pitchFamily="2" charset="0"/>
                        </a:rPr>
                        <a:t>1. Only single month ADTO is less than 1 Cr</a:t>
                      </a:r>
                    </a:p>
                    <a:p>
                      <a:pPr algn="ctr" fontAlgn="b"/>
                      <a:r>
                        <a:rPr lang="en-US" sz="1000" b="0" i="0" u="none" strike="noStrike" dirty="0">
                          <a:solidFill>
                            <a:srgbClr val="000000"/>
                          </a:solidFill>
                          <a:effectLst/>
                          <a:latin typeface="Barlow" panose="00000500000000000000" pitchFamily="2" charset="0"/>
                        </a:rPr>
                        <a:t>2. Median ADTO of last 3 Months &gt; 1 Cr</a:t>
                      </a:r>
                    </a:p>
                    <a:p>
                      <a:pPr algn="ctr" fontAlgn="b"/>
                      <a:r>
                        <a:rPr lang="en-US" sz="1000" b="0" i="0" u="none" strike="noStrike" dirty="0">
                          <a:solidFill>
                            <a:srgbClr val="000000"/>
                          </a:solidFill>
                          <a:effectLst/>
                          <a:latin typeface="Barlow" panose="00000500000000000000" pitchFamily="2" charset="0"/>
                        </a:rPr>
                        <a:t>Then “Average”</a:t>
                      </a:r>
                    </a:p>
                    <a:p>
                      <a:pPr algn="ctr" fontAlgn="b"/>
                      <a:r>
                        <a:rPr lang="en-US" sz="1000" b="0" i="0" u="none" strike="noStrike" dirty="0">
                          <a:solidFill>
                            <a:srgbClr val="000000"/>
                          </a:solidFill>
                          <a:effectLst/>
                          <a:latin typeface="Barlow" panose="00000500000000000000" pitchFamily="2" charset="0"/>
                        </a:rPr>
                        <a:t>Else “Poor”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1383">
                <a:tc>
                  <a:txBody>
                    <a:bodyPr/>
                    <a:lstStyle/>
                    <a:p>
                      <a:pPr algn="ctr" fontAlgn="b"/>
                      <a:r>
                        <a:rPr lang="en-US" sz="1000" b="0" i="0" u="none" strike="noStrike" dirty="0">
                          <a:solidFill>
                            <a:srgbClr val="000000"/>
                          </a:solidFill>
                          <a:effectLst/>
                          <a:latin typeface="Barlow" panose="00000500000000000000" pitchFamily="2" charset="0"/>
                        </a:rPr>
                        <a:t>Good </a:t>
                      </a:r>
                      <a:r>
                        <a:rPr lang="en-US" sz="1000" b="0" i="0" u="none" strike="noStrike" dirty="0">
                          <a:solidFill>
                            <a:srgbClr val="000000"/>
                          </a:solidFill>
                          <a:effectLst/>
                          <a:latin typeface="Barlow" panose="00000500000000000000" pitchFamily="2" charset="0"/>
                          <a:sym typeface="Wingdings" panose="05000000000000000000" pitchFamily="2" charset="2"/>
                        </a:rPr>
                        <a:t> Average</a:t>
                      </a:r>
                      <a:endParaRPr lang="en-US" sz="10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28600" indent="-228600" algn="ctr" fontAlgn="b">
                        <a:buAutoNum type="arabicPeriod"/>
                      </a:pPr>
                      <a:r>
                        <a:rPr lang="en-US" sz="1000" b="0" i="0" u="none" strike="noStrike" dirty="0">
                          <a:solidFill>
                            <a:srgbClr val="000000"/>
                          </a:solidFill>
                          <a:effectLst/>
                          <a:latin typeface="Barlow" panose="00000500000000000000" pitchFamily="2" charset="0"/>
                        </a:rPr>
                        <a:t>Only single month ADTO is less than 2 Cr</a:t>
                      </a:r>
                    </a:p>
                    <a:p>
                      <a:pPr marL="228600" indent="-228600" algn="ctr" fontAlgn="b">
                        <a:buAutoNum type="arabicPeriod"/>
                      </a:pPr>
                      <a:r>
                        <a:rPr lang="en-US" sz="1000" b="0" i="0" u="none" strike="noStrike" dirty="0">
                          <a:solidFill>
                            <a:srgbClr val="000000"/>
                          </a:solidFill>
                          <a:effectLst/>
                          <a:latin typeface="Barlow" panose="00000500000000000000" pitchFamily="2" charset="0"/>
                        </a:rPr>
                        <a:t>Median ADTO of last 3 months &gt; 2 Cr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Barlow" panose="00000500000000000000" pitchFamily="2" charset="0"/>
                        </a:rPr>
                        <a:t>If condition met, then Keep it “Good”</a:t>
                      </a:r>
                      <a:br>
                        <a:rPr lang="en-US" sz="1000" b="0" i="0" u="none" strike="noStrike" dirty="0">
                          <a:solidFill>
                            <a:srgbClr val="000000"/>
                          </a:solidFill>
                          <a:effectLst/>
                          <a:latin typeface="Barlow" panose="00000500000000000000" pitchFamily="2" charset="0"/>
                        </a:rPr>
                      </a:br>
                      <a:r>
                        <a:rPr lang="en-US" sz="1000" b="0" i="0" u="none" strike="noStrike" dirty="0">
                          <a:solidFill>
                            <a:srgbClr val="000000"/>
                          </a:solidFill>
                          <a:effectLst/>
                          <a:latin typeface="Barlow" panose="00000500000000000000" pitchFamily="2" charset="0"/>
                        </a:rPr>
                        <a:t>else “Average”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pic>
        <p:nvPicPr>
          <p:cNvPr id="19" name="Graphic 18"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61080" y="2101538"/>
            <a:ext cx="182880" cy="182880"/>
          </a:xfrm>
          <a:prstGeom prst="rect">
            <a:avLst/>
          </a:prstGeom>
        </p:spPr>
      </p:pic>
      <p:pic>
        <p:nvPicPr>
          <p:cNvPr id="20" name="Graphic 19" descr="Checkmark with solid fill"/>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61080" y="2484493"/>
            <a:ext cx="182880" cy="182880"/>
          </a:xfrm>
          <a:prstGeom prst="rect">
            <a:avLst/>
          </a:prstGeom>
        </p:spPr>
      </p:pic>
      <p:sp>
        <p:nvSpPr>
          <p:cNvPr id="6" name="TextBox 5"/>
          <p:cNvSpPr txBox="1"/>
          <p:nvPr/>
        </p:nvSpPr>
        <p:spPr>
          <a:xfrm>
            <a:off x="228598" y="2768540"/>
            <a:ext cx="8610601" cy="461665"/>
          </a:xfrm>
          <a:prstGeom prst="rect">
            <a:avLst/>
          </a:prstGeom>
          <a:noFill/>
        </p:spPr>
        <p:txBody>
          <a:bodyPr wrap="square">
            <a:spAutoFit/>
          </a:bodyPr>
          <a:lstStyle/>
          <a:p>
            <a:r>
              <a:rPr lang="en-US" sz="1200" i="0" u="none" strike="noStrike">
                <a:solidFill>
                  <a:srgbClr val="000000"/>
                </a:solidFill>
                <a:effectLst/>
                <a:latin typeface="Barlow" panose="00000500000000000000" pitchFamily="2" charset="0"/>
              </a:rPr>
              <a:t>Below mentioned rules/judgement is applicable ONLY if ratings has changed because of change in ADTO, all other parameters have remained constant</a:t>
            </a:r>
            <a:endParaRPr lang="en-US" sz="1200" i="0" u="none" strike="noStrike" dirty="0">
              <a:solidFill>
                <a:srgbClr val="000000"/>
              </a:solidFill>
              <a:effectLst/>
              <a:latin typeface="Barlow" panose="00000500000000000000" pitchFamily="2" charset="0"/>
            </a:endParaRPr>
          </a:p>
        </p:txBody>
      </p:sp>
      <p:sp>
        <p:nvSpPr>
          <p:cNvPr id="9"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11"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What is PET Check?</a:t>
            </a:r>
            <a:endParaRPr lang="en-IN" dirty="0"/>
          </a:p>
        </p:txBody>
      </p:sp>
      <p:graphicFrame>
        <p:nvGraphicFramePr>
          <p:cNvPr id="6" name="Table 5"/>
          <p:cNvGraphicFramePr>
            <a:graphicFrameLocks noGrp="1"/>
          </p:cNvGraphicFramePr>
          <p:nvPr/>
        </p:nvGraphicFramePr>
        <p:xfrm>
          <a:off x="2209800" y="2647950"/>
          <a:ext cx="4038600" cy="1066800"/>
        </p:xfrm>
        <a:graphic>
          <a:graphicData uri="http://schemas.openxmlformats.org/drawingml/2006/table">
            <a:tbl>
              <a:tblPr/>
              <a:tblGrid>
                <a:gridCol w="1715882">
                  <a:extLst>
                    <a:ext uri="{9D8B030D-6E8A-4147-A177-3AD203B41FA5}">
                      <a16:colId xmlns:a16="http://schemas.microsoft.com/office/drawing/2014/main" val="20000"/>
                    </a:ext>
                  </a:extLst>
                </a:gridCol>
                <a:gridCol w="1161359">
                  <a:extLst>
                    <a:ext uri="{9D8B030D-6E8A-4147-A177-3AD203B41FA5}">
                      <a16:colId xmlns:a16="http://schemas.microsoft.com/office/drawing/2014/main" val="20001"/>
                    </a:ext>
                  </a:extLst>
                </a:gridCol>
                <a:gridCol w="1161359">
                  <a:extLst>
                    <a:ext uri="{9D8B030D-6E8A-4147-A177-3AD203B41FA5}">
                      <a16:colId xmlns:a16="http://schemas.microsoft.com/office/drawing/2014/main" val="20002"/>
                    </a:ext>
                  </a:extLst>
                </a:gridCol>
              </a:tblGrid>
              <a:tr h="266700">
                <a:tc>
                  <a:txBody>
                    <a:bodyPr/>
                    <a:lstStyle/>
                    <a:p>
                      <a:pPr algn="ctr" fontAlgn="b"/>
                      <a:r>
                        <a:rPr lang="en-US" sz="1200" b="1" i="0" u="none" strike="noStrike" dirty="0">
                          <a:solidFill>
                            <a:srgbClr val="000000"/>
                          </a:solidFill>
                          <a:effectLst/>
                          <a:latin typeface="Barlow" panose="00000500000000000000" pitchFamily="2" charset="0"/>
                        </a:rPr>
                        <a:t>PET Check**</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200" b="1" i="0" u="none" strike="noStrike" dirty="0">
                          <a:solidFill>
                            <a:srgbClr val="000000"/>
                          </a:solidFill>
                          <a:effectLst/>
                          <a:latin typeface="Barlow" panose="00000500000000000000" pitchFamily="2" charset="0"/>
                        </a:rPr>
                        <a:t>Year 1 limit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200" b="1" i="0" u="none" strike="noStrike" dirty="0">
                          <a:solidFill>
                            <a:srgbClr val="000000"/>
                          </a:solidFill>
                          <a:effectLst/>
                          <a:latin typeface="Barlow" panose="00000500000000000000" pitchFamily="2" charset="0"/>
                        </a:rPr>
                        <a:t>Year 2 limit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66700">
                <a:tc>
                  <a:txBody>
                    <a:bodyPr/>
                    <a:lstStyle/>
                    <a:p>
                      <a:pPr algn="ctr" fontAlgn="b"/>
                      <a:r>
                        <a:rPr lang="en-US" sz="1200" b="0" i="0" u="none" strike="noStrike" dirty="0">
                          <a:solidFill>
                            <a:srgbClr val="000000"/>
                          </a:solidFill>
                          <a:effectLst/>
                          <a:latin typeface="Barlow" panose="00000500000000000000" pitchFamily="2" charset="0"/>
                        </a:rPr>
                        <a:t>Power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6700">
                <a:tc>
                  <a:txBody>
                    <a:bodyPr/>
                    <a:lstStyle/>
                    <a:p>
                      <a:pPr algn="ctr" fontAlgn="b"/>
                      <a:r>
                        <a:rPr lang="en-US" sz="1200" b="0" i="0" u="none" strike="noStrike" dirty="0">
                          <a:solidFill>
                            <a:srgbClr val="000000"/>
                          </a:solidFill>
                          <a:effectLst/>
                          <a:latin typeface="Barlow" panose="00000500000000000000" pitchFamily="2" charset="0"/>
                        </a:rPr>
                        <a:t>Employee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algn="ctr" fontAlgn="b"/>
                      <a:r>
                        <a:rPr lang="en-US" sz="1200" b="0" i="0" u="none" strike="noStrike" dirty="0">
                          <a:solidFill>
                            <a:srgbClr val="000000"/>
                          </a:solidFill>
                          <a:effectLst/>
                          <a:latin typeface="Barlow" panose="00000500000000000000" pitchFamily="2" charset="0"/>
                        </a:rPr>
                        <a:t>Tax Rate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2"/>
          <p:cNvSpPr txBox="1"/>
          <p:nvPr/>
        </p:nvSpPr>
        <p:spPr>
          <a:xfrm>
            <a:off x="0" y="579076"/>
            <a:ext cx="9144000" cy="1938992"/>
          </a:xfrm>
          <a:prstGeom prst="rect">
            <a:avLst/>
          </a:prstGeom>
          <a:noFill/>
        </p:spPr>
        <p:txBody>
          <a:bodyPr wrap="square">
            <a:spAutoFit/>
          </a:bodyPr>
          <a:lstStyle/>
          <a:p>
            <a:r>
              <a:rPr lang="en-US" sz="1200" b="1" dirty="0">
                <a:solidFill>
                  <a:srgbClr val="000000"/>
                </a:solidFill>
                <a:latin typeface="Barlow" panose="00000500000000000000" pitchFamily="2" charset="0"/>
              </a:rPr>
              <a:t>What is PET Check?</a:t>
            </a:r>
            <a:endParaRPr lang="en-US" sz="1200" b="1" i="0" u="none" strike="noStrike" dirty="0">
              <a:solidFill>
                <a:srgbClr val="000000"/>
              </a:solidFill>
              <a:effectLst/>
              <a:latin typeface="Barlow" panose="00000500000000000000" pitchFamily="2" charset="0"/>
            </a:endParaRP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i="0" u="none" strike="noStrike" dirty="0">
                <a:solidFill>
                  <a:srgbClr val="000000"/>
                </a:solidFill>
                <a:effectLst/>
                <a:latin typeface="Barlow" panose="00000500000000000000" pitchFamily="2" charset="0"/>
              </a:rPr>
              <a:t>Our fundamental check is based on PET (Power, Employee and Tax). </a:t>
            </a:r>
          </a:p>
          <a:p>
            <a:endParaRPr lang="en-US" sz="1200" i="0" u="none" strike="noStrike" dirty="0">
              <a:solidFill>
                <a:srgbClr val="000000"/>
              </a:solidFill>
              <a:effectLst/>
              <a:latin typeface="Barlow" panose="00000500000000000000" pitchFamily="2" charset="0"/>
            </a:endParaRPr>
          </a:p>
          <a:p>
            <a:pPr marL="171450" indent="-171450">
              <a:buFont typeface="Arial" panose="020B0604020202020204" pitchFamily="34" charset="0"/>
              <a:buChar char="•"/>
            </a:pPr>
            <a:r>
              <a:rPr lang="en-US" sz="1200" i="0" u="none" strike="noStrike" dirty="0">
                <a:solidFill>
                  <a:srgbClr val="000000"/>
                </a:solidFill>
                <a:effectLst/>
                <a:latin typeface="Barlow" panose="00000500000000000000" pitchFamily="2" charset="0"/>
              </a:rPr>
              <a:t>We check the combination of these three parameters for the last 2 years and assign scores. The total score should be at least 4 out of 6. </a:t>
            </a:r>
            <a:r>
              <a:rPr lang="en-US" sz="1200" dirty="0">
                <a:solidFill>
                  <a:srgbClr val="000000"/>
                </a:solidFill>
                <a:latin typeface="Barlow" panose="00000500000000000000" pitchFamily="2" charset="0"/>
              </a:rPr>
              <a:t>Power and employee cost are checked as % of revenue and tax rate is Tax/PBT</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This helps to identify companies that may be meeting the absolute threshold of existing rules; but does not meet new % requirements. </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endParaRPr lang="en-US" sz="1200" i="0" u="none" strike="noStrike" dirty="0">
              <a:solidFill>
                <a:srgbClr val="000000"/>
              </a:solidFill>
              <a:effectLst/>
              <a:latin typeface="Barlow" panose="00000500000000000000" pitchFamily="2" charset="0"/>
            </a:endParaRPr>
          </a:p>
        </p:txBody>
      </p:sp>
      <p:sp>
        <p:nvSpPr>
          <p:cNvPr id="7"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8"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What is F-Score?</a:t>
            </a:r>
            <a:endParaRPr lang="en-IN" dirty="0"/>
          </a:p>
        </p:txBody>
      </p:sp>
      <p:graphicFrame>
        <p:nvGraphicFramePr>
          <p:cNvPr id="4" name="Table 3"/>
          <p:cNvGraphicFramePr>
            <a:graphicFrameLocks noGrp="1"/>
          </p:cNvGraphicFramePr>
          <p:nvPr/>
        </p:nvGraphicFramePr>
        <p:xfrm>
          <a:off x="1905000" y="3082457"/>
          <a:ext cx="4902200" cy="1463040"/>
        </p:xfrm>
        <a:graphic>
          <a:graphicData uri="http://schemas.openxmlformats.org/drawingml/2006/table">
            <a:tbl>
              <a:tblPr/>
              <a:tblGrid>
                <a:gridCol w="20828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tblGrid>
              <a:tr h="0">
                <a:tc>
                  <a:txBody>
                    <a:bodyPr/>
                    <a:lstStyle/>
                    <a:p>
                      <a:pPr algn="ctr" fontAlgn="b"/>
                      <a:r>
                        <a:rPr lang="en-US" sz="1200" b="1" i="0" u="none" strike="noStrike" dirty="0">
                          <a:solidFill>
                            <a:srgbClr val="000000"/>
                          </a:solidFill>
                          <a:effectLst/>
                          <a:latin typeface="Barlow" panose="00000500000000000000" pitchFamily="2" charset="0"/>
                        </a:rPr>
                        <a:t>F-Score Parameters**</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200" b="1" i="0" u="none" strike="noStrike" dirty="0">
                          <a:solidFill>
                            <a:srgbClr val="000000"/>
                          </a:solidFill>
                          <a:effectLst/>
                          <a:latin typeface="Barlow" panose="00000500000000000000" pitchFamily="2" charset="0"/>
                        </a:rPr>
                        <a:t>Year 1</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200" b="1" i="0" u="none" strike="noStrike" dirty="0">
                          <a:solidFill>
                            <a:srgbClr val="000000"/>
                          </a:solidFill>
                          <a:effectLst/>
                          <a:latin typeface="Barlow" panose="00000500000000000000" pitchFamily="2" charset="0"/>
                        </a:rPr>
                        <a:t>Year 2</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0">
                <a:tc>
                  <a:txBody>
                    <a:bodyPr/>
                    <a:lstStyle/>
                    <a:p>
                      <a:pPr algn="ctr" fontAlgn="b"/>
                      <a:r>
                        <a:rPr lang="en-US" sz="1200" b="0" i="0" u="none" strike="noStrike" dirty="0">
                          <a:solidFill>
                            <a:srgbClr val="000000"/>
                          </a:solidFill>
                          <a:effectLst/>
                          <a:latin typeface="Barlow" panose="00000500000000000000" pitchFamily="2" charset="0"/>
                        </a:rPr>
                        <a:t>Sales Growth</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0%</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 0%</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fontAlgn="b"/>
                      <a:r>
                        <a:rPr lang="en-US" sz="1200" b="0" i="0" u="none" strike="noStrike" dirty="0">
                          <a:solidFill>
                            <a:srgbClr val="000000"/>
                          </a:solidFill>
                          <a:effectLst/>
                          <a:latin typeface="Barlow" panose="00000500000000000000" pitchFamily="2" charset="0"/>
                        </a:rPr>
                        <a:t>EBITDA Margin%</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t>
                      </a:r>
                      <a:r>
                        <a:rPr lang="en-US" sz="1200" b="0" i="0" u="none" strike="noStrike" dirty="0" err="1">
                          <a:solidFill>
                            <a:srgbClr val="000000"/>
                          </a:solidFill>
                          <a:effectLst/>
                          <a:latin typeface="Barlow" panose="00000500000000000000" pitchFamily="2" charset="0"/>
                        </a:rPr>
                        <a:t>ve</a:t>
                      </a:r>
                      <a:endParaRPr lang="en-US" sz="1200" b="0" i="0" u="none" strike="noStrike" dirty="0">
                        <a:solidFill>
                          <a:srgbClr val="000000"/>
                        </a:solidFill>
                        <a:effectLst/>
                        <a:latin typeface="Barlow" panose="00000500000000000000" pitchFamily="2" charset="0"/>
                      </a:endParaRP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t>
                      </a:r>
                      <a:r>
                        <a:rPr lang="en-US" sz="1200" b="0" i="0" u="none" strike="noStrike" dirty="0" err="1">
                          <a:solidFill>
                            <a:srgbClr val="000000"/>
                          </a:solidFill>
                          <a:effectLst/>
                          <a:latin typeface="Barlow" panose="00000500000000000000" pitchFamily="2" charset="0"/>
                        </a:rPr>
                        <a:t>ve</a:t>
                      </a:r>
                      <a:endParaRPr lang="en-US" sz="1200" b="0" i="0" u="none" strike="noStrike" dirty="0">
                        <a:solidFill>
                          <a:srgbClr val="000000"/>
                        </a:solidFill>
                        <a:effectLst/>
                        <a:latin typeface="Barlow" panose="00000500000000000000" pitchFamily="2" charset="0"/>
                      </a:endParaRP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fontAlgn="b"/>
                      <a:r>
                        <a:rPr lang="en-US" sz="1200" b="0" i="0" u="none" strike="noStrike" dirty="0">
                          <a:solidFill>
                            <a:srgbClr val="000000"/>
                          </a:solidFill>
                          <a:effectLst/>
                          <a:latin typeface="Barlow" panose="00000500000000000000" pitchFamily="2" charset="0"/>
                        </a:rPr>
                        <a:t>PAT +</a:t>
                      </a:r>
                      <a:r>
                        <a:rPr lang="en-US" sz="1200" b="0" i="0" u="none" strike="noStrike" dirty="0" err="1">
                          <a:solidFill>
                            <a:srgbClr val="000000"/>
                          </a:solidFill>
                          <a:effectLst/>
                          <a:latin typeface="Barlow" panose="00000500000000000000" pitchFamily="2" charset="0"/>
                        </a:rPr>
                        <a:t>ve</a:t>
                      </a:r>
                      <a:endParaRPr lang="en-US" sz="1200" b="0" i="0" u="none" strike="noStrike" dirty="0">
                        <a:solidFill>
                          <a:srgbClr val="000000"/>
                        </a:solidFill>
                        <a:effectLst/>
                        <a:latin typeface="Barlow" panose="00000500000000000000" pitchFamily="2" charset="0"/>
                      </a:endParaRP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&gt;0</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&gt;0</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b"/>
                      <a:r>
                        <a:rPr lang="en-US" sz="1200" b="0" i="0" u="none" strike="noStrike" dirty="0">
                          <a:solidFill>
                            <a:srgbClr val="000000"/>
                          </a:solidFill>
                          <a:effectLst/>
                          <a:latin typeface="Barlow" panose="00000500000000000000" pitchFamily="2" charset="0"/>
                        </a:rPr>
                        <a:t>Interest Coverage Ratio (ICR)</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fontAlgn="b"/>
                      <a:r>
                        <a:rPr lang="en-US" sz="1200" b="0" i="0" u="none" strike="noStrike" dirty="0">
                          <a:solidFill>
                            <a:srgbClr val="000000"/>
                          </a:solidFill>
                          <a:effectLst/>
                          <a:latin typeface="Barlow" panose="00000500000000000000" pitchFamily="2" charset="0"/>
                        </a:rPr>
                        <a:t>Net D/E</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&lt;0.5</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&lt;0.5</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fontAlgn="b"/>
                      <a:r>
                        <a:rPr lang="en-US" sz="1200" b="0" i="0" u="none" strike="noStrike" dirty="0">
                          <a:solidFill>
                            <a:srgbClr val="000000"/>
                          </a:solidFill>
                          <a:effectLst/>
                          <a:latin typeface="Barlow" panose="00000500000000000000" pitchFamily="2" charset="0"/>
                        </a:rPr>
                        <a:t>Asset Turnover</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&gt;=1</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fontAlgn="b"/>
                      <a:r>
                        <a:rPr lang="en-US" sz="1200" b="0" i="0" u="none" strike="noStrike" dirty="0">
                          <a:solidFill>
                            <a:srgbClr val="000000"/>
                          </a:solidFill>
                          <a:effectLst/>
                          <a:latin typeface="Barlow" panose="00000500000000000000" pitchFamily="2" charset="0"/>
                        </a:rPr>
                        <a:t>Free Cash Flow</a:t>
                      </a: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t>
                      </a:r>
                      <a:r>
                        <a:rPr lang="en-US" sz="1200" b="0" i="0" u="none" strike="noStrike" dirty="0" err="1">
                          <a:solidFill>
                            <a:srgbClr val="000000"/>
                          </a:solidFill>
                          <a:effectLst/>
                          <a:latin typeface="Barlow" panose="00000500000000000000" pitchFamily="2" charset="0"/>
                        </a:rPr>
                        <a:t>ve</a:t>
                      </a:r>
                      <a:endParaRPr lang="en-US" sz="1200" b="0" i="0" u="none" strike="noStrike" dirty="0">
                        <a:solidFill>
                          <a:srgbClr val="000000"/>
                        </a:solidFill>
                        <a:effectLst/>
                        <a:latin typeface="Barlow" panose="00000500000000000000" pitchFamily="2" charset="0"/>
                      </a:endParaRP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t>
                      </a:r>
                      <a:r>
                        <a:rPr lang="en-US" sz="1200" b="0" i="0" u="none" strike="noStrike" dirty="0" err="1">
                          <a:solidFill>
                            <a:srgbClr val="000000"/>
                          </a:solidFill>
                          <a:effectLst/>
                          <a:latin typeface="Barlow" panose="00000500000000000000" pitchFamily="2" charset="0"/>
                        </a:rPr>
                        <a:t>ve</a:t>
                      </a:r>
                      <a:endParaRPr lang="en-US" sz="1200" b="0" i="0" u="none" strike="noStrike" dirty="0">
                        <a:solidFill>
                          <a:srgbClr val="000000"/>
                        </a:solidFill>
                        <a:effectLst/>
                        <a:latin typeface="Barlow" panose="00000500000000000000" pitchFamily="2" charset="0"/>
                      </a:endParaRPr>
                    </a:p>
                  </a:txBody>
                  <a:tcPr marL="0" marR="0"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TextBox 2"/>
          <p:cNvSpPr txBox="1"/>
          <p:nvPr/>
        </p:nvSpPr>
        <p:spPr>
          <a:xfrm>
            <a:off x="0" y="553099"/>
            <a:ext cx="9144000" cy="2862322"/>
          </a:xfrm>
          <a:prstGeom prst="rect">
            <a:avLst/>
          </a:prstGeom>
          <a:noFill/>
        </p:spPr>
        <p:txBody>
          <a:bodyPr wrap="square">
            <a:spAutoFit/>
          </a:bodyPr>
          <a:lstStyle/>
          <a:p>
            <a:r>
              <a:rPr lang="en-US" sz="1200" b="1" dirty="0">
                <a:solidFill>
                  <a:srgbClr val="000000"/>
                </a:solidFill>
                <a:latin typeface="Barlow" panose="00000500000000000000" pitchFamily="2" charset="0"/>
              </a:rPr>
              <a:t>What is F-Score?</a:t>
            </a:r>
          </a:p>
          <a:p>
            <a:endParaRPr lang="en-US" sz="1200" b="1"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i="0" u="none" strike="noStrike" dirty="0">
                <a:solidFill>
                  <a:srgbClr val="000000"/>
                </a:solidFill>
                <a:effectLst/>
                <a:latin typeface="Barlow" panose="00000500000000000000" pitchFamily="2" charset="0"/>
              </a:rPr>
              <a:t>We understand that PET check (either on absolute or % method) might also have certain limitations since a lot of companie</a:t>
            </a:r>
            <a:r>
              <a:rPr lang="en-US" sz="1200" dirty="0">
                <a:solidFill>
                  <a:srgbClr val="000000"/>
                </a:solidFill>
                <a:latin typeface="Barlow" panose="00000500000000000000" pitchFamily="2" charset="0"/>
              </a:rPr>
              <a:t>s:</a:t>
            </a:r>
          </a:p>
          <a:p>
            <a:pPr marL="628650" lvl="1" indent="-171450">
              <a:buFont typeface="Arial" panose="020B0604020202020204" pitchFamily="34" charset="0"/>
              <a:buChar char="•"/>
            </a:pPr>
            <a:r>
              <a:rPr lang="en-US" sz="1200" dirty="0">
                <a:solidFill>
                  <a:srgbClr val="000000"/>
                </a:solidFill>
                <a:latin typeface="Barlow" panose="00000500000000000000" pitchFamily="2" charset="0"/>
              </a:rPr>
              <a:t>Do not report power costs</a:t>
            </a:r>
          </a:p>
          <a:p>
            <a:pPr marL="628650" lvl="1" indent="-171450">
              <a:buFont typeface="Arial" panose="020B0604020202020204" pitchFamily="34" charset="0"/>
              <a:buChar char="•"/>
            </a:pPr>
            <a:r>
              <a:rPr lang="en-US" sz="1200" dirty="0">
                <a:solidFill>
                  <a:srgbClr val="000000"/>
                </a:solidFill>
                <a:latin typeface="Barlow" panose="00000500000000000000" pitchFamily="2" charset="0"/>
              </a:rPr>
              <a:t>Might have low employee cost base</a:t>
            </a:r>
          </a:p>
          <a:p>
            <a:pPr marL="628650" lvl="1" indent="-171450">
              <a:buFont typeface="Arial" panose="020B0604020202020204" pitchFamily="34" charset="0"/>
              <a:buChar char="•"/>
            </a:pPr>
            <a:r>
              <a:rPr lang="en-US" sz="1200" dirty="0">
                <a:solidFill>
                  <a:srgbClr val="000000"/>
                </a:solidFill>
                <a:latin typeface="Barlow" panose="00000500000000000000" pitchFamily="2" charset="0"/>
              </a:rPr>
              <a:t>Have tax benefits due to which there tax rate/amount is generally lower</a:t>
            </a:r>
          </a:p>
          <a:p>
            <a:pPr marL="628650" lvl="1"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Hence, we have also introduced Fundamental Score to avoid penalizing these companies. Here we assign scores to the companies based on 7 fundamental factors which covers P&amp;L, B/S and CF aspects. </a:t>
            </a:r>
            <a:r>
              <a:rPr lang="en-US" sz="1200" b="1" dirty="0">
                <a:solidFill>
                  <a:srgbClr val="000000"/>
                </a:solidFill>
                <a:latin typeface="Barlow" panose="00000500000000000000" pitchFamily="2" charset="0"/>
              </a:rPr>
              <a:t>For a company to qualify, the company must have an overall score of 7 in last 2 years with the at least 4 in the latest year.</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endParaRPr lang="en-US" sz="1200" i="0" u="none" strike="noStrike" dirty="0">
              <a:solidFill>
                <a:srgbClr val="000000"/>
              </a:solidFill>
              <a:effectLst/>
              <a:latin typeface="Barlow" panose="00000500000000000000" pitchFamily="2" charset="0"/>
            </a:endParaRPr>
          </a:p>
        </p:txBody>
      </p:sp>
      <p:sp>
        <p:nvSpPr>
          <p:cNvPr id="7"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8"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152400" y="44063"/>
            <a:ext cx="6356578" cy="468935"/>
          </a:xfrm>
        </p:spPr>
        <p:txBody>
          <a:bodyPr>
            <a:normAutofit/>
          </a:bodyPr>
          <a:lstStyle/>
          <a:p>
            <a:r>
              <a:rPr lang="en-US" dirty="0"/>
              <a:t>Rationale for new rule addition</a:t>
            </a:r>
            <a:endParaRPr lang="en-IN" dirty="0"/>
          </a:p>
        </p:txBody>
      </p:sp>
      <p:sp>
        <p:nvSpPr>
          <p:cNvPr id="4" name="TextBox 3"/>
          <p:cNvSpPr txBox="1"/>
          <p:nvPr/>
        </p:nvSpPr>
        <p:spPr>
          <a:xfrm>
            <a:off x="0" y="544996"/>
            <a:ext cx="9144000" cy="3046988"/>
          </a:xfrm>
          <a:prstGeom prst="rect">
            <a:avLst/>
          </a:prstGeom>
          <a:noFill/>
        </p:spPr>
        <p:txBody>
          <a:bodyPr wrap="square">
            <a:spAutoFit/>
          </a:bodyPr>
          <a:lstStyle/>
          <a:p>
            <a:pPr marL="171450" indent="-171450">
              <a:buFont typeface="Arial" panose="020B0604020202020204" pitchFamily="34" charset="0"/>
              <a:buChar char="•"/>
            </a:pPr>
            <a:r>
              <a:rPr lang="en-US" sz="1200" b="1" i="0" u="none" strike="noStrike" dirty="0">
                <a:solidFill>
                  <a:srgbClr val="000000"/>
                </a:solidFill>
                <a:effectLst/>
                <a:latin typeface="Barlow" panose="00000500000000000000" pitchFamily="2" charset="0"/>
              </a:rPr>
              <a:t>Impact cost</a:t>
            </a:r>
            <a:r>
              <a:rPr lang="en-US" sz="1200" i="0" u="none" strike="noStrike" dirty="0">
                <a:solidFill>
                  <a:srgbClr val="000000"/>
                </a:solidFill>
                <a:effectLst/>
                <a:latin typeface="Barlow" panose="00000500000000000000" pitchFamily="2" charset="0"/>
              </a:rPr>
              <a:t>: Impact cost represents the cost of executing a transaction in a given stock, for a specific predefined order size, at any given point of time. This is reported by NSE on a transaction amount of Rs1L. We believe stocks having impact cost of &gt;1% poses liquidity risks and hence we have incorporated the same in our rules.</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b="1" i="0" u="none" strike="noStrike" dirty="0">
                <a:solidFill>
                  <a:srgbClr val="000000"/>
                </a:solidFill>
                <a:effectLst/>
                <a:latin typeface="Barlow" panose="00000500000000000000" pitchFamily="2" charset="0"/>
              </a:rPr>
              <a:t>Promoter Pledge</a:t>
            </a:r>
            <a:r>
              <a:rPr lang="en-US" sz="1200" i="0" u="none" strike="noStrike" dirty="0">
                <a:solidFill>
                  <a:srgbClr val="000000"/>
                </a:solidFill>
                <a:effectLst/>
                <a:latin typeface="Barlow" panose="00000500000000000000" pitchFamily="2" charset="0"/>
              </a:rPr>
              <a:t> : While we note that high promoter pledge is not necessarily bad, but beyond certain threshold, it can raise corporate governance concerns. Promoters with substantial pledged shares may face conflicts of interest, as their personal financial situation could influence their decision-making in the company. This may compromise the interests of other shareholders as well. </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b="1" dirty="0">
                <a:solidFill>
                  <a:srgbClr val="000000"/>
                </a:solidFill>
                <a:latin typeface="Barlow" panose="00000500000000000000" pitchFamily="2" charset="0"/>
              </a:rPr>
              <a:t>Average Daily Turnover: </a:t>
            </a:r>
            <a:r>
              <a:rPr lang="en-US" sz="1200" dirty="0">
                <a:solidFill>
                  <a:srgbClr val="000000"/>
                </a:solidFill>
                <a:latin typeface="Barlow" panose="00000500000000000000" pitchFamily="2" charset="0"/>
              </a:rPr>
              <a:t>We have kept this additional check to ensure that we provide funding in stocks that are sufficiently liquid and actively traded that can help us to square off our position timely in case of any major negative event.</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b="1" dirty="0">
                <a:solidFill>
                  <a:srgbClr val="000000"/>
                </a:solidFill>
                <a:latin typeface="Barlow" panose="00000500000000000000" pitchFamily="2" charset="0"/>
              </a:rPr>
              <a:t>BSE/NSE classification: </a:t>
            </a:r>
            <a:r>
              <a:rPr lang="en-US" sz="1200" dirty="0">
                <a:solidFill>
                  <a:srgbClr val="000000"/>
                </a:solidFill>
                <a:latin typeface="Barlow" panose="00000500000000000000" pitchFamily="2" charset="0"/>
              </a:rPr>
              <a:t>The exchange classifies certain stocks as potentially risky due to its volatile nature/lack of liquidity/ physical settlement requirements etc. We seek to avoid funding in these scripts by this rule.</a:t>
            </a:r>
          </a:p>
          <a:p>
            <a:pPr marL="171450" indent="-171450">
              <a:buFont typeface="Arial" panose="020B0604020202020204" pitchFamily="34" charset="0"/>
              <a:buChar char="•"/>
            </a:pPr>
            <a:endParaRPr lang="en-US" sz="1200" b="1"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b="1" dirty="0">
                <a:solidFill>
                  <a:srgbClr val="000000"/>
                </a:solidFill>
                <a:latin typeface="Barlow" panose="00000500000000000000" pitchFamily="2" charset="0"/>
              </a:rPr>
              <a:t>F&amp;0 (Poor): </a:t>
            </a:r>
            <a:r>
              <a:rPr lang="en-US" sz="1200" dirty="0">
                <a:solidFill>
                  <a:srgbClr val="000000"/>
                </a:solidFill>
                <a:latin typeface="Barlow" panose="00000500000000000000" pitchFamily="2" charset="0"/>
              </a:rPr>
              <a:t>F &amp; O stock which are not present in Nifty 500 is rated poor as per new rule</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p:txBody>
      </p:sp>
      <p:sp>
        <p:nvSpPr>
          <p:cNvPr id="5"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6"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239" y="12905"/>
            <a:ext cx="6356578" cy="468935"/>
          </a:xfrm>
        </p:spPr>
        <p:txBody>
          <a:bodyPr>
            <a:normAutofit/>
          </a:bodyPr>
          <a:lstStyle/>
          <a:p>
            <a:r>
              <a:rPr lang="en-US" dirty="0"/>
              <a:t>Process documentation</a:t>
            </a:r>
            <a:endParaRPr lang="en-IN" dirty="0"/>
          </a:p>
        </p:txBody>
      </p:sp>
      <p:sp>
        <p:nvSpPr>
          <p:cNvPr id="6" name="TextBox 5"/>
          <p:cNvSpPr txBox="1"/>
          <p:nvPr/>
        </p:nvSpPr>
        <p:spPr>
          <a:xfrm>
            <a:off x="76200" y="585686"/>
            <a:ext cx="8820492" cy="276999"/>
          </a:xfrm>
          <a:prstGeom prst="rect">
            <a:avLst/>
          </a:prstGeom>
          <a:noFill/>
        </p:spPr>
        <p:txBody>
          <a:bodyPr wrap="square">
            <a:spAutoFit/>
          </a:bodyPr>
          <a:lstStyle/>
          <a:p>
            <a:pPr marL="171450" indent="-171450">
              <a:buFont typeface="Arial" panose="020B0604020202020204" pitchFamily="34" charset="0"/>
              <a:buChar char="•"/>
            </a:pPr>
            <a:r>
              <a:rPr lang="en-US" sz="1200" i="0" u="none" strike="noStrike" dirty="0">
                <a:solidFill>
                  <a:srgbClr val="000000"/>
                </a:solidFill>
                <a:effectLst/>
                <a:latin typeface="Barlow" panose="00000500000000000000" pitchFamily="2" charset="0"/>
              </a:rPr>
              <a:t>We will be refreshing the ratings on a Monthly basis.</a:t>
            </a:r>
          </a:p>
        </p:txBody>
      </p:sp>
      <p:graphicFrame>
        <p:nvGraphicFramePr>
          <p:cNvPr id="3" name="Table 2"/>
          <p:cNvGraphicFramePr>
            <a:graphicFrameLocks noGrp="1"/>
          </p:cNvGraphicFramePr>
          <p:nvPr/>
        </p:nvGraphicFramePr>
        <p:xfrm>
          <a:off x="381000" y="1962150"/>
          <a:ext cx="3905971" cy="2074641"/>
        </p:xfrm>
        <a:graphic>
          <a:graphicData uri="http://schemas.openxmlformats.org/drawingml/2006/table">
            <a:tbl>
              <a:tblPr/>
              <a:tblGrid>
                <a:gridCol w="2554143">
                  <a:extLst>
                    <a:ext uri="{9D8B030D-6E8A-4147-A177-3AD203B41FA5}">
                      <a16:colId xmlns:a16="http://schemas.microsoft.com/office/drawing/2014/main" val="20000"/>
                    </a:ext>
                  </a:extLst>
                </a:gridCol>
                <a:gridCol w="1351828">
                  <a:extLst>
                    <a:ext uri="{9D8B030D-6E8A-4147-A177-3AD203B41FA5}">
                      <a16:colId xmlns:a16="http://schemas.microsoft.com/office/drawing/2014/main" val="20001"/>
                    </a:ext>
                  </a:extLst>
                </a:gridCol>
              </a:tblGrid>
              <a:tr h="287340">
                <a:tc>
                  <a:txBody>
                    <a:bodyPr/>
                    <a:lstStyle/>
                    <a:p>
                      <a:pPr algn="ctr" fontAlgn="b"/>
                      <a:r>
                        <a:rPr lang="en-US" sz="1200" b="0" i="0" u="none" strike="noStrike" dirty="0">
                          <a:solidFill>
                            <a:srgbClr val="000000"/>
                          </a:solidFill>
                          <a:effectLst/>
                          <a:latin typeface="Barlow" panose="00000500000000000000" pitchFamily="2" charset="0"/>
                        </a:rPr>
                        <a:t> </a:t>
                      </a:r>
                      <a:r>
                        <a:rPr lang="en-US" sz="1200" b="1" i="0" u="none" strike="noStrike" dirty="0">
                          <a:solidFill>
                            <a:srgbClr val="000000"/>
                          </a:solidFill>
                          <a:effectLst/>
                          <a:latin typeface="Barlow" panose="00000500000000000000" pitchFamily="2" charset="0"/>
                        </a:rPr>
                        <a:t>Criteria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Frequency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98589">
                <a:tc>
                  <a:txBody>
                    <a:bodyPr/>
                    <a:lstStyle/>
                    <a:p>
                      <a:pPr algn="ctr" fontAlgn="b"/>
                      <a:r>
                        <a:rPr lang="en-US" sz="120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98589">
                <a:tc>
                  <a:txBody>
                    <a:bodyPr/>
                    <a:lstStyle/>
                    <a:p>
                      <a:pPr algn="ctr" fontAlgn="b"/>
                      <a:r>
                        <a:rPr lang="en-US" sz="1200" b="0" i="0" u="none" strike="noStrike" dirty="0">
                          <a:solidFill>
                            <a:srgbClr val="000000"/>
                          </a:solidFill>
                          <a:effectLst/>
                          <a:latin typeface="Barlow" panose="00000500000000000000" pitchFamily="2" charset="0"/>
                        </a:rPr>
                        <a:t>Market Cap</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98589">
                <a:tc>
                  <a:txBody>
                    <a:bodyPr/>
                    <a:lstStyle/>
                    <a:p>
                      <a:pPr algn="ctr" fontAlgn="b"/>
                      <a:r>
                        <a:rPr lang="en-US" sz="1200" b="0" i="0" u="none" strike="noStrike" dirty="0">
                          <a:solidFill>
                            <a:srgbClr val="000000"/>
                          </a:solidFill>
                          <a:effectLst/>
                          <a:latin typeface="Barlow" panose="00000500000000000000" pitchFamily="2" charset="0"/>
                        </a:rPr>
                        <a:t>F&amp;O Stock</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8589">
                <a:tc>
                  <a:txBody>
                    <a:bodyPr/>
                    <a:lstStyle/>
                    <a:p>
                      <a:pPr algn="ctr" fontAlgn="b"/>
                      <a:r>
                        <a:rPr lang="en-US" sz="120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98589">
                <a:tc>
                  <a:txBody>
                    <a:bodyPr/>
                    <a:lstStyle/>
                    <a:p>
                      <a:pPr algn="ctr" fontAlgn="b"/>
                      <a:r>
                        <a:rPr lang="en-US" sz="120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98589">
                <a:tc>
                  <a:txBody>
                    <a:bodyPr/>
                    <a:lstStyle/>
                    <a:p>
                      <a:pPr algn="ctr" fontAlgn="b"/>
                      <a:r>
                        <a:rPr lang="en-US" sz="120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98589">
                <a:tc>
                  <a:txBody>
                    <a:bodyPr/>
                    <a:lstStyle/>
                    <a:p>
                      <a:pPr algn="ctr" fontAlgn="b"/>
                      <a:r>
                        <a:rPr lang="en-US" sz="1200" b="0" i="0" u="none" strike="noStrike" dirty="0">
                          <a:solidFill>
                            <a:srgbClr val="000000"/>
                          </a:solidFill>
                          <a:effectLst/>
                          <a:latin typeface="Barlow" panose="00000500000000000000" pitchFamily="2" charset="0"/>
                        </a:rPr>
                        <a:t>Average Daily Turnover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98589">
                <a:tc>
                  <a:txBody>
                    <a:bodyPr/>
                    <a:lstStyle/>
                    <a:p>
                      <a:pPr algn="ctr" fontAlgn="b"/>
                      <a:r>
                        <a:rPr lang="en-US" sz="1200" b="0" i="0" u="none" strike="noStrike" dirty="0">
                          <a:solidFill>
                            <a:srgbClr val="000000"/>
                          </a:solidFill>
                          <a:effectLst/>
                          <a:latin typeface="Barlow" panose="00000500000000000000" pitchFamily="2" charset="0"/>
                        </a:rPr>
                        <a:t>Sales</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98589">
                <a:tc>
                  <a:txBody>
                    <a:bodyPr/>
                    <a:lstStyle/>
                    <a:p>
                      <a:pPr algn="ctr" fontAlgn="b"/>
                      <a:r>
                        <a:rPr lang="en-US" sz="1200" b="0" i="0" u="none" strike="noStrike" dirty="0">
                          <a:solidFill>
                            <a:srgbClr val="000000"/>
                          </a:solidFill>
                          <a:effectLst/>
                          <a:latin typeface="Barlow" panose="00000500000000000000" pitchFamily="2" charset="0"/>
                        </a:rPr>
                        <a:t>NSE/ BSE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200" b="0" i="0" u="none" strike="noStrike" dirty="0">
                          <a:solidFill>
                            <a:srgbClr val="000000"/>
                          </a:solidFill>
                          <a:effectLst/>
                          <a:latin typeface="Barlow" panose="00000500000000000000" pitchFamily="2" charset="0"/>
                        </a:rPr>
                        <a:t>Monthly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7"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8"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3212"/>
            <a:ext cx="6356578" cy="468935"/>
          </a:xfrm>
        </p:spPr>
        <p:txBody>
          <a:bodyPr>
            <a:normAutofit/>
          </a:bodyPr>
          <a:lstStyle/>
          <a:p>
            <a:r>
              <a:rPr lang="en-US" dirty="0"/>
              <a:t>Rules for IPO Companies</a:t>
            </a:r>
            <a:endParaRPr lang="en-IN" dirty="0"/>
          </a:p>
        </p:txBody>
      </p:sp>
      <p:graphicFrame>
        <p:nvGraphicFramePr>
          <p:cNvPr id="5" name="Table 4"/>
          <p:cNvGraphicFramePr>
            <a:graphicFrameLocks noGrp="1"/>
          </p:cNvGraphicFramePr>
          <p:nvPr/>
        </p:nvGraphicFramePr>
        <p:xfrm>
          <a:off x="382204" y="1123950"/>
          <a:ext cx="7772400" cy="1892300"/>
        </p:xfrm>
        <a:graphic>
          <a:graphicData uri="http://schemas.openxmlformats.org/drawingml/2006/table">
            <a:tbl>
              <a:tblPr/>
              <a:tblGrid>
                <a:gridCol w="2391507">
                  <a:extLst>
                    <a:ext uri="{9D8B030D-6E8A-4147-A177-3AD203B41FA5}">
                      <a16:colId xmlns:a16="http://schemas.microsoft.com/office/drawing/2014/main" val="20000"/>
                    </a:ext>
                  </a:extLst>
                </a:gridCol>
                <a:gridCol w="1079095">
                  <a:extLst>
                    <a:ext uri="{9D8B030D-6E8A-4147-A177-3AD203B41FA5}">
                      <a16:colId xmlns:a16="http://schemas.microsoft.com/office/drawing/2014/main" val="20001"/>
                    </a:ext>
                  </a:extLst>
                </a:gridCol>
                <a:gridCol w="1079095">
                  <a:extLst>
                    <a:ext uri="{9D8B030D-6E8A-4147-A177-3AD203B41FA5}">
                      <a16:colId xmlns:a16="http://schemas.microsoft.com/office/drawing/2014/main" val="20002"/>
                    </a:ext>
                  </a:extLst>
                </a:gridCol>
                <a:gridCol w="1079095">
                  <a:extLst>
                    <a:ext uri="{9D8B030D-6E8A-4147-A177-3AD203B41FA5}">
                      <a16:colId xmlns:a16="http://schemas.microsoft.com/office/drawing/2014/main" val="20003"/>
                    </a:ext>
                  </a:extLst>
                </a:gridCol>
                <a:gridCol w="750992">
                  <a:extLst>
                    <a:ext uri="{9D8B030D-6E8A-4147-A177-3AD203B41FA5}">
                      <a16:colId xmlns:a16="http://schemas.microsoft.com/office/drawing/2014/main" val="20004"/>
                    </a:ext>
                  </a:extLst>
                </a:gridCol>
                <a:gridCol w="1392616">
                  <a:extLst>
                    <a:ext uri="{9D8B030D-6E8A-4147-A177-3AD203B41FA5}">
                      <a16:colId xmlns:a16="http://schemas.microsoft.com/office/drawing/2014/main" val="20005"/>
                    </a:ext>
                  </a:extLst>
                </a:gridCol>
              </a:tblGrid>
              <a:tr h="0">
                <a:tc rowSpan="2">
                  <a:txBody>
                    <a:bodyPr/>
                    <a:lstStyle/>
                    <a:p>
                      <a:pPr algn="ctr" fontAlgn="b"/>
                      <a:r>
                        <a:rPr lang="en-US" sz="1200" b="1" i="0" u="none" strike="noStrike" dirty="0">
                          <a:solidFill>
                            <a:srgbClr val="000000"/>
                          </a:solidFill>
                          <a:effectLst/>
                          <a:latin typeface="Barlow" panose="00000500000000000000" pitchFamily="2" charset="0"/>
                        </a:rPr>
                        <a:t>Criteria</a:t>
                      </a:r>
                    </a:p>
                    <a:p>
                      <a:pPr algn="ctr" fontAlgn="b"/>
                      <a:r>
                        <a:rPr lang="en-US" sz="1200" b="0" i="0" u="none" strike="noStrike" dirty="0">
                          <a:solidFill>
                            <a:srgbClr val="000000"/>
                          </a:solidFill>
                          <a:effectLst/>
                          <a:latin typeface="Barlow" panose="00000500000000000000" pitchFamily="2" charset="0"/>
                        </a:rPr>
                        <a:t> </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endParaRPr lang="en-US" sz="1200" b="1"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4">
                  <a:txBody>
                    <a:bodyPr/>
                    <a:lstStyle/>
                    <a:p>
                      <a:pPr algn="ctr" fontAlgn="b"/>
                      <a:r>
                        <a:rPr lang="en-US" sz="1200" b="1" i="0" u="none" strike="noStrike" dirty="0">
                          <a:solidFill>
                            <a:srgbClr val="000000"/>
                          </a:solidFill>
                          <a:effectLst/>
                          <a:latin typeface="Barlow" panose="00000500000000000000" pitchFamily="2" charset="0"/>
                        </a:rPr>
                        <a:t>IPO Company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Data?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Good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Average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Poor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lgn="ctr" fontAlgn="b"/>
                      <a:r>
                        <a:rPr lang="en-US" sz="1200" b="1" i="0" u="none" strike="noStrike" dirty="0">
                          <a:solidFill>
                            <a:srgbClr val="000000"/>
                          </a:solidFill>
                          <a:effectLst/>
                          <a:latin typeface="Barlow" panose="00000500000000000000" pitchFamily="2" charset="0"/>
                        </a:rPr>
                        <a:t>Poor Restricted</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0">
                <a:tc>
                  <a:txBody>
                    <a:bodyPr/>
                    <a:lstStyle/>
                    <a:p>
                      <a:pPr algn="ctr" fontAlgn="b"/>
                      <a:r>
                        <a:rPr lang="en-US" sz="1200" b="0" i="0" u="none" strike="noStrike" dirty="0">
                          <a:solidFill>
                            <a:srgbClr val="000000"/>
                          </a:solidFill>
                          <a:effectLst/>
                          <a:latin typeface="Barlow" panose="00000500000000000000" pitchFamily="2" charset="0"/>
                        </a:rPr>
                        <a:t>Net worth</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Available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sz="120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fontAlgn="b"/>
                      <a:r>
                        <a:rPr lang="en-US" sz="1200" b="0" i="0" u="none" strike="noStrike" dirty="0">
                          <a:solidFill>
                            <a:srgbClr val="000000"/>
                          </a:solidFill>
                          <a:effectLst/>
                          <a:latin typeface="Barlow" panose="00000500000000000000" pitchFamily="2" charset="0"/>
                        </a:rPr>
                        <a:t>Est. </a:t>
                      </a:r>
                      <a:r>
                        <a:rPr lang="en-US" sz="1200" b="0" i="0" u="none" strike="noStrike" dirty="0" err="1">
                          <a:solidFill>
                            <a:srgbClr val="000000"/>
                          </a:solidFill>
                          <a:effectLst/>
                          <a:latin typeface="Barlow" panose="00000500000000000000" pitchFamily="2" charset="0"/>
                        </a:rPr>
                        <a:t>Mcap</a:t>
                      </a:r>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Available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b="0" i="0" u="none" strike="noStrike" dirty="0">
                          <a:solidFill>
                            <a:srgbClr val="000000"/>
                          </a:solidFill>
                          <a:effectLst/>
                          <a:latin typeface="Barlow" panose="00000500000000000000" pitchFamily="2" charset="0"/>
                        </a:rPr>
                        <a:t>&gt;=500cr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b="0" i="0" u="none" strike="noStrike" dirty="0">
                          <a:solidFill>
                            <a:srgbClr val="000000"/>
                          </a:solidFill>
                          <a:effectLst/>
                          <a:latin typeface="Barlow" panose="00000500000000000000" pitchFamily="2" charset="0"/>
                        </a:rPr>
                        <a:t>&gt;=100cr</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b"/>
                      <a:r>
                        <a:rPr lang="en-US" sz="1200" b="0" i="0" u="none" strike="noStrike" dirty="0">
                          <a:solidFill>
                            <a:srgbClr val="000000"/>
                          </a:solidFill>
                          <a:effectLst/>
                          <a:latin typeface="Barlow" panose="00000500000000000000" pitchFamily="2" charset="0"/>
                        </a:rPr>
                        <a:t>PET Check/F-Score**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Available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b="0" i="0" u="none" strike="noStrike" dirty="0">
                          <a:solidFill>
                            <a:srgbClr val="000000"/>
                          </a:solidFill>
                          <a:effectLst/>
                          <a:latin typeface="Barlow" panose="00000500000000000000" pitchFamily="2" charset="0"/>
                        </a:rPr>
                        <a:t>PET only</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r>
                        <a:rPr lang="en-US" sz="1200" b="0" i="0" u="none" strike="noStrike" dirty="0">
                          <a:solidFill>
                            <a:srgbClr val="000000"/>
                          </a:solidFill>
                          <a:effectLst/>
                          <a:latin typeface="Barlow" panose="00000500000000000000" pitchFamily="2" charset="0"/>
                        </a:rPr>
                        <a:t>PET or F-Score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fontAlgn="b"/>
                      <a:r>
                        <a:rPr lang="en-US" sz="1200" b="0" i="0" u="none" strike="noStrike" dirty="0">
                          <a:solidFill>
                            <a:srgbClr val="000000"/>
                          </a:solidFill>
                          <a:effectLst/>
                          <a:latin typeface="Barlow" panose="00000500000000000000" pitchFamily="2" charset="0"/>
                        </a:rPr>
                        <a:t>Impact cost</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fontAlgn="b"/>
                      <a:r>
                        <a:rPr lang="en-US" sz="1200" b="0" i="0" u="none" strike="noStrike" dirty="0">
                          <a:solidFill>
                            <a:srgbClr val="000000"/>
                          </a:solidFill>
                          <a:effectLst/>
                          <a:latin typeface="Barlow" panose="00000500000000000000" pitchFamily="2" charset="0"/>
                        </a:rPr>
                        <a:t>Promoter Pledge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fontAlgn="b"/>
                      <a:r>
                        <a:rPr lang="en-US" sz="1200" b="0" i="0" u="none" strike="noStrike" dirty="0">
                          <a:solidFill>
                            <a:srgbClr val="000000"/>
                          </a:solidFill>
                          <a:effectLst/>
                          <a:latin typeface="Barlow" panose="00000500000000000000" pitchFamily="2" charset="0"/>
                        </a:rPr>
                        <a:t>ADTO value</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5379">
                <a:tc>
                  <a:txBody>
                    <a:bodyPr/>
                    <a:lstStyle/>
                    <a:p>
                      <a:pPr algn="ctr" fontAlgn="b"/>
                      <a:r>
                        <a:rPr lang="en-US" sz="1200" b="0" i="0" u="none" strike="noStrike" dirty="0">
                          <a:solidFill>
                            <a:srgbClr val="000000"/>
                          </a:solidFill>
                          <a:effectLst/>
                          <a:latin typeface="Barlow" panose="00000500000000000000" pitchFamily="2" charset="0"/>
                        </a:rPr>
                        <a:t>BSE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pl-PL"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85379">
                <a:tc>
                  <a:txBody>
                    <a:bodyPr/>
                    <a:lstStyle/>
                    <a:p>
                      <a:pPr algn="ctr" fontAlgn="b"/>
                      <a:r>
                        <a:rPr lang="en-US" sz="1200" b="0" i="0" u="none" strike="noStrike" dirty="0">
                          <a:solidFill>
                            <a:srgbClr val="000000"/>
                          </a:solidFill>
                          <a:effectLst/>
                          <a:latin typeface="Barlow" panose="00000500000000000000" pitchFamily="2" charset="0"/>
                        </a:rPr>
                        <a:t>NSE classification</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Barlow" panose="00000500000000000000" pitchFamily="2" charset="0"/>
                        </a:rPr>
                        <a:t>NA</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endParaRPr lang="en-US" sz="1200" b="0" i="0" u="none" strike="noStrike" dirty="0">
                        <a:solidFill>
                          <a:srgbClr val="000000"/>
                        </a:solidFill>
                        <a:effectLst/>
                        <a:latin typeface="Barlow" panose="00000500000000000000" pitchFamily="2" charset="0"/>
                      </a:endParaRP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6"/>
          <p:cNvSpPr txBox="1"/>
          <p:nvPr/>
        </p:nvSpPr>
        <p:spPr>
          <a:xfrm>
            <a:off x="296941" y="3016250"/>
            <a:ext cx="8550118" cy="646331"/>
          </a:xfrm>
          <a:prstGeom prst="rect">
            <a:avLst/>
          </a:prstGeom>
          <a:noFill/>
        </p:spPr>
        <p:txBody>
          <a:bodyPr wrap="square">
            <a:spAutoFit/>
          </a:bodyPr>
          <a:lstStyle/>
          <a:p>
            <a:r>
              <a:rPr lang="en-US" sz="1200" dirty="0">
                <a:solidFill>
                  <a:srgbClr val="000000"/>
                </a:solidFill>
                <a:latin typeface="Barlow" panose="00000500000000000000" pitchFamily="2" charset="0"/>
              </a:rPr>
              <a:t>Qualitative check if promoter has any corporate governance issues in the past, if yes, then marked “Poor”</a:t>
            </a:r>
          </a:p>
          <a:p>
            <a:endParaRPr lang="en-US" sz="1200" i="0" u="none" strike="noStrike" dirty="0">
              <a:solidFill>
                <a:srgbClr val="000000"/>
              </a:solidFill>
              <a:effectLst/>
              <a:latin typeface="Barlow" panose="00000500000000000000" pitchFamily="2" charset="0"/>
            </a:endParaRPr>
          </a:p>
          <a:p>
            <a:r>
              <a:rPr lang="en-US" sz="1200" i="0" u="none" strike="noStrike" dirty="0">
                <a:solidFill>
                  <a:srgbClr val="000000"/>
                </a:solidFill>
                <a:effectLst/>
                <a:latin typeface="Barlow" panose="00000500000000000000" pitchFamily="2" charset="0"/>
              </a:rPr>
              <a:t>We will always rate new Issue “Average”, even if its meeting “Good” condition and then upgrade rating in subsequent months. </a:t>
            </a:r>
          </a:p>
        </p:txBody>
      </p:sp>
      <p:sp>
        <p:nvSpPr>
          <p:cNvPr id="6"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8"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How is MTF computed?</a:t>
            </a:r>
            <a:endParaRPr lang="en-IN" dirty="0"/>
          </a:p>
        </p:txBody>
      </p:sp>
      <p:graphicFrame>
        <p:nvGraphicFramePr>
          <p:cNvPr id="6" name="Table 5"/>
          <p:cNvGraphicFramePr>
            <a:graphicFrameLocks noGrp="1"/>
          </p:cNvGraphicFramePr>
          <p:nvPr/>
        </p:nvGraphicFramePr>
        <p:xfrm>
          <a:off x="228599" y="1716063"/>
          <a:ext cx="7467601" cy="800100"/>
        </p:xfrm>
        <a:graphic>
          <a:graphicData uri="http://schemas.openxmlformats.org/drawingml/2006/table">
            <a:tbl>
              <a:tblPr/>
              <a:tblGrid>
                <a:gridCol w="2020957">
                  <a:extLst>
                    <a:ext uri="{9D8B030D-6E8A-4147-A177-3AD203B41FA5}">
                      <a16:colId xmlns:a16="http://schemas.microsoft.com/office/drawing/2014/main" val="20000"/>
                    </a:ext>
                  </a:extLst>
                </a:gridCol>
                <a:gridCol w="907774">
                  <a:extLst>
                    <a:ext uri="{9D8B030D-6E8A-4147-A177-3AD203B41FA5}">
                      <a16:colId xmlns:a16="http://schemas.microsoft.com/office/drawing/2014/main" val="20001"/>
                    </a:ext>
                  </a:extLst>
                </a:gridCol>
                <a:gridCol w="907774">
                  <a:extLst>
                    <a:ext uri="{9D8B030D-6E8A-4147-A177-3AD203B41FA5}">
                      <a16:colId xmlns:a16="http://schemas.microsoft.com/office/drawing/2014/main" val="20002"/>
                    </a:ext>
                  </a:extLst>
                </a:gridCol>
                <a:gridCol w="907774">
                  <a:extLst>
                    <a:ext uri="{9D8B030D-6E8A-4147-A177-3AD203B41FA5}">
                      <a16:colId xmlns:a16="http://schemas.microsoft.com/office/drawing/2014/main" val="20003"/>
                    </a:ext>
                  </a:extLst>
                </a:gridCol>
                <a:gridCol w="907774">
                  <a:extLst>
                    <a:ext uri="{9D8B030D-6E8A-4147-A177-3AD203B41FA5}">
                      <a16:colId xmlns:a16="http://schemas.microsoft.com/office/drawing/2014/main" val="20004"/>
                    </a:ext>
                  </a:extLst>
                </a:gridCol>
                <a:gridCol w="907774">
                  <a:extLst>
                    <a:ext uri="{9D8B030D-6E8A-4147-A177-3AD203B41FA5}">
                      <a16:colId xmlns:a16="http://schemas.microsoft.com/office/drawing/2014/main" val="20005"/>
                    </a:ext>
                  </a:extLst>
                </a:gridCol>
                <a:gridCol w="907774">
                  <a:extLst>
                    <a:ext uri="{9D8B030D-6E8A-4147-A177-3AD203B41FA5}">
                      <a16:colId xmlns:a16="http://schemas.microsoft.com/office/drawing/2014/main" val="20006"/>
                    </a:ext>
                  </a:extLst>
                </a:gridCol>
              </a:tblGrid>
              <a:tr h="266700">
                <a:tc>
                  <a:txBody>
                    <a:bodyPr/>
                    <a:lstStyle/>
                    <a:p>
                      <a:pPr algn="ctr" fontAlgn="b"/>
                      <a:r>
                        <a:rPr lang="en-US" sz="1100" b="1" i="0" u="none" strike="noStrike" dirty="0">
                          <a:solidFill>
                            <a:srgbClr val="000000"/>
                          </a:solidFill>
                          <a:effectLst/>
                          <a:latin typeface="Barlow" panose="00000500000000000000" pitchFamily="2" charset="0"/>
                        </a:rPr>
                        <a:t>Example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NSE VAR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ELM</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F&amp;O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Multiplier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MTF%</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Leverage (x)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66700">
                <a:tc>
                  <a:txBody>
                    <a:bodyPr/>
                    <a:lstStyle/>
                    <a:p>
                      <a:pPr algn="ctr" fontAlgn="b"/>
                      <a:r>
                        <a:rPr lang="en-US" sz="1100" b="0" i="0" u="none" strike="noStrike" dirty="0">
                          <a:solidFill>
                            <a:srgbClr val="000000"/>
                          </a:solidFill>
                          <a:effectLst/>
                          <a:latin typeface="Barlow" panose="00000500000000000000" pitchFamily="2" charset="0"/>
                        </a:rPr>
                        <a:t>TCS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3.5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Yes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19.5%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5.1x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66700">
                <a:tc>
                  <a:txBody>
                    <a:bodyPr/>
                    <a:lstStyle/>
                    <a:p>
                      <a:pPr algn="ctr" fontAlgn="b"/>
                      <a:r>
                        <a:rPr lang="en-US" sz="1100" b="0" i="0" u="none" strike="noStrike" dirty="0">
                          <a:solidFill>
                            <a:srgbClr val="000000"/>
                          </a:solidFill>
                          <a:effectLst/>
                          <a:latin typeface="Barlow" panose="00000500000000000000" pitchFamily="2" charset="0"/>
                        </a:rPr>
                        <a:t>3M India</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10.5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3.5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No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28.0%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3.6x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p:cNvSpPr txBox="1"/>
          <p:nvPr/>
        </p:nvSpPr>
        <p:spPr>
          <a:xfrm>
            <a:off x="228600" y="666750"/>
            <a:ext cx="5105400" cy="1015663"/>
          </a:xfrm>
          <a:prstGeom prst="rect">
            <a:avLst/>
          </a:prstGeom>
          <a:noFill/>
        </p:spPr>
        <p:txBody>
          <a:bodyPr wrap="square">
            <a:spAutoFit/>
          </a:bodyPr>
          <a:lstStyle/>
          <a:p>
            <a:r>
              <a:rPr lang="en-US" sz="1200" dirty="0">
                <a:solidFill>
                  <a:srgbClr val="000000"/>
                </a:solidFill>
                <a:latin typeface="Barlow" panose="00000500000000000000" pitchFamily="2" charset="0"/>
              </a:rPr>
              <a:t>MTF % = NSE VAR + Extreme Loss Margin (ELM) * Multiplier</a:t>
            </a:r>
          </a:p>
          <a:p>
            <a:endParaRPr lang="en-US" sz="1200" i="0" u="none" strike="noStrike" dirty="0">
              <a:solidFill>
                <a:srgbClr val="000000"/>
              </a:solidFill>
              <a:effectLst/>
              <a:latin typeface="Barlow" panose="00000500000000000000" pitchFamily="2" charset="0"/>
            </a:endParaRPr>
          </a:p>
          <a:p>
            <a:r>
              <a:rPr lang="en-US" sz="1200" i="0" u="none" strike="noStrike" dirty="0">
                <a:solidFill>
                  <a:srgbClr val="000000"/>
                </a:solidFill>
                <a:effectLst/>
                <a:latin typeface="Barlow" panose="00000500000000000000" pitchFamily="2" charset="0"/>
              </a:rPr>
              <a:t>Multiplier is a function of whether stock is in F&amp;O or not</a:t>
            </a:r>
          </a:p>
          <a:p>
            <a:r>
              <a:rPr lang="en-US" sz="1200" dirty="0">
                <a:solidFill>
                  <a:srgbClr val="000000"/>
                </a:solidFill>
                <a:latin typeface="Barlow" panose="00000500000000000000" pitchFamily="2" charset="0"/>
              </a:rPr>
              <a:t>Multiplier for F&amp;O stock is 3 times</a:t>
            </a:r>
          </a:p>
          <a:p>
            <a:r>
              <a:rPr lang="en-US" sz="1200" dirty="0">
                <a:solidFill>
                  <a:srgbClr val="000000"/>
                </a:solidFill>
                <a:latin typeface="Barlow" panose="00000500000000000000" pitchFamily="2" charset="0"/>
              </a:rPr>
              <a:t>Multiplier for Non-F&amp;O stock is 5 times</a:t>
            </a:r>
          </a:p>
        </p:txBody>
      </p:sp>
      <p:sp>
        <p:nvSpPr>
          <p:cNvPr id="4" name="TextBox 3"/>
          <p:cNvSpPr txBox="1"/>
          <p:nvPr/>
        </p:nvSpPr>
        <p:spPr>
          <a:xfrm>
            <a:off x="228599" y="2627337"/>
            <a:ext cx="7467600" cy="2308324"/>
          </a:xfrm>
          <a:prstGeom prst="rect">
            <a:avLst/>
          </a:prstGeom>
          <a:noFill/>
        </p:spPr>
        <p:txBody>
          <a:bodyPr wrap="square">
            <a:spAutoFit/>
          </a:bodyPr>
          <a:lstStyle/>
          <a:p>
            <a:r>
              <a:rPr lang="en-US" sz="1200" b="1" dirty="0">
                <a:solidFill>
                  <a:srgbClr val="000000"/>
                </a:solidFill>
                <a:latin typeface="Barlow" panose="00000500000000000000" pitchFamily="2" charset="0"/>
              </a:rPr>
              <a:t>Some key points:</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The above methodology is prescribed by the exchange and all brokers have to compulsory comply with it.</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 No broker can provide more leverage than exchange mandated but they are free to provide less leverage as per their internal risk classification. </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Currently, Angel One follows above MTF% for “</a:t>
            </a:r>
            <a:r>
              <a:rPr lang="en-US" sz="1200" dirty="0" err="1">
                <a:solidFill>
                  <a:srgbClr val="000000"/>
                </a:solidFill>
                <a:latin typeface="Barlow" panose="00000500000000000000" pitchFamily="2" charset="0"/>
              </a:rPr>
              <a:t>Bluechip</a:t>
            </a:r>
            <a:r>
              <a:rPr lang="en-US" sz="1200" dirty="0">
                <a:solidFill>
                  <a:srgbClr val="000000"/>
                </a:solidFill>
                <a:latin typeface="Barlow" panose="00000500000000000000" pitchFamily="2" charset="0"/>
              </a:rPr>
              <a:t>” and “Good” rated stocks and hence gives maximum possible leverage on “</a:t>
            </a:r>
            <a:r>
              <a:rPr lang="en-US" sz="1200" dirty="0" err="1">
                <a:solidFill>
                  <a:srgbClr val="000000"/>
                </a:solidFill>
                <a:latin typeface="Barlow" panose="00000500000000000000" pitchFamily="2" charset="0"/>
              </a:rPr>
              <a:t>Bluechip</a:t>
            </a:r>
            <a:r>
              <a:rPr lang="en-US" sz="1200" dirty="0">
                <a:solidFill>
                  <a:srgbClr val="000000"/>
                </a:solidFill>
                <a:latin typeface="Barlow" panose="00000500000000000000" pitchFamily="2" charset="0"/>
              </a:rPr>
              <a:t>” and “Good” rated stocks. </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In the case of “Average” rated stocks, Angel One applies certain discretion where almost 78% of the “Average” rated stocks have been kept at MTF of 40%</a:t>
            </a:r>
          </a:p>
        </p:txBody>
      </p:sp>
      <p:sp>
        <p:nvSpPr>
          <p:cNvPr id="8"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9"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Input Files for Code</a:t>
            </a:r>
            <a:endParaRPr lang="en-IN" dirty="0"/>
          </a:p>
        </p:txBody>
      </p:sp>
      <p:graphicFrame>
        <p:nvGraphicFramePr>
          <p:cNvPr id="8" name="Table 7"/>
          <p:cNvGraphicFramePr>
            <a:graphicFrameLocks noGrp="1"/>
          </p:cNvGraphicFramePr>
          <p:nvPr/>
        </p:nvGraphicFramePr>
        <p:xfrm>
          <a:off x="838199" y="590550"/>
          <a:ext cx="7620001" cy="4450080"/>
        </p:xfrm>
        <a:graphic>
          <a:graphicData uri="http://schemas.openxmlformats.org/drawingml/2006/table">
            <a:tbl>
              <a:tblPr/>
              <a:tblGrid>
                <a:gridCol w="1752600">
                  <a:extLst>
                    <a:ext uri="{9D8B030D-6E8A-4147-A177-3AD203B41FA5}">
                      <a16:colId xmlns:a16="http://schemas.microsoft.com/office/drawing/2014/main" val="20000"/>
                    </a:ext>
                  </a:extLst>
                </a:gridCol>
                <a:gridCol w="2951367">
                  <a:extLst>
                    <a:ext uri="{9D8B030D-6E8A-4147-A177-3AD203B41FA5}">
                      <a16:colId xmlns:a16="http://schemas.microsoft.com/office/drawing/2014/main" val="20001"/>
                    </a:ext>
                  </a:extLst>
                </a:gridCol>
                <a:gridCol w="1458017">
                  <a:extLst>
                    <a:ext uri="{9D8B030D-6E8A-4147-A177-3AD203B41FA5}">
                      <a16:colId xmlns:a16="http://schemas.microsoft.com/office/drawing/2014/main" val="20002"/>
                    </a:ext>
                  </a:extLst>
                </a:gridCol>
                <a:gridCol w="1458017">
                  <a:extLst>
                    <a:ext uri="{9D8B030D-6E8A-4147-A177-3AD203B41FA5}">
                      <a16:colId xmlns:a16="http://schemas.microsoft.com/office/drawing/2014/main" val="20003"/>
                    </a:ext>
                  </a:extLst>
                </a:gridCol>
              </a:tblGrid>
              <a:tr h="266700">
                <a:tc>
                  <a:txBody>
                    <a:bodyPr/>
                    <a:lstStyle/>
                    <a:p>
                      <a:pPr algn="ctr" fontAlgn="b"/>
                      <a:r>
                        <a:rPr lang="en-US" sz="1100" b="1" i="0" u="none" strike="noStrike" dirty="0">
                          <a:solidFill>
                            <a:srgbClr val="000000"/>
                          </a:solidFill>
                          <a:effectLst/>
                          <a:latin typeface="Barlow" panose="00000500000000000000" pitchFamily="2" charset="0"/>
                        </a:rPr>
                        <a:t>Files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Source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Data Points Sourced</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Comments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66700">
                <a:tc>
                  <a:txBody>
                    <a:bodyPr/>
                    <a:lstStyle/>
                    <a:p>
                      <a:pPr algn="ctr" fontAlgn="b"/>
                      <a:r>
                        <a:rPr lang="en-US" sz="1100" b="0" i="0" u="none" strike="noStrike" dirty="0">
                          <a:solidFill>
                            <a:srgbClr val="000000"/>
                          </a:solidFill>
                          <a:effectLst/>
                          <a:latin typeface="Barlow" panose="00000500000000000000" pitchFamily="2" charset="0"/>
                        </a:rPr>
                        <a:t>RR_BSE &amp; NSE Group, NSE500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NSE/BSE Series and NSE500 stocks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66700">
                <a:tc>
                  <a:txBody>
                    <a:bodyPr/>
                    <a:lstStyle/>
                    <a:p>
                      <a:pPr algn="ctr" fontAlgn="b"/>
                      <a:r>
                        <a:rPr lang="en-US" sz="1100" b="0" i="0" u="none" strike="noStrike" dirty="0">
                          <a:solidFill>
                            <a:srgbClr val="000000"/>
                          </a:solidFill>
                          <a:effectLst/>
                          <a:latin typeface="Barlow" panose="00000500000000000000" pitchFamily="2" charset="0"/>
                        </a:rPr>
                        <a:t>RR_BSE Latest Traded Date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Last traded date of each stock</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66700">
                <a:tc>
                  <a:txBody>
                    <a:bodyPr/>
                    <a:lstStyle/>
                    <a:p>
                      <a:pPr algn="ctr" fontAlgn="b"/>
                      <a:r>
                        <a:rPr lang="en-US" sz="1100" b="0" i="0" u="none" strike="noStrike" dirty="0">
                          <a:solidFill>
                            <a:srgbClr val="000000"/>
                          </a:solidFill>
                          <a:effectLst/>
                          <a:latin typeface="Barlow" panose="00000500000000000000" pitchFamily="2" charset="0"/>
                        </a:rPr>
                        <a:t>RR_NSE Latest Traded Date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Last traded date of each stock</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RR_Financial</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All financial parameters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Conso Priority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RR_FnO</a:t>
                      </a:r>
                      <a:r>
                        <a:rPr lang="en-US" sz="1100" b="0" i="0" u="none" strike="noStrike" dirty="0">
                          <a:solidFill>
                            <a:srgbClr val="000000"/>
                          </a:solidFill>
                          <a:effectLst/>
                          <a:latin typeface="Barlow" panose="00000500000000000000" pitchFamily="2" charset="0"/>
                        </a:rPr>
                        <a:t> companies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List of </a:t>
                      </a:r>
                      <a:r>
                        <a:rPr lang="en-US" sz="1100" b="0" i="0" u="none" strike="noStrike" dirty="0" err="1">
                          <a:solidFill>
                            <a:srgbClr val="000000"/>
                          </a:solidFill>
                          <a:effectLst/>
                          <a:latin typeface="Barlow" panose="00000500000000000000" pitchFamily="2" charset="0"/>
                        </a:rPr>
                        <a:t>FnO</a:t>
                      </a:r>
                      <a:r>
                        <a:rPr lang="en-US" sz="1100" b="0" i="0" u="none" strike="noStrike" dirty="0">
                          <a:solidFill>
                            <a:srgbClr val="000000"/>
                          </a:solidFill>
                          <a:effectLst/>
                          <a:latin typeface="Barlow" panose="00000500000000000000" pitchFamily="2" charset="0"/>
                        </a:rPr>
                        <a:t> companies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RR_Impact</a:t>
                      </a:r>
                      <a:r>
                        <a:rPr lang="en-US" sz="1100" b="0" i="0" u="none" strike="noStrike" dirty="0">
                          <a:solidFill>
                            <a:srgbClr val="000000"/>
                          </a:solidFill>
                          <a:effectLst/>
                          <a:latin typeface="Barlow" panose="00000500000000000000" pitchFamily="2" charset="0"/>
                        </a:rPr>
                        <a:t> Cost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NSE &amp; BSE Impact cost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RR_Mcap</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Mcap of NSE &amp; BSE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RR_Promoter</a:t>
                      </a:r>
                      <a:r>
                        <a:rPr lang="en-US" sz="1100" b="0" i="0" u="none" strike="noStrike" dirty="0">
                          <a:solidFill>
                            <a:srgbClr val="000000"/>
                          </a:solidFill>
                          <a:effectLst/>
                          <a:latin typeface="Barlow" panose="00000500000000000000" pitchFamily="2" charset="0"/>
                        </a:rPr>
                        <a:t> Pledge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Cline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Promoter Pledge % latest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66700">
                <a:tc>
                  <a:txBody>
                    <a:bodyPr/>
                    <a:lstStyle/>
                    <a:p>
                      <a:pPr algn="ctr" fontAlgn="b"/>
                      <a:r>
                        <a:rPr lang="en-US" sz="1100" b="0" i="0" u="none" strike="noStrike" dirty="0">
                          <a:solidFill>
                            <a:srgbClr val="000000"/>
                          </a:solidFill>
                          <a:effectLst/>
                          <a:latin typeface="Barlow" panose="00000500000000000000" pitchFamily="2" charset="0"/>
                        </a:rPr>
                        <a:t>Risk Rating Categorization</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Vishal </a:t>
                      </a:r>
                      <a:r>
                        <a:rPr lang="en-US" sz="1100" b="0" i="0" u="none" strike="noStrike" dirty="0" err="1">
                          <a:solidFill>
                            <a:srgbClr val="000000"/>
                          </a:solidFill>
                          <a:effectLst/>
                          <a:latin typeface="Barlow" panose="00000500000000000000" pitchFamily="2" charset="0"/>
                        </a:rPr>
                        <a:t>Kanani</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Angel Category, MTF, NSE &amp; BSE VAR</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66700">
                <a:tc>
                  <a:txBody>
                    <a:bodyPr/>
                    <a:lstStyle/>
                    <a:p>
                      <a:pPr algn="ctr" fontAlgn="b"/>
                      <a:r>
                        <a:rPr lang="en-US" sz="1100" b="0" i="0" u="none" strike="noStrike" dirty="0">
                          <a:solidFill>
                            <a:srgbClr val="000000"/>
                          </a:solidFill>
                          <a:effectLst/>
                          <a:latin typeface="Barlow" panose="00000500000000000000" pitchFamily="2" charset="0"/>
                        </a:rPr>
                        <a:t>ADTO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Master folder\Fundamental Work\Risk rating\Volume Turnover data</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Monthly Volumes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Maintained by Suraj</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66700">
                <a:tc>
                  <a:txBody>
                    <a:bodyPr/>
                    <a:lstStyle/>
                    <a:p>
                      <a:pPr algn="ctr" fontAlgn="b"/>
                      <a:r>
                        <a:rPr lang="en-US" sz="1100" b="0" i="0" u="none" strike="noStrike" dirty="0">
                          <a:solidFill>
                            <a:srgbClr val="000000"/>
                          </a:solidFill>
                          <a:effectLst/>
                          <a:latin typeface="Barlow" panose="00000500000000000000" pitchFamily="2" charset="0"/>
                        </a:rPr>
                        <a:t>Manual Reviewed Stocks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List of manually reviewed stocks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Need to be reviewed every month by research team</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66700">
                <a:tc>
                  <a:txBody>
                    <a:bodyPr/>
                    <a:lstStyle/>
                    <a:p>
                      <a:pPr algn="ctr" fontAlgn="b"/>
                      <a:r>
                        <a:rPr lang="en-US" sz="1100" b="0" i="0" u="none" strike="noStrike" dirty="0">
                          <a:solidFill>
                            <a:srgbClr val="000000"/>
                          </a:solidFill>
                          <a:effectLst/>
                          <a:latin typeface="Barlow" panose="00000500000000000000" pitchFamily="2" charset="0"/>
                        </a:rPr>
                        <a:t>NSE &amp; BSE ASM</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hlinkClick r:id="rId3"/>
                        </a:rPr>
                        <a:t>BSE</a:t>
                      </a:r>
                      <a:r>
                        <a:rPr lang="en-US" sz="1100" b="0" i="0" u="none" strike="noStrike" dirty="0">
                          <a:solidFill>
                            <a:srgbClr val="000000"/>
                          </a:solidFill>
                          <a:effectLst/>
                          <a:latin typeface="Barlow" panose="00000500000000000000" pitchFamily="2" charset="0"/>
                        </a:rPr>
                        <a:t> | </a:t>
                      </a:r>
                      <a:r>
                        <a:rPr lang="en-US" sz="1100" b="0" i="0" u="none" strike="noStrike" dirty="0">
                          <a:solidFill>
                            <a:srgbClr val="000000"/>
                          </a:solidFill>
                          <a:effectLst/>
                          <a:latin typeface="Barlow" panose="00000500000000000000" pitchFamily="2" charset="0"/>
                          <a:hlinkClick r:id="rId4"/>
                        </a:rPr>
                        <a:t>NSE</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List of ASM Stocks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66700">
                <a:tc>
                  <a:txBody>
                    <a:bodyPr/>
                    <a:lstStyle/>
                    <a:p>
                      <a:pPr algn="ctr" fontAlgn="b"/>
                      <a:r>
                        <a:rPr lang="en-US" sz="1100" b="0" i="0" u="none" strike="noStrike" dirty="0" err="1">
                          <a:solidFill>
                            <a:srgbClr val="000000"/>
                          </a:solidFill>
                          <a:effectLst/>
                          <a:latin typeface="Barlow" panose="00000500000000000000" pitchFamily="2" charset="0"/>
                        </a:rPr>
                        <a:t>Risk_Rating_XX</a:t>
                      </a:r>
                      <a:r>
                        <a:rPr lang="en-US" sz="1100" b="0" i="0" u="none" strike="noStrike" dirty="0">
                          <a:solidFill>
                            <a:srgbClr val="000000"/>
                          </a:solidFill>
                          <a:effectLst/>
                          <a:latin typeface="Barlow" panose="00000500000000000000" pitchFamily="2" charset="0"/>
                        </a:rPr>
                        <a:t>-YYY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Previous month Risk Rating Output</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3"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4"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Output File Sheets</a:t>
            </a:r>
            <a:endParaRPr lang="en-IN" dirty="0"/>
          </a:p>
        </p:txBody>
      </p:sp>
      <p:graphicFrame>
        <p:nvGraphicFramePr>
          <p:cNvPr id="8" name="Table 7"/>
          <p:cNvGraphicFramePr>
            <a:graphicFrameLocks noGrp="1"/>
          </p:cNvGraphicFramePr>
          <p:nvPr/>
        </p:nvGraphicFramePr>
        <p:xfrm>
          <a:off x="342900" y="733362"/>
          <a:ext cx="8458200" cy="4009587"/>
        </p:xfrm>
        <a:graphic>
          <a:graphicData uri="http://schemas.openxmlformats.org/drawingml/2006/table">
            <a:tbl>
              <a:tblPr/>
              <a:tblGrid>
                <a:gridCol w="685799">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6172201">
                  <a:extLst>
                    <a:ext uri="{9D8B030D-6E8A-4147-A177-3AD203B41FA5}">
                      <a16:colId xmlns:a16="http://schemas.microsoft.com/office/drawing/2014/main" val="20002"/>
                    </a:ext>
                  </a:extLst>
                </a:gridCol>
              </a:tblGrid>
              <a:tr h="282639">
                <a:tc>
                  <a:txBody>
                    <a:bodyPr/>
                    <a:lstStyle/>
                    <a:p>
                      <a:pPr algn="ctr" fontAlgn="b"/>
                      <a:r>
                        <a:rPr lang="en-US" sz="1100" b="1" i="0" u="none" strike="noStrike" dirty="0">
                          <a:solidFill>
                            <a:srgbClr val="000000"/>
                          </a:solidFill>
                          <a:effectLst/>
                          <a:latin typeface="Barlow" panose="00000500000000000000" pitchFamily="2" charset="0"/>
                        </a:rPr>
                        <a:t>Sr. No.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Files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tc>
                  <a:txBody>
                    <a:bodyPr/>
                    <a:lstStyle/>
                    <a:p>
                      <a:pPr algn="ctr" fontAlgn="b"/>
                      <a:r>
                        <a:rPr lang="en-US" sz="1100" b="1" i="0" u="none" strike="noStrike" dirty="0">
                          <a:solidFill>
                            <a:srgbClr val="000000"/>
                          </a:solidFill>
                          <a:effectLst/>
                          <a:latin typeface="Barlow" panose="00000500000000000000" pitchFamily="2" charset="0"/>
                        </a:rPr>
                        <a:t>Details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ED7D31"/>
                    </a:solidFill>
                  </a:tcPr>
                </a:tc>
                <a:extLst>
                  <a:ext uri="{0D108BD9-81ED-4DB2-BD59-A6C34878D82A}">
                    <a16:rowId xmlns:a16="http://schemas.microsoft.com/office/drawing/2014/main" val="10000"/>
                  </a:ext>
                </a:extLst>
              </a:tr>
              <a:tr h="282639">
                <a:tc>
                  <a:txBody>
                    <a:bodyPr/>
                    <a:lstStyle/>
                    <a:p>
                      <a:pPr algn="ctr" fontAlgn="b"/>
                      <a:r>
                        <a:rPr lang="en-US" sz="1100" b="0" i="0" u="none" strike="noStrike" dirty="0">
                          <a:solidFill>
                            <a:srgbClr val="000000"/>
                          </a:solidFill>
                          <a:effectLst/>
                          <a:latin typeface="Barlow" panose="00000500000000000000" pitchFamily="2" charset="0"/>
                        </a:rPr>
                        <a:t>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Risk </a:t>
                      </a:r>
                      <a:r>
                        <a:rPr lang="en-US" sz="1100" b="0" i="0" u="none" strike="noStrike" dirty="0" err="1">
                          <a:solidFill>
                            <a:srgbClr val="000000"/>
                          </a:solidFill>
                          <a:effectLst/>
                          <a:latin typeface="Barlow" panose="00000500000000000000" pitchFamily="2" charset="0"/>
                        </a:rPr>
                        <a:t>Rating_F&amp;O</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Ratings of </a:t>
                      </a:r>
                      <a:r>
                        <a:rPr lang="en-US" sz="1100" b="0" i="0" u="none" strike="noStrike" dirty="0" err="1">
                          <a:solidFill>
                            <a:srgbClr val="000000"/>
                          </a:solidFill>
                          <a:effectLst/>
                          <a:latin typeface="Barlow" panose="00000500000000000000" pitchFamily="2" charset="0"/>
                        </a:rPr>
                        <a:t>Fno</a:t>
                      </a:r>
                      <a:r>
                        <a:rPr lang="en-US" sz="1100" b="0" i="0" u="none" strike="noStrike" dirty="0">
                          <a:solidFill>
                            <a:srgbClr val="000000"/>
                          </a:solidFill>
                          <a:effectLst/>
                          <a:latin typeface="Barlow" panose="00000500000000000000" pitchFamily="2" charset="0"/>
                        </a:rPr>
                        <a:t> Companies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2639">
                <a:tc>
                  <a:txBody>
                    <a:bodyPr/>
                    <a:lstStyle/>
                    <a:p>
                      <a:pPr algn="ctr" fontAlgn="b"/>
                      <a:r>
                        <a:rPr lang="en-US" sz="1100" b="0" i="0" u="none" strike="noStrike" dirty="0">
                          <a:solidFill>
                            <a:srgbClr val="000000"/>
                          </a:solidFill>
                          <a:effectLst/>
                          <a:latin typeface="Barlow" panose="00000500000000000000" pitchFamily="2" charset="0"/>
                        </a:rPr>
                        <a:t>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Risk </a:t>
                      </a:r>
                      <a:r>
                        <a:rPr lang="en-US" sz="1100" b="0" i="0" u="none" strike="noStrike" dirty="0" err="1">
                          <a:solidFill>
                            <a:srgbClr val="000000"/>
                          </a:solidFill>
                          <a:effectLst/>
                          <a:latin typeface="Barlow" panose="00000500000000000000" pitchFamily="2" charset="0"/>
                        </a:rPr>
                        <a:t>Rating_Non</a:t>
                      </a:r>
                      <a:r>
                        <a:rPr lang="en-US" sz="1100" b="0" i="0" u="none" strike="noStrike" dirty="0">
                          <a:solidFill>
                            <a:srgbClr val="000000"/>
                          </a:solidFill>
                          <a:effectLst/>
                          <a:latin typeface="Barlow" panose="00000500000000000000" pitchFamily="2" charset="0"/>
                        </a:rPr>
                        <a:t> F&amp;O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Ratings of Non </a:t>
                      </a:r>
                      <a:r>
                        <a:rPr lang="en-US" sz="1100" b="0" i="0" u="none" strike="noStrike" dirty="0" err="1">
                          <a:solidFill>
                            <a:srgbClr val="000000"/>
                          </a:solidFill>
                          <a:effectLst/>
                          <a:latin typeface="Barlow" panose="00000500000000000000" pitchFamily="2" charset="0"/>
                        </a:rPr>
                        <a:t>Fno</a:t>
                      </a:r>
                      <a:r>
                        <a:rPr lang="en-US" sz="1100" b="0" i="0" u="none" strike="noStrike" dirty="0">
                          <a:solidFill>
                            <a:srgbClr val="000000"/>
                          </a:solidFill>
                          <a:effectLst/>
                          <a:latin typeface="Barlow" panose="00000500000000000000" pitchFamily="2" charset="0"/>
                        </a:rPr>
                        <a:t> Companies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82639">
                <a:tc>
                  <a:txBody>
                    <a:bodyPr/>
                    <a:lstStyle/>
                    <a:p>
                      <a:pPr algn="ctr" fontAlgn="b"/>
                      <a:r>
                        <a:rPr lang="en-US" sz="1100" b="0" i="0" u="none" strike="noStrike" dirty="0">
                          <a:solidFill>
                            <a:srgbClr val="000000"/>
                          </a:solidFill>
                          <a:effectLst/>
                          <a:latin typeface="Barlow" panose="00000500000000000000" pitchFamily="2" charset="0"/>
                        </a:rPr>
                        <a:t>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PET_CHECK</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PET computation and its supporting data</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82639">
                <a:tc>
                  <a:txBody>
                    <a:bodyPr/>
                    <a:lstStyle/>
                    <a:p>
                      <a:pPr algn="ctr" fontAlgn="b"/>
                      <a:r>
                        <a:rPr lang="en-US" sz="1100" b="0" i="0" u="none" strike="noStrike" dirty="0">
                          <a:solidFill>
                            <a:srgbClr val="000000"/>
                          </a:solidFill>
                          <a:effectLst/>
                          <a:latin typeface="Barlow" panose="00000500000000000000" pitchFamily="2" charset="0"/>
                        </a:rPr>
                        <a:t>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F_SCORE</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F Score computation and its supporting data</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82639">
                <a:tc>
                  <a:txBody>
                    <a:bodyPr/>
                    <a:lstStyle/>
                    <a:p>
                      <a:pPr algn="ctr" fontAlgn="b"/>
                      <a:r>
                        <a:rPr lang="en-US" sz="1100" b="0" i="0" u="none" strike="noStrike" dirty="0">
                          <a:solidFill>
                            <a:srgbClr val="000000"/>
                          </a:solidFill>
                          <a:effectLst/>
                          <a:latin typeface="Barlow" panose="00000500000000000000" pitchFamily="2" charset="0"/>
                        </a:rPr>
                        <a:t>5</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Data_Points_Curr</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All raw data points used for risk rating. This is master tab. You will find all raw data here. </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82639">
                <a:tc>
                  <a:txBody>
                    <a:bodyPr/>
                    <a:lstStyle/>
                    <a:p>
                      <a:pPr algn="ctr" fontAlgn="b"/>
                      <a:r>
                        <a:rPr lang="en-US" sz="1100" b="0" i="0" u="none" strike="noStrike" dirty="0">
                          <a:solidFill>
                            <a:srgbClr val="000000"/>
                          </a:solidFill>
                          <a:effectLst/>
                          <a:latin typeface="Barlow" panose="00000500000000000000" pitchFamily="2" charset="0"/>
                        </a:rPr>
                        <a:t>6</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ADTO_Data</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6 Months ADTO for all stocks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82639">
                <a:tc>
                  <a:txBody>
                    <a:bodyPr/>
                    <a:lstStyle/>
                    <a:p>
                      <a:pPr algn="ctr" fontAlgn="b"/>
                      <a:r>
                        <a:rPr lang="en-US" sz="1100" b="0" i="0" u="none" strike="noStrike" dirty="0">
                          <a:solidFill>
                            <a:srgbClr val="000000"/>
                          </a:solidFill>
                          <a:effectLst/>
                          <a:latin typeface="Barlow" panose="00000500000000000000" pitchFamily="2" charset="0"/>
                        </a:rPr>
                        <a:t>7</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Curr_Prev_Rating</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FnO</a:t>
                      </a:r>
                      <a:r>
                        <a:rPr lang="en-US" sz="1100" b="0" i="0" u="none" strike="noStrike" dirty="0">
                          <a:solidFill>
                            <a:srgbClr val="000000"/>
                          </a:solidFill>
                          <a:effectLst/>
                          <a:latin typeface="Barlow" panose="00000500000000000000" pitchFamily="2" charset="0"/>
                        </a:rPr>
                        <a:t> + Non </a:t>
                      </a:r>
                      <a:r>
                        <a:rPr lang="en-US" sz="1100" b="0" i="0" u="none" strike="noStrike" dirty="0" err="1">
                          <a:solidFill>
                            <a:srgbClr val="000000"/>
                          </a:solidFill>
                          <a:effectLst/>
                          <a:latin typeface="Barlow" panose="00000500000000000000" pitchFamily="2" charset="0"/>
                        </a:rPr>
                        <a:t>FnO</a:t>
                      </a:r>
                      <a:r>
                        <a:rPr lang="en-US" sz="1100" b="0" i="0" u="none" strike="noStrike" dirty="0">
                          <a:solidFill>
                            <a:srgbClr val="000000"/>
                          </a:solidFill>
                          <a:effectLst/>
                          <a:latin typeface="Barlow" panose="00000500000000000000" pitchFamily="2" charset="0"/>
                        </a:rPr>
                        <a:t> stocks ratings summarized here for New (Latest), New (Previous Month), Old, Current Live </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82639">
                <a:tc>
                  <a:txBody>
                    <a:bodyPr/>
                    <a:lstStyle/>
                    <a:p>
                      <a:pPr algn="ctr" fontAlgn="b"/>
                      <a:r>
                        <a:rPr lang="en-US" sz="1100" b="0" i="0" u="none" strike="noStrike" dirty="0">
                          <a:solidFill>
                            <a:srgbClr val="000000"/>
                          </a:solidFill>
                          <a:effectLst/>
                          <a:latin typeface="Barlow" panose="00000500000000000000" pitchFamily="2" charset="0"/>
                        </a:rPr>
                        <a:t>8</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New_Curr_Rating</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Companies which have been rated for the first time by Model</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82639">
                <a:tc>
                  <a:txBody>
                    <a:bodyPr/>
                    <a:lstStyle/>
                    <a:p>
                      <a:pPr algn="ctr" fontAlgn="b"/>
                      <a:r>
                        <a:rPr lang="en-US" sz="1100" b="0" i="0" u="none" strike="noStrike" dirty="0">
                          <a:solidFill>
                            <a:srgbClr val="000000"/>
                          </a:solidFill>
                          <a:effectLst/>
                          <a:latin typeface="Barlow" panose="00000500000000000000" pitchFamily="2" charset="0"/>
                        </a:rPr>
                        <a:t>9</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Rating_Upgrade</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All rating upgrades compared to previous month with reasons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82639">
                <a:tc>
                  <a:txBody>
                    <a:bodyPr/>
                    <a:lstStyle/>
                    <a:p>
                      <a:pPr algn="ctr" fontAlgn="b"/>
                      <a:r>
                        <a:rPr lang="en-US" sz="1100" b="0" i="0" u="none" strike="noStrike" dirty="0">
                          <a:solidFill>
                            <a:srgbClr val="000000"/>
                          </a:solidFill>
                          <a:effectLst/>
                          <a:latin typeface="Barlow" panose="00000500000000000000" pitchFamily="2" charset="0"/>
                        </a:rPr>
                        <a:t>10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Rating_Downgrade</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All rating downgrade compared to previous month with reasons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82639">
                <a:tc>
                  <a:txBody>
                    <a:bodyPr/>
                    <a:lstStyle/>
                    <a:p>
                      <a:pPr algn="ctr" fontAlgn="b"/>
                      <a:r>
                        <a:rPr lang="en-US" sz="1100" b="0" i="0" u="none" strike="noStrike" dirty="0">
                          <a:solidFill>
                            <a:srgbClr val="000000"/>
                          </a:solidFill>
                          <a:effectLst/>
                          <a:latin typeface="Barlow" panose="00000500000000000000" pitchFamily="2" charset="0"/>
                        </a:rPr>
                        <a:t>11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Restriction_added</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New stocks added to restriction list with reasons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82639">
                <a:tc>
                  <a:txBody>
                    <a:bodyPr/>
                    <a:lstStyle/>
                    <a:p>
                      <a:pPr algn="ctr" fontAlgn="b"/>
                      <a:r>
                        <a:rPr lang="en-US" sz="1100" b="0" i="0" u="none" strike="noStrike" dirty="0">
                          <a:solidFill>
                            <a:srgbClr val="000000"/>
                          </a:solidFill>
                          <a:effectLst/>
                          <a:latin typeface="Barlow" panose="00000500000000000000" pitchFamily="2" charset="0"/>
                        </a:rPr>
                        <a:t>12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Restriction_removed</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Stocks removed from restriction list with reasons</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82639">
                <a:tc>
                  <a:txBody>
                    <a:bodyPr/>
                    <a:lstStyle/>
                    <a:p>
                      <a:pPr algn="ctr" fontAlgn="b"/>
                      <a:r>
                        <a:rPr lang="en-US" sz="1100" b="0" i="0" u="none" strike="noStrike" dirty="0">
                          <a:solidFill>
                            <a:srgbClr val="000000"/>
                          </a:solidFill>
                          <a:effectLst/>
                          <a:latin typeface="Barlow" panose="00000500000000000000" pitchFamily="2" charset="0"/>
                        </a:rPr>
                        <a:t>13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err="1">
                          <a:solidFill>
                            <a:srgbClr val="000000"/>
                          </a:solidFill>
                          <a:effectLst/>
                          <a:latin typeface="Barlow" panose="00000500000000000000" pitchFamily="2" charset="0"/>
                        </a:rPr>
                        <a:t>Manual_Rating</a:t>
                      </a:r>
                      <a:endParaRPr lang="en-US" sz="1100" b="0" i="0" u="none" strike="noStrike" dirty="0">
                        <a:solidFill>
                          <a:srgbClr val="000000"/>
                        </a:solidFill>
                        <a:effectLst/>
                        <a:latin typeface="Barlow" panose="00000500000000000000" pitchFamily="2"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Barlow" panose="00000500000000000000" pitchFamily="2" charset="0"/>
                        </a:rPr>
                        <a:t>List of stocks manually rated with reasons (Need to be reviewed every month)</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4"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164"/>
            <a:ext cx="6356578" cy="468935"/>
          </a:xfrm>
        </p:spPr>
        <p:txBody>
          <a:bodyPr>
            <a:normAutofit/>
          </a:bodyPr>
          <a:lstStyle/>
          <a:p>
            <a:r>
              <a:rPr lang="en-US" dirty="0"/>
              <a:t>Process by analyst</a:t>
            </a:r>
            <a:endParaRPr lang="en-IN" dirty="0"/>
          </a:p>
        </p:txBody>
      </p:sp>
      <p:sp>
        <p:nvSpPr>
          <p:cNvPr id="6" name="TextBox 5"/>
          <p:cNvSpPr txBox="1"/>
          <p:nvPr/>
        </p:nvSpPr>
        <p:spPr>
          <a:xfrm>
            <a:off x="152400" y="618853"/>
            <a:ext cx="7467600" cy="3046988"/>
          </a:xfrm>
          <a:prstGeom prst="rect">
            <a:avLst/>
          </a:prstGeom>
          <a:noFill/>
        </p:spPr>
        <p:txBody>
          <a:bodyPr wrap="square">
            <a:spAutoFit/>
          </a:bodyPr>
          <a:lstStyle/>
          <a:p>
            <a:r>
              <a:rPr lang="en-US" sz="1200" b="1" dirty="0">
                <a:solidFill>
                  <a:srgbClr val="000000"/>
                </a:solidFill>
                <a:latin typeface="Barlow" panose="00000500000000000000" pitchFamily="2" charset="0"/>
              </a:rPr>
              <a:t>Few Quick Checks:</a:t>
            </a:r>
            <a:endParaRPr lang="en-US" sz="1200" dirty="0">
              <a:solidFill>
                <a:srgbClr val="000000"/>
              </a:solidFill>
              <a:latin typeface="Barlow" panose="00000500000000000000" pitchFamily="2" charset="0"/>
            </a:endParaRPr>
          </a:p>
          <a:p>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For all upgrades/downgrades, check BSE &amp; NSE VAR and ASM before sending them out to the risk team.</a:t>
            </a:r>
          </a:p>
          <a:p>
            <a:pPr marL="171450" indent="-171450">
              <a:buFont typeface="Arial" panose="020B0604020202020204" pitchFamily="34" charset="0"/>
              <a:buChar char="•"/>
            </a:pPr>
            <a:r>
              <a:rPr lang="en-US" sz="1200" dirty="0">
                <a:solidFill>
                  <a:srgbClr val="000000"/>
                </a:solidFill>
                <a:latin typeface="Barlow" panose="00000500000000000000" pitchFamily="2" charset="0"/>
              </a:rPr>
              <a:t>For all upgrades/downgrades, also check if New rules rating and Old rules rating are same or different.</a:t>
            </a:r>
          </a:p>
          <a:p>
            <a:pPr marL="628650" lvl="1" indent="-171450">
              <a:buFont typeface="Arial" panose="020B0604020202020204" pitchFamily="34" charset="0"/>
              <a:buChar char="•"/>
            </a:pPr>
            <a:r>
              <a:rPr lang="en-US" sz="1200" dirty="0">
                <a:solidFill>
                  <a:srgbClr val="000000"/>
                </a:solidFill>
                <a:latin typeface="Barlow" panose="00000500000000000000" pitchFamily="2" charset="0"/>
              </a:rPr>
              <a:t>If New Rules rating has rated stock “average” and Old rules rating has rated stock “Good”, just check if reason for keeping stock “average” in new rules is justified or not. </a:t>
            </a:r>
          </a:p>
          <a:p>
            <a:pPr marL="628650" lvl="1" indent="-171450">
              <a:buFont typeface="Arial" panose="020B0604020202020204" pitchFamily="34" charset="0"/>
              <a:buChar char="•"/>
            </a:pPr>
            <a:r>
              <a:rPr lang="en-US" sz="1200" dirty="0">
                <a:solidFill>
                  <a:srgbClr val="000000"/>
                </a:solidFill>
                <a:latin typeface="Barlow" panose="00000500000000000000" pitchFamily="2" charset="0"/>
              </a:rPr>
              <a:t>In case of visa vera (unlikely) but do a similar check</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a:p>
            <a:r>
              <a:rPr lang="en-US" sz="1200" b="1" dirty="0">
                <a:solidFill>
                  <a:srgbClr val="000000"/>
                </a:solidFill>
                <a:latin typeface="Barlow" panose="00000500000000000000" pitchFamily="2" charset="0"/>
              </a:rPr>
              <a:t>Manual Verification:</a:t>
            </a:r>
          </a:p>
          <a:p>
            <a:endParaRPr lang="en-US" sz="1200" dirty="0">
              <a:solidFill>
                <a:srgbClr val="000000"/>
              </a:solidFill>
              <a:latin typeface="Barlow" panose="00000500000000000000" pitchFamily="2" charset="0"/>
            </a:endParaRPr>
          </a:p>
          <a:p>
            <a:pPr marL="171450" indent="-171450">
              <a:buFont typeface="Arial" panose="020B0604020202020204" pitchFamily="34" charset="0"/>
              <a:buChar char="•"/>
            </a:pPr>
            <a:r>
              <a:rPr lang="en-US" sz="1200" dirty="0">
                <a:solidFill>
                  <a:srgbClr val="000000"/>
                </a:solidFill>
                <a:latin typeface="Barlow" panose="00000500000000000000" pitchFamily="2" charset="0"/>
              </a:rPr>
              <a:t>Open Manual Verification file</a:t>
            </a:r>
          </a:p>
          <a:p>
            <a:pPr marL="171450" indent="-171450">
              <a:buFont typeface="Arial" panose="020B0604020202020204" pitchFamily="34" charset="0"/>
              <a:buChar char="•"/>
            </a:pPr>
            <a:r>
              <a:rPr lang="en-US" sz="1200" dirty="0">
                <a:solidFill>
                  <a:srgbClr val="000000"/>
                </a:solidFill>
                <a:latin typeface="Barlow" panose="00000500000000000000" pitchFamily="2" charset="0"/>
              </a:rPr>
              <a:t>Update data point tab from current risk rating sheet</a:t>
            </a:r>
          </a:p>
          <a:p>
            <a:pPr marL="171450" indent="-171450">
              <a:buFont typeface="Arial" panose="020B0604020202020204" pitchFamily="34" charset="0"/>
              <a:buChar char="•"/>
            </a:pPr>
            <a:r>
              <a:rPr lang="en-US" sz="1200" dirty="0">
                <a:solidFill>
                  <a:srgbClr val="000000"/>
                </a:solidFill>
                <a:latin typeface="Barlow" panose="00000500000000000000" pitchFamily="2" charset="0"/>
              </a:rPr>
              <a:t>Now in Risk </a:t>
            </a:r>
            <a:r>
              <a:rPr lang="en-US" sz="1200" dirty="0" err="1">
                <a:solidFill>
                  <a:srgbClr val="000000"/>
                </a:solidFill>
                <a:latin typeface="Barlow" panose="00000500000000000000" pitchFamily="2" charset="0"/>
              </a:rPr>
              <a:t>Rating_Non</a:t>
            </a:r>
            <a:r>
              <a:rPr lang="en-US" sz="1200" dirty="0">
                <a:solidFill>
                  <a:srgbClr val="000000"/>
                </a:solidFill>
                <a:latin typeface="Barlow" panose="00000500000000000000" pitchFamily="2" charset="0"/>
              </a:rPr>
              <a:t> F&amp;O and Risk </a:t>
            </a:r>
            <a:r>
              <a:rPr lang="en-US" sz="1200" dirty="0" err="1">
                <a:solidFill>
                  <a:srgbClr val="000000"/>
                </a:solidFill>
                <a:latin typeface="Barlow" panose="00000500000000000000" pitchFamily="2" charset="0"/>
              </a:rPr>
              <a:t>Rating_F&amp;O</a:t>
            </a:r>
            <a:r>
              <a:rPr lang="en-US" sz="1200" dirty="0">
                <a:solidFill>
                  <a:srgbClr val="000000"/>
                </a:solidFill>
                <a:latin typeface="Barlow" panose="00000500000000000000" pitchFamily="2" charset="0"/>
              </a:rPr>
              <a:t>, you need to fill orange marked cells (Company Name, PET &amp; F Check) to verify if code run output matches with manual output. </a:t>
            </a:r>
          </a:p>
          <a:p>
            <a:pPr marL="171450" indent="-171450">
              <a:buFont typeface="Arial" panose="020B0604020202020204" pitchFamily="34" charset="0"/>
              <a:buChar char="•"/>
            </a:pPr>
            <a:r>
              <a:rPr lang="en-US" sz="1200" dirty="0">
                <a:solidFill>
                  <a:srgbClr val="000000"/>
                </a:solidFill>
                <a:latin typeface="Barlow" panose="00000500000000000000" pitchFamily="2" charset="0"/>
              </a:rPr>
              <a:t>This is done just for sanity check. You can run couple of iterations to check. </a:t>
            </a:r>
          </a:p>
          <a:p>
            <a:pPr marL="171450" indent="-171450">
              <a:buFont typeface="Arial" panose="020B0604020202020204" pitchFamily="34" charset="0"/>
              <a:buChar char="•"/>
            </a:pPr>
            <a:endParaRPr lang="en-US" sz="1200" dirty="0">
              <a:solidFill>
                <a:srgbClr val="000000"/>
              </a:solidFill>
              <a:latin typeface="Barlow" panose="00000500000000000000" pitchFamily="2" charset="0"/>
            </a:endParaRPr>
          </a:p>
        </p:txBody>
      </p:sp>
      <p:sp>
        <p:nvSpPr>
          <p:cNvPr id="3" name="GVCLASSIFICATIONHEADERLeft0"/>
          <p:cNvSpPr txBox="1"/>
          <p:nvPr/>
        </p:nvSpPr>
        <p:spPr>
          <a:xfrm>
            <a:off x="0" y="0"/>
            <a:ext cx="9144000" cy="369332"/>
          </a:xfrm>
          <a:prstGeom prst="rect">
            <a:avLst/>
          </a:prstGeom>
          <a:noFill/>
        </p:spPr>
        <p:txBody>
          <a:bodyPr vert="horz" wrap="square" rtlCol="0">
            <a:spAutoFit/>
          </a:bodyPr>
          <a:lstStyle/>
          <a:p>
            <a:endParaRPr lang="en-US"/>
          </a:p>
        </p:txBody>
      </p:sp>
      <p:sp>
        <p:nvSpPr>
          <p:cNvPr id="4" name="GVCLASSIFICATIONFOOTERCenter0"/>
          <p:cNvSpPr txBox="1"/>
          <p:nvPr/>
        </p:nvSpPr>
        <p:spPr>
          <a:xfrm>
            <a:off x="0" y="4897279"/>
            <a:ext cx="9144000" cy="246221"/>
          </a:xfrm>
          <a:prstGeom prst="rect">
            <a:avLst/>
          </a:prstGeom>
          <a:noFill/>
        </p:spPr>
        <p:txBody>
          <a:bodyPr vert="horz" wrap="square" rtlCol="0">
            <a:spAutoFit/>
          </a:bodyPr>
          <a:lstStyle/>
          <a:p>
            <a:pPr algn="ctr"/>
            <a:r>
              <a:rPr lang="en-US" sz="1000">
                <a:solidFill>
                  <a:srgbClr val="008004"/>
                </a:solidFill>
                <a:latin typeface="Calibri" panose="020F0502020204030204" pitchFamily="34" charset="0"/>
              </a:rPr>
              <a:t>Classified as Public</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ASSIFICATIONTAGSETID" val="e16409a7-1700-4153-9090-3955bc2f0ae8"/>
  <p:tag name="CLASSIFICATION" val="Public"/>
  <p:tag name="COMPLIANCE" val="GDPR/PII"/>
  <p:tag name="COMPLIANCETAGSETID" val="f14fc1f1-8950-40d5-8a29-45909da947d6"/>
  <p:tag name="FILEID" val="6f3fbd86-ee40-4b83-875d-7aa2aeeb4eb2"/>
  <p:tag name="USERID" val="Parth.Agrawal"/>
  <p:tag name="TAGDATETIME" val="2023-12-06T07:12:58Z"/>
  <p:tag name="GVDATA" val="ew0KICAiZG9jSUQiOiAiNmYzZmJkODYtZWU0MC00YjgzLTg3NWQtN2FhMmFlZWI0ZWIyIiwNCiAgInRhZ3NldF9mMTRmYzFmMV84OTUwXzQwZDVfOGEyOV80NTkwOWRhOTQ3ZDZfZ2Rwci9waWkiOiAiVHJ1ZSIsDQogICJ0YWdzZXRfZjE0ZmMxZjFfODk1MF80MGQ1"/>
  <p:tag name="GVDATA0" val="XzhhMjlfNDU5MDlkYTk0N2Q2X3BjaSI6ICJGYWxzZSIsDQogICJ0YWdzZXRfZTE2NDA5YTdfMTcwMF80MTUzXzkwOTBfMzk1NWJjMmYwYWU4X2NsYXNzaWZpY2F0aW9uIjogIlB1YmxpYyIsDQogICJGb290ZXIiOiAiXHUwMDNDc3BhbiBzdHlsZT1cdTAwMjJjb2xv"/>
  <p:tag name="GVDATA1" val="cjojMDA4MDA0O1x1MDAyMlx1MDAzRVx1MDAzQ3NwYW5cdTAwM0VcdTAwM0NkaXYgc3R5bGU9XHUwMDIydGV4dC1hbGlnbjpjZW50ZXJcdTAwMjJcdTAwM0VDbGFzc2lmaWVkIGFzIFB1YmxpY1x1MDAzQy9kaXZcdTAwM0VcdTAwM0Mvc3Bhblx1MDAzRVx1MDAzQy9z"/>
  <p:tag name="GVDATA2" val="cGFuXHUwMDNFIiwNCiAgIkhlYWRlciI6ICIiDQp9"/>
  <p:tag name="GVDATA3" val="(end)"/>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21793</TotalTime>
  <Words>3150</Words>
  <Application>Microsoft Office PowerPoint</Application>
  <PresentationFormat>On-screen Show (16:9)</PresentationFormat>
  <Paragraphs>712</Paragraphs>
  <Slides>16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Barlow</vt:lpstr>
      <vt:lpstr>Barlow regular</vt:lpstr>
      <vt:lpstr>Calibri</vt:lpstr>
      <vt:lpstr>Calibri Light</vt:lpstr>
      <vt:lpstr>Wingdings</vt:lpstr>
      <vt:lpstr>1_Office Theme</vt:lpstr>
      <vt:lpstr>Risk Ratings Rules</vt:lpstr>
      <vt:lpstr>Proposed vs. Current Rules</vt:lpstr>
      <vt:lpstr>Poor Restricted Rules</vt:lpstr>
      <vt:lpstr>NSE/BSE Classification</vt:lpstr>
      <vt:lpstr>Exception Rule for SIZE and ADTO (Poor  Average)</vt:lpstr>
      <vt:lpstr>Exception Rule for SIZE and ADTO (Average  Good)</vt:lpstr>
      <vt:lpstr>ADTO Wipsaw</vt:lpstr>
      <vt:lpstr>What is PET Check?</vt:lpstr>
      <vt:lpstr>What is F-Score?</vt:lpstr>
      <vt:lpstr>Rationale for new rule addition</vt:lpstr>
      <vt:lpstr>Process documentation</vt:lpstr>
      <vt:lpstr>Rules for IPO Companies</vt:lpstr>
      <vt:lpstr>How is MTF computed?</vt:lpstr>
      <vt:lpstr>Input Files for Code</vt:lpstr>
      <vt:lpstr>Output File Sheets</vt:lpstr>
      <vt:lpstr>Process by analyst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dc:creator>
  <cp:lastModifiedBy>Kaivalya Karkare</cp:lastModifiedBy>
  <cp:revision>1647</cp:revision>
  <cp:lastPrinted>2019-04-09T04:03:00Z</cp:lastPrinted>
  <dcterms:created xsi:type="dcterms:W3CDTF">2018-03-13T09:42:00Z</dcterms:created>
  <dcterms:modified xsi:type="dcterms:W3CDTF">2025-02-13T09:37:51Z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ew0KICAidGFnc2V0X2UxNjQwOWE3XzE3MDBfNDE1M185MDkwXzM5NTViYzJmMGFlOF9jbGFzc2lmaWNhdGlvbiI6ICJQdWJsaWMiLA0KICAiZG9jSUQiOiAiNmYzZmJkODYtZWU0MC00YjgzLTg3NWQtN2FhMmFlZWI0ZWIyIiwNCiAgIk9TIjogIldpbmRvd3MiLA0K</vt:lpwstr>
  </property>
  <property fmtid="{D5CDD505-2E9C-101B-9397-08002B2CF9AE}" pid="3" name="GVData0">
    <vt:lpwstr>ICAiT3B0aW9ucyI6ICJ7XHUwMDIyUG9wdXBDb25maWd1cmF0aW9uXHUwMDIyOntcdTAwMjJBbHdheXNTaG93UG9wdXBcdTAwMjI6ZmFsc2UsXHUwMDIyRW5mb3JjZUhlYWRlckZvb3RlclR5cGVcdTAwMjI6ZmFsc2UsXHUwMDIySGVhZGVyUGxhY2VtZW50VHlwZVx1</vt:lpwstr>
  </property>
  <property fmtid="{D5CDD505-2E9C-101B-9397-08002B2CF9AE}" pid="4" name="ClassificationTagSetId">
    <vt:lpwstr>e16409a7-1700-4153-9090-3955bc2f0ae8</vt:lpwstr>
  </property>
  <property fmtid="{D5CDD505-2E9C-101B-9397-08002B2CF9AE}" pid="5" name="Classification">
    <vt:lpwstr>Public</vt:lpwstr>
  </property>
  <property fmtid="{D5CDD505-2E9C-101B-9397-08002B2CF9AE}" pid="6" name="Compliance">
    <vt:lpwstr>GDPR/PII</vt:lpwstr>
  </property>
  <property fmtid="{D5CDD505-2E9C-101B-9397-08002B2CF9AE}" pid="7" name="ComplianceTagSetId">
    <vt:lpwstr>f14fc1f1-8950-40d5-8a29-45909da947d6</vt:lpwstr>
  </property>
  <property fmtid="{D5CDD505-2E9C-101B-9397-08002B2CF9AE}" pid="8" name="FileId">
    <vt:lpwstr>6f3fbd86-ee40-4b83-875d-7aa2aeeb4eb2</vt:lpwstr>
  </property>
  <property fmtid="{D5CDD505-2E9C-101B-9397-08002B2CF9AE}" pid="9" name="UserId">
    <vt:lpwstr>Parth.Agrawal</vt:lpwstr>
  </property>
  <property fmtid="{D5CDD505-2E9C-101B-9397-08002B2CF9AE}" pid="10" name="TagDateTime">
    <vt:lpwstr>2023-12-06T07:12:58Z</vt:lpwstr>
  </property>
  <property fmtid="{D5CDD505-2E9C-101B-9397-08002B2CF9AE}" pid="11" name="GVData1">
    <vt:lpwstr>MDAyMjowLFx1MDAyMkZvb3RlclBsYWNlbWVudFR5cGVcdTAwMjI6MCxcdTAwMjJFbmZvcmNlTGF5b3V0T3B0aW9uXHUwMDIyOnRydWUsXHUwMDIyTGF5b3V0T3B0aW9uXHUwMDIyOjAsXHUwMDIyVHJpZ2dlck51bWJlclx1MDAyMjowLFx1MDAyMkZyb21JbmRleFx1</vt:lpwstr>
  </property>
  <property fmtid="{D5CDD505-2E9C-101B-9397-08002B2CF9AE}" pid="12" name="GVData2">
    <vt:lpwstr>MDAyMjowLFx1MDAyMlRvSW5kZXhcdTAwMjI6MCxcdTAwMjJFbmZvcmNlT3ZlcndyaXRlT3B0aW9uXHUwMDIyOnRydWUsXHUwMDIyT3ZlcndyaXRlT3B0aW9uXHUwMDIyOjB9LFx1MDAyMkhlYWRlckVuYWJsZWRcdTAwMjI6dHJ1ZSxcdTAwMjJIZWFkZXJcdTAwMjI6</vt:lpwstr>
  </property>
  <property fmtid="{D5CDD505-2E9C-101B-9397-08002B2CF9AE}" pid="13" name="GVData3">
    <vt:lpwstr>XHUwMDIyXHUwMDIyLFx1MDAyMkhlYWRlcnNcdTAwMjI6W1x1MDAyMlx1MDAyMl0sXHUwMDIySGVhZGVyVHlwZVx1MDAyMjoxLFx1MDAyMkhlYWRlclR5cGVzQWxsb3dlZFx1MDAyMjpbMl0sXHUwMDIySGVhZGVyVXBkYXRlVHlwZVx1MDAyMjowLFx1MDAyMkZvb3Rl</vt:lpwstr>
  </property>
  <property fmtid="{D5CDD505-2E9C-101B-9397-08002B2CF9AE}" pid="14" name="ICV">
    <vt:lpwstr>7FA864A0BEB74E07973F57A7885DA944_12</vt:lpwstr>
  </property>
  <property fmtid="{D5CDD505-2E9C-101B-9397-08002B2CF9AE}" pid="15" name="KSOProductBuildVer">
    <vt:lpwstr>1033-12.2.0.13306</vt:lpwstr>
  </property>
  <property fmtid="{D5CDD505-2E9C-101B-9397-08002B2CF9AE}" pid="16" name="CurrentState">
    <vt:lpwstr>{"FirstPageDifferent":false,"DifferentOddAndEvenPages":false,"PageCount":16,"HeaderMetadata":"","ThirdPartyHeaderMetadata":"","GVHeaderExists":false,"NonGVHeaderExists":false,"FloatingHeaderExists":false,"NonGVHeaderShapeExists":false,"ThirdPartyHeaders":[],"FooterMetadata":"&lt;span style=\"color:#008004;\"&gt;&lt;span&gt;&lt;div style=\"text-align:center\"&gt;Classified as Public&lt;/div&gt;&lt;/span&gt;&lt;/span&gt;","ThirdPartyFooterMetadata":"","GVFooterExists":false,"NonGVFooterExists":false,"FloatingFooterExists":true,"NonGVFooterShapeExists":false,"ThirdPartyFooters":[],"WatermarkMetadata":null,"WatermarkExists":false,"PowerpointTitleMetadata":"","PowerpointSubtitleMetadata":"","ThirdPartyMetadataFound":false}</vt:lpwstr>
  </property>
  <property fmtid="{D5CDD505-2E9C-101B-9397-08002B2CF9AE}" pid="17" name="Footer">
    <vt:lpwstr>&lt;span style="color:#008004;"&gt;&lt;span&gt;&lt;div style="text-align:center"&gt;Classified as Public&lt;/div&gt;&lt;/span&gt;&lt;/span&gt;</vt:lpwstr>
  </property>
  <property fmtid="{D5CDD505-2E9C-101B-9397-08002B2CF9AE}" pid="18" name="GVData4">
    <vt:lpwstr>ckVuYWJsZWRcdTAwMjI6ZmFsc2UsXHUwMDIyRm9vdGVyXHUwMDIyOlx1MDAyMlx1MDAzQ3NwYW4gc3R5bGU9XFxcdTAwMjJjb2xvcjojMDA4MDA0O1xcXHUwMDIyXHUwMDNFXHUwMDNDc3Bhblx1MDAzRVx1MDAzQ2RpdiBzdHlsZT1cXFx1MDAyMnRleHQtYWxpZ246</vt:lpwstr>
  </property>
  <property fmtid="{D5CDD505-2E9C-101B-9397-08002B2CF9AE}" pid="19" name="GVData5">
    <vt:lpwstr>Y2VudGVyXFxcdTAwMjJcdTAwM0VDbGFzc2lmaWVkIGFzIFB1YmxpY1x1MDAzQy9kaXZcdTAwM0VcdTAwM0Mvc3Bhblx1MDAzRVx1MDAzQy9zcGFuXHUwMDNFXHUwMDIyLFx1MDAyMkZvb3RlcnNcdTAwMjI6W1x1MDAyMlx1MDAzQ3NwYW4gc3R5bGU9XFxcdTAwMjJj</vt:lpwstr>
  </property>
  <property fmtid="{D5CDD505-2E9C-101B-9397-08002B2CF9AE}" pid="20" name="GVData6">
    <vt:lpwstr>b2xvcjojMDA4MDA0O1xcXHUwMDIyXHUwMDNFXHUwMDNDc3Bhblx1MDAzRVx1MDAzQ2RpdiBzdHlsZT1cXFx1MDAyMnRleHQtYWxpZ246Y2VudGVyXFxcdTAwMjJcdTAwM0VDbGFzc2lmaWVkIGFzIFB1YmxpY1x1MDAzQy9kaXZcdTAwM0VcdTAwM0Mvc3Bhblx1MDAz</vt:lpwstr>
  </property>
  <property fmtid="{D5CDD505-2E9C-101B-9397-08002B2CF9AE}" pid="21" name="GVData7">
    <vt:lpwstr>RVx1MDAzQy9zcGFuXHUwMDNFXHUwMDIyXSxcdTAwMjJGb290ZXJUeXBlXHUwMDIyOjEsXHUwMDIyRm9vdGVyVHlwZXNBbGxvd2VkXHUwMDIyOlswLDFdLFx1MDAyMkZvb3RlclVwZGF0ZVR5cGVcdTAwMjI6MSxcdTAwMjJXYXRlcm1hcmtcdTAwMjI6bnVsbCxcdTAw</vt:lpwstr>
  </property>
  <property fmtid="{D5CDD505-2E9C-101B-9397-08002B2CF9AE}" pid="22" name="GVData8">
    <vt:lpwstr>MjJXYXRlcm1hcmtFbmFibGVkXHUwMDIyOmZhbHNlLFx1MDAyMlNob3VsZFdyaXRlV2F0ZXJtYXJrXHUwMDIyOmZhbHNlLFx1MDAyMldhdGVybWFya1VwZGF0ZVR5cGVcdTAwMjI6MCxcdTAwMjJQb3dlcnBvaW50VGl0bGVcdTAwMjI6XHUwMDIyXHUwMDIyLFx1MDAy</vt:lpwstr>
  </property>
  <property fmtid="{D5CDD505-2E9C-101B-9397-08002B2CF9AE}" pid="23" name="GVData9">
    <vt:lpwstr>MlBvd2VycG9pbnRTdWJpdGxlXHUwMDIyOlx1MDAyMlx1MDAyMn0iLA0KICAiU3RhdGUiOiAie1x1MDAyMkZpcnN0UGFnZURpZmZlcmVudFx1MDAyMjpmYWxzZSxcdTAwMjJEaWZmZXJlbnRPZGRBbmRFdmVuUGFnZXNcdTAwMjI6ZmFsc2UsXHUwMDIyUGFnZUNvdW50</vt:lpwstr>
  </property>
  <property fmtid="{D5CDD505-2E9C-101B-9397-08002B2CF9AE}" pid="24" name="GVData10">
    <vt:lpwstr>XHUwMDIyOjE2LFx1MDAyMkhlYWRlck1ldGFkYXRhXHUwMDIyOlx1MDAyMlx1MDAyMixcdTAwMjJUaGlyZFBhcnR5SGVhZGVyTWV0YWRhdGFcdTAwMjI6XHUwMDIyXHUwMDIyLFx1MDAyMkdWSGVhZGVyRXhpc3RzXHUwMDIyOmZhbHNlLFx1MDAyMk5vbkdWSGVhZGVy</vt:lpwstr>
  </property>
  <property fmtid="{D5CDD505-2E9C-101B-9397-08002B2CF9AE}" pid="25" name="GVData11">
    <vt:lpwstr>RXhpc3RzXHUwMDIyOmZhbHNlLFx1MDAyMkZsb2F0aW5nSGVhZGVyRXhpc3RzXHUwMDIyOmZhbHNlLFx1MDAyMk5vbkdWSGVhZGVyU2hhcGVFeGlzdHNcdTAwMjI6ZmFsc2UsXHUwMDIyVGhpcmRQYXJ0eUhlYWRlcnNcdTAwMjI6W10sXHUwMDIyRm9vdGVyTWV0YWRh</vt:lpwstr>
  </property>
  <property fmtid="{D5CDD505-2E9C-101B-9397-08002B2CF9AE}" pid="26" name="GVData12">
    <vt:lpwstr>dGFcdTAwMjI6XHUwMDIyXHUwMDNDc3BhbiBzdHlsZT1cXFx1MDAyMmNvbG9yOiMwMDgwMDQ7XFxcdTAwMjJcdTAwM0VcdTAwM0NzcGFuXHUwMDNFXHUwMDNDZGl2IHN0eWxlPVxcXHUwMDIydGV4dC1hbGlnbjpjZW50ZXJcXFx1MDAyMlx1MDAzRUNsYXNzaWZpZWQg</vt:lpwstr>
  </property>
  <property fmtid="{D5CDD505-2E9C-101B-9397-08002B2CF9AE}" pid="27" name="GVData13">
    <vt:lpwstr>YXMgUHVibGljXHUwMDNDL2Rpdlx1MDAzRVx1MDAzQy9zcGFuXHUwMDNFXHUwMDNDL3NwYW5cdTAwM0VcdTAwMjIsXHUwMDIyVGhpcmRQYXJ0eUZvb3Rlck1ldGFkYXRhXHUwMDIyOlx1MDAyMlx1MDAyMixcdTAwMjJHVkZvb3RlckV4aXN0c1x1MDAyMjpmYWxzZSxc</vt:lpwstr>
  </property>
  <property fmtid="{D5CDD505-2E9C-101B-9397-08002B2CF9AE}" pid="28" name="GVData14">
    <vt:lpwstr>dTAwMjJOb25HVkZvb3RlckV4aXN0c1x1MDAyMjpmYWxzZSxcdTAwMjJGbG9hdGluZ0Zvb3RlckV4aXN0c1x1MDAyMjp0cnVlLFx1MDAyMk5vbkdWRm9vdGVyU2hhcGVFeGlzdHNcdTAwMjI6ZmFsc2UsXHUwMDIyVGhpcmRQYXJ0eUZvb3RlcnNcdTAwMjI6W10sXHUw</vt:lpwstr>
  </property>
  <property fmtid="{D5CDD505-2E9C-101B-9397-08002B2CF9AE}" pid="29" name="GVData15">
    <vt:lpwstr>MDIyV2F0ZXJtYXJrTWV0YWRhdGFcdTAwMjI6bnVsbCxcdTAwMjJXYXRlcm1hcmtFeGlzdHNcdTAwMjI6ZmFsc2UsXHUwMDIyUG93ZXJwb2ludFRpdGxlTWV0YWRhdGFcdTAwMjI6XHUwMDIyXHUwMDIyLFx1MDAyMlBvd2VycG9pbnRTdWJ0aXRsZU1ldGFkYXRhXHUw</vt:lpwstr>
  </property>
  <property fmtid="{D5CDD505-2E9C-101B-9397-08002B2CF9AE}" pid="30" name="Header">
    <vt:lpwstr/>
  </property>
  <property fmtid="{D5CDD505-2E9C-101B-9397-08002B2CF9AE}" pid="31" name="GVData16">
    <vt:lpwstr>MDIyOlx1MDAyMlx1MDAyMixcdTAwMjJUaGlyZFBhcnR5TWV0YWRhdGFGb3VuZFx1MDAyMjpmYWxzZX0iDQp9</vt:lpwstr>
  </property>
  <property fmtid="{D5CDD505-2E9C-101B-9397-08002B2CF9AE}" pid="32" name="GVData17">
    <vt:lpwstr>(end)</vt:lpwstr>
  </property>
</Properties>
</file>