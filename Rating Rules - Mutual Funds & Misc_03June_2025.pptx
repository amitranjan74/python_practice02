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733" r:id="rId3"/>
    <p:sldId id="777" r:id="rId4"/>
    <p:sldId id="817" r:id="rId5"/>
    <p:sldId id="814" r:id="rId6"/>
    <p:sldId id="815" r:id="rId7"/>
    <p:sldId id="819" r:id="rId8"/>
    <p:sldId id="823" r:id="rId9"/>
    <p:sldId id="818" r:id="rId10"/>
    <p:sldId id="820" r:id="rId11"/>
    <p:sldId id="821" r:id="rId12"/>
    <p:sldId id="816" r:id="rId13"/>
    <p:sldId id="822"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5DF6AD1-58BD-48AA-A8CF-21612D19CBC3}">
          <p14:sldIdLst>
            <p14:sldId id="256"/>
            <p14:sldId id="733"/>
            <p14:sldId id="777"/>
            <p14:sldId id="817"/>
            <p14:sldId id="814"/>
            <p14:sldId id="815"/>
            <p14:sldId id="819"/>
            <p14:sldId id="823"/>
            <p14:sldId id="818"/>
            <p14:sldId id="820"/>
            <p14:sldId id="821"/>
            <p14:sldId id="816"/>
            <p14:sldId id="82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016"/>
    <a:srgbClr val="FF7300"/>
    <a:srgbClr val="FF9135"/>
    <a:srgbClr val="FF7800"/>
    <a:srgbClr val="FF7504"/>
    <a:srgbClr val="FF831D"/>
    <a:srgbClr val="FF8724"/>
    <a:srgbClr val="FF811A"/>
    <a:srgbClr val="FF7600"/>
    <a:srgbClr val="E2F0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3447" autoAdjust="0"/>
  </p:normalViewPr>
  <p:slideViewPr>
    <p:cSldViewPr snapToGrid="0" showGuides="1">
      <p:cViewPr varScale="1">
        <p:scale>
          <a:sx n="70" d="100"/>
          <a:sy n="70" d="100"/>
        </p:scale>
        <p:origin x="1134"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2544"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valya Karkare" userId="90a0f848-95c5-4551-9d2b-26c1ae6c35fe" providerId="ADAL" clId="{4D14FD2F-3833-46CB-BC87-6E47C2A95F68}"/>
    <pc:docChg chg="custSel modSld">
      <pc:chgData name="Kaivalya Karkare" userId="90a0f848-95c5-4551-9d2b-26c1ae6c35fe" providerId="ADAL" clId="{4D14FD2F-3833-46CB-BC87-6E47C2A95F68}" dt="2025-04-16T05:32:52.482" v="9" actId="478"/>
      <pc:docMkLst>
        <pc:docMk/>
      </pc:docMkLst>
      <pc:sldChg chg="delSp modSp mod">
        <pc:chgData name="Kaivalya Karkare" userId="90a0f848-95c5-4551-9d2b-26c1ae6c35fe" providerId="ADAL" clId="{4D14FD2F-3833-46CB-BC87-6E47C2A95F68}" dt="2025-04-16T05:32:43.172" v="8" actId="478"/>
        <pc:sldMkLst>
          <pc:docMk/>
          <pc:sldMk cId="3794418678" sldId="819"/>
        </pc:sldMkLst>
        <pc:spChg chg="del">
          <ac:chgData name="Kaivalya Karkare" userId="90a0f848-95c5-4551-9d2b-26c1ae6c35fe" providerId="ADAL" clId="{4D14FD2F-3833-46CB-BC87-6E47C2A95F68}" dt="2025-04-16T05:32:43.172" v="8" actId="478"/>
          <ac:spMkLst>
            <pc:docMk/>
            <pc:sldMk cId="3794418678" sldId="819"/>
            <ac:spMk id="2" creationId="{A8AA10BA-8C77-EA8A-8DEF-221FC67271DB}"/>
          </ac:spMkLst>
        </pc:spChg>
        <pc:graphicFrameChg chg="mod modGraphic">
          <ac:chgData name="Kaivalya Karkare" userId="90a0f848-95c5-4551-9d2b-26c1ae6c35fe" providerId="ADAL" clId="{4D14FD2F-3833-46CB-BC87-6E47C2A95F68}" dt="2025-04-16T05:32:40.353" v="7" actId="1076"/>
          <ac:graphicFrameMkLst>
            <pc:docMk/>
            <pc:sldMk cId="3794418678" sldId="819"/>
            <ac:graphicFrameMk id="6" creationId="{88A63EB8-401E-5EF6-B886-EB8312EA4F51}"/>
          </ac:graphicFrameMkLst>
        </pc:graphicFrameChg>
      </pc:sldChg>
      <pc:sldChg chg="delSp mod">
        <pc:chgData name="Kaivalya Karkare" userId="90a0f848-95c5-4551-9d2b-26c1ae6c35fe" providerId="ADAL" clId="{4D14FD2F-3833-46CB-BC87-6E47C2A95F68}" dt="2025-04-16T05:32:52.482" v="9" actId="478"/>
        <pc:sldMkLst>
          <pc:docMk/>
          <pc:sldMk cId="1208061596" sldId="823"/>
        </pc:sldMkLst>
        <pc:graphicFrameChg chg="del">
          <ac:chgData name="Kaivalya Karkare" userId="90a0f848-95c5-4551-9d2b-26c1ae6c35fe" providerId="ADAL" clId="{4D14FD2F-3833-46CB-BC87-6E47C2A95F68}" dt="2025-04-16T05:32:52.482" v="9" actId="478"/>
          <ac:graphicFrameMkLst>
            <pc:docMk/>
            <pc:sldMk cId="1208061596" sldId="823"/>
            <ac:graphicFrameMk id="4" creationId="{F99A7D58-52BF-F5F3-6346-D1067BD4BB0D}"/>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9229C7-2D95-4A9A-A794-E51CA3F13788}" type="datetimeFigureOut">
              <a:rPr lang="en-IN" smtClean="0"/>
              <a:pPr/>
              <a:t>26-09-2025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C96331-7249-48D5-88D3-76CED9953ECB}" type="slidenum">
              <a:rPr lang="en-IN" smtClean="0"/>
              <a:pPr/>
              <a:t>‹#›</a:t>
            </a:fld>
            <a:endParaRPr lang="en-IN"/>
          </a:p>
        </p:txBody>
      </p:sp>
    </p:spTree>
    <p:extLst>
      <p:ext uri="{BB962C8B-B14F-4D97-AF65-F5344CB8AC3E}">
        <p14:creationId xmlns:p14="http://schemas.microsoft.com/office/powerpoint/2010/main" val="3826767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AUM = 250cr</a:t>
            </a:r>
          </a:p>
          <a:p>
            <a:r>
              <a:rPr lang="en-US" dirty="0"/>
              <a:t>Professional equity= 156cr</a:t>
            </a:r>
          </a:p>
          <a:p>
            <a:r>
              <a:rPr lang="en-US" dirty="0"/>
              <a:t>Professional ETF’s = 42cr</a:t>
            </a:r>
          </a:p>
        </p:txBody>
      </p:sp>
      <p:sp>
        <p:nvSpPr>
          <p:cNvPr id="4" name="Slide Number Placeholder 3"/>
          <p:cNvSpPr>
            <a:spLocks noGrp="1"/>
          </p:cNvSpPr>
          <p:nvPr>
            <p:ph type="sldNum" sz="quarter" idx="5"/>
          </p:nvPr>
        </p:nvSpPr>
        <p:spPr/>
        <p:txBody>
          <a:bodyPr/>
          <a:lstStyle/>
          <a:p>
            <a:fld id="{EF04444E-774E-4266-A357-562C69B3039C}" type="slidenum">
              <a:rPr lang="en-IN" smtClean="0"/>
              <a:t>3</a:t>
            </a:fld>
            <a:endParaRPr lang="en-IN"/>
          </a:p>
        </p:txBody>
      </p:sp>
    </p:spTree>
    <p:extLst>
      <p:ext uri="{BB962C8B-B14F-4D97-AF65-F5344CB8AC3E}">
        <p14:creationId xmlns:p14="http://schemas.microsoft.com/office/powerpoint/2010/main" val="4257430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Flagship product keep a sense. Buy amount, sell amount, SIP amount.. Rebalance,.. Sell </a:t>
            </a:r>
            <a:r>
              <a:rPr lang="en-US" dirty="0" err="1"/>
              <a:t>karle</a:t>
            </a:r>
            <a:r>
              <a:rPr lang="en-US" dirty="0"/>
              <a:t>.. Final amount.. </a:t>
            </a:r>
          </a:p>
        </p:txBody>
      </p:sp>
      <p:sp>
        <p:nvSpPr>
          <p:cNvPr id="4" name="Slide Number Placeholder 3"/>
          <p:cNvSpPr>
            <a:spLocks noGrp="1"/>
          </p:cNvSpPr>
          <p:nvPr>
            <p:ph type="sldNum" sz="quarter" idx="5"/>
          </p:nvPr>
        </p:nvSpPr>
        <p:spPr/>
        <p:txBody>
          <a:bodyPr/>
          <a:lstStyle/>
          <a:p>
            <a:fld id="{EF04444E-774E-4266-A357-562C69B3039C}" type="slidenum">
              <a:rPr lang="en-IN" smtClean="0"/>
              <a:t>4</a:t>
            </a:fld>
            <a:endParaRPr lang="en-IN"/>
          </a:p>
        </p:txBody>
      </p:sp>
    </p:spTree>
    <p:extLst>
      <p:ext uri="{BB962C8B-B14F-4D97-AF65-F5344CB8AC3E}">
        <p14:creationId xmlns:p14="http://schemas.microsoft.com/office/powerpoint/2010/main" val="2714848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ticket size = 51K; Average stocks = 11</a:t>
            </a:r>
          </a:p>
        </p:txBody>
      </p:sp>
      <p:sp>
        <p:nvSpPr>
          <p:cNvPr id="4" name="Slide Number Placeholder 3"/>
          <p:cNvSpPr>
            <a:spLocks noGrp="1"/>
          </p:cNvSpPr>
          <p:nvPr>
            <p:ph type="sldNum" sz="quarter" idx="5"/>
          </p:nvPr>
        </p:nvSpPr>
        <p:spPr/>
        <p:txBody>
          <a:bodyPr/>
          <a:lstStyle/>
          <a:p>
            <a:fld id="{EF04444E-774E-4266-A357-562C69B3039C}" type="slidenum">
              <a:rPr lang="en-IN" smtClean="0"/>
              <a:t>5</a:t>
            </a:fld>
            <a:endParaRPr lang="en-IN"/>
          </a:p>
        </p:txBody>
      </p:sp>
    </p:spTree>
    <p:extLst>
      <p:ext uri="{BB962C8B-B14F-4D97-AF65-F5344CB8AC3E}">
        <p14:creationId xmlns:p14="http://schemas.microsoft.com/office/powerpoint/2010/main" val="783539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04444E-774E-4266-A357-562C69B3039C}" type="slidenum">
              <a:rPr lang="en-IN" smtClean="0"/>
              <a:t>6</a:t>
            </a:fld>
            <a:endParaRPr lang="en-IN"/>
          </a:p>
        </p:txBody>
      </p:sp>
    </p:spTree>
    <p:extLst>
      <p:ext uri="{BB962C8B-B14F-4D97-AF65-F5344CB8AC3E}">
        <p14:creationId xmlns:p14="http://schemas.microsoft.com/office/powerpoint/2010/main" val="3969792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04444E-774E-4266-A357-562C69B3039C}" type="slidenum">
              <a:rPr lang="en-IN" smtClean="0"/>
              <a:t>7</a:t>
            </a:fld>
            <a:endParaRPr lang="en-IN"/>
          </a:p>
        </p:txBody>
      </p:sp>
    </p:spTree>
    <p:extLst>
      <p:ext uri="{BB962C8B-B14F-4D97-AF65-F5344CB8AC3E}">
        <p14:creationId xmlns:p14="http://schemas.microsoft.com/office/powerpoint/2010/main" val="445248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04444E-774E-4266-A357-562C69B3039C}" type="slidenum">
              <a:rPr lang="en-IN" smtClean="0"/>
              <a:t>8</a:t>
            </a:fld>
            <a:endParaRPr lang="en-IN"/>
          </a:p>
        </p:txBody>
      </p:sp>
    </p:spTree>
    <p:extLst>
      <p:ext uri="{BB962C8B-B14F-4D97-AF65-F5344CB8AC3E}">
        <p14:creationId xmlns:p14="http://schemas.microsoft.com/office/powerpoint/2010/main" val="811932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04444E-774E-4266-A357-562C69B3039C}" type="slidenum">
              <a:rPr lang="en-IN" smtClean="0"/>
              <a:t>9</a:t>
            </a:fld>
            <a:endParaRPr lang="en-IN"/>
          </a:p>
        </p:txBody>
      </p:sp>
    </p:spTree>
    <p:extLst>
      <p:ext uri="{BB962C8B-B14F-4D97-AF65-F5344CB8AC3E}">
        <p14:creationId xmlns:p14="http://schemas.microsoft.com/office/powerpoint/2010/main" val="128159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04444E-774E-4266-A357-562C69B3039C}" type="slidenum">
              <a:rPr lang="en-IN" smtClean="0"/>
              <a:t>10</a:t>
            </a:fld>
            <a:endParaRPr lang="en-IN"/>
          </a:p>
        </p:txBody>
      </p:sp>
    </p:spTree>
    <p:extLst>
      <p:ext uri="{BB962C8B-B14F-4D97-AF65-F5344CB8AC3E}">
        <p14:creationId xmlns:p14="http://schemas.microsoft.com/office/powerpoint/2010/main" val="1150143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04444E-774E-4266-A357-562C69B3039C}" type="slidenum">
              <a:rPr lang="en-IN" smtClean="0"/>
              <a:t>11</a:t>
            </a:fld>
            <a:endParaRPr lang="en-IN"/>
          </a:p>
        </p:txBody>
      </p:sp>
    </p:spTree>
    <p:extLst>
      <p:ext uri="{BB962C8B-B14F-4D97-AF65-F5344CB8AC3E}">
        <p14:creationId xmlns:p14="http://schemas.microsoft.com/office/powerpoint/2010/main" val="1260616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04444E-774E-4266-A357-562C69B3039C}" type="slidenum">
              <a:rPr lang="en-IN" smtClean="0"/>
              <a:t>12</a:t>
            </a:fld>
            <a:endParaRPr lang="en-IN"/>
          </a:p>
        </p:txBody>
      </p:sp>
    </p:spTree>
    <p:extLst>
      <p:ext uri="{BB962C8B-B14F-4D97-AF65-F5344CB8AC3E}">
        <p14:creationId xmlns:p14="http://schemas.microsoft.com/office/powerpoint/2010/main" val="854906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04444E-774E-4266-A357-562C69B3039C}" type="slidenum">
              <a:rPr lang="en-IN" smtClean="0"/>
              <a:t>13</a:t>
            </a:fld>
            <a:endParaRPr lang="en-IN"/>
          </a:p>
        </p:txBody>
      </p:sp>
    </p:spTree>
    <p:extLst>
      <p:ext uri="{BB962C8B-B14F-4D97-AF65-F5344CB8AC3E}">
        <p14:creationId xmlns:p14="http://schemas.microsoft.com/office/powerpoint/2010/main" val="35615689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8815" y="757881"/>
            <a:ext cx="2656247" cy="786803"/>
          </a:xfrm>
          <a:prstGeom prst="rect">
            <a:avLst/>
          </a:prstGeom>
        </p:spPr>
      </p:pic>
      <p:pic>
        <p:nvPicPr>
          <p:cNvPr id="8" name="Picture 7"/>
          <p:cNvPicPr>
            <a:picLocks noChangeAspect="1"/>
          </p:cNvPicPr>
          <p:nvPr userDrawn="1"/>
        </p:nvPicPr>
        <p:blipFill rotWithShape="1">
          <a:blip r:embed="rId3" cstate="print">
            <a:extLst>
              <a:ext uri="{28A0092B-C50C-407E-A947-70E740481C1C}">
                <a14:useLocalDpi xmlns:a14="http://schemas.microsoft.com/office/drawing/2010/main" val="0"/>
              </a:ext>
            </a:extLst>
          </a:blip>
          <a:srcRect b="71191"/>
          <a:stretch>
            <a:fillRect/>
          </a:stretch>
        </p:blipFill>
        <p:spPr>
          <a:xfrm>
            <a:off x="1272955" y="-16328"/>
            <a:ext cx="10919045" cy="5878286"/>
          </a:xfrm>
          <a:prstGeom prst="rect">
            <a:avLst/>
          </a:prstGeom>
        </p:spPr>
      </p:pic>
      <p:sp>
        <p:nvSpPr>
          <p:cNvPr id="5" name="Title 1"/>
          <p:cNvSpPr>
            <a:spLocks noGrp="1"/>
          </p:cNvSpPr>
          <p:nvPr>
            <p:ph type="title" hasCustomPrompt="1"/>
          </p:nvPr>
        </p:nvSpPr>
        <p:spPr>
          <a:xfrm>
            <a:off x="2806088" y="2922815"/>
            <a:ext cx="4636704" cy="2446627"/>
          </a:xfrm>
        </p:spPr>
        <p:txBody>
          <a:bodyPr anchor="ctr">
            <a:normAutofit/>
          </a:bodyPr>
          <a:lstStyle>
            <a:lvl1pPr>
              <a:defRPr sz="6000">
                <a:solidFill>
                  <a:schemeClr val="bg1"/>
                </a:solidFill>
                <a:latin typeface="Barlow regular" panose="00000500000000000000" pitchFamily="2" charset="0"/>
              </a:defRPr>
            </a:lvl1pPr>
          </a:lstStyle>
          <a:p>
            <a:r>
              <a:rPr lang="en-US" dirty="0"/>
              <a:t>Title Slide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24" y="742951"/>
            <a:ext cx="10010254" cy="6115050"/>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46426" y="81339"/>
            <a:ext cx="1957971" cy="579968"/>
          </a:xfrm>
          <a:prstGeom prst="rect">
            <a:avLst/>
          </a:prstGeom>
        </p:spPr>
      </p:pic>
      <p:sp>
        <p:nvSpPr>
          <p:cNvPr id="5" name="Title 1"/>
          <p:cNvSpPr>
            <a:spLocks noGrp="1"/>
          </p:cNvSpPr>
          <p:nvPr>
            <p:ph type="title" hasCustomPrompt="1"/>
          </p:nvPr>
        </p:nvSpPr>
        <p:spPr>
          <a:xfrm>
            <a:off x="860329" y="2104108"/>
            <a:ext cx="5976405" cy="3052683"/>
          </a:xfrm>
        </p:spPr>
        <p:txBody>
          <a:bodyPr anchor="ctr">
            <a:normAutofit/>
          </a:bodyPr>
          <a:lstStyle>
            <a:lvl1pPr>
              <a:defRPr sz="6000">
                <a:solidFill>
                  <a:schemeClr val="bg1"/>
                </a:solidFill>
                <a:latin typeface="Barlow regular" panose="00000500000000000000" pitchFamily="2" charset="0"/>
              </a:defRPr>
            </a:lvl1pPr>
          </a:lstStyle>
          <a:p>
            <a:r>
              <a:rPr lang="en-US" dirty="0"/>
              <a:t>Separator Slide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21118"/>
          <a:stretch>
            <a:fillRect/>
          </a:stretch>
        </p:blipFill>
        <p:spPr>
          <a:xfrm>
            <a:off x="0" y="0"/>
            <a:ext cx="9284043" cy="853539"/>
          </a:xfrm>
          <a:prstGeom prst="rect">
            <a:avLst/>
          </a:prstGeom>
        </p:spPr>
      </p:pic>
      <p:sp>
        <p:nvSpPr>
          <p:cNvPr id="2" name="Title 1"/>
          <p:cNvSpPr>
            <a:spLocks noGrp="1"/>
          </p:cNvSpPr>
          <p:nvPr>
            <p:ph type="title"/>
          </p:nvPr>
        </p:nvSpPr>
        <p:spPr>
          <a:xfrm>
            <a:off x="456292" y="49019"/>
            <a:ext cx="8475437" cy="625247"/>
          </a:xfrm>
        </p:spPr>
        <p:txBody>
          <a:bodyPr anchor="ctr">
            <a:normAutofit/>
          </a:bodyPr>
          <a:lstStyle>
            <a:lvl1pPr>
              <a:defRPr sz="2800">
                <a:solidFill>
                  <a:schemeClr val="bg1"/>
                </a:solidFill>
                <a:latin typeface="Barlow regular" panose="00000500000000000000" pitchFamily="2" charset="0"/>
              </a:defRPr>
            </a:lvl1pPr>
          </a:lstStyle>
          <a:p>
            <a:r>
              <a:rPr lang="en-US"/>
              <a:t>Click to edit Master title style</a:t>
            </a:r>
            <a:endParaRPr lang="en-US" dirty="0"/>
          </a:p>
        </p:txBody>
      </p:sp>
      <p:sp>
        <p:nvSpPr>
          <p:cNvPr id="3" name="Text Placeholder 2"/>
          <p:cNvSpPr>
            <a:spLocks noGrp="1"/>
          </p:cNvSpPr>
          <p:nvPr>
            <p:ph type="body" idx="1"/>
          </p:nvPr>
        </p:nvSpPr>
        <p:spPr>
          <a:xfrm>
            <a:off x="831850" y="979715"/>
            <a:ext cx="10515600" cy="5109936"/>
          </a:xfrm>
        </p:spPr>
        <p:txBody>
          <a:bodyPr>
            <a:normAutofit/>
          </a:bodyPr>
          <a:lstStyle>
            <a:lvl1pPr marL="0" indent="0">
              <a:buNone/>
              <a:defRPr sz="1800">
                <a:solidFill>
                  <a:schemeClr val="tx1"/>
                </a:solidFill>
                <a:latin typeface="Barlow regular"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46426" y="81339"/>
            <a:ext cx="1957971" cy="57996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Barlow regular"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Barlow regular" panose="00000500000000000000" pitchFamily="2" charset="0"/>
              </a:defRPr>
            </a:lvl1pPr>
            <a:lvl2pPr>
              <a:defRPr>
                <a:latin typeface="Barlow regular" panose="00000500000000000000" pitchFamily="2" charset="0"/>
              </a:defRPr>
            </a:lvl2pPr>
            <a:lvl3pPr>
              <a:defRPr>
                <a:latin typeface="Barlow regular" panose="00000500000000000000" pitchFamily="2" charset="0"/>
              </a:defRPr>
            </a:lvl3pPr>
            <a:lvl4pPr>
              <a:defRPr>
                <a:latin typeface="Barlow regular" panose="00000500000000000000" pitchFamily="2" charset="0"/>
              </a:defRPr>
            </a:lvl4pPr>
            <a:lvl5pPr>
              <a:defRPr>
                <a:latin typeface="Barlow regular"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Barlow regular"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Barlow regular" panose="00000500000000000000" pitchFamily="2" charset="0"/>
              </a:defRPr>
            </a:lvl1pPr>
            <a:lvl2pPr>
              <a:defRPr>
                <a:latin typeface="Barlow regular" panose="00000500000000000000" pitchFamily="2" charset="0"/>
              </a:defRPr>
            </a:lvl2pPr>
            <a:lvl3pPr>
              <a:defRPr>
                <a:latin typeface="Barlow regular" panose="00000500000000000000" pitchFamily="2" charset="0"/>
              </a:defRPr>
            </a:lvl3pPr>
            <a:lvl4pPr>
              <a:defRPr>
                <a:latin typeface="Barlow regular" panose="00000500000000000000" pitchFamily="2" charset="0"/>
              </a:defRPr>
            </a:lvl4pPr>
            <a:lvl5pPr>
              <a:defRPr>
                <a:latin typeface="Barlow regular"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latin typeface="Barlow regular" panose="00000500000000000000" pitchFamily="2" charset="0"/>
              </a:defRPr>
            </a:lvl1pPr>
          </a:lstStyle>
          <a:p>
            <a:fld id="{778D0751-BF71-4E0F-B54A-B743D8325089}" type="datetimeFigureOut">
              <a:rPr lang="en-US" smtClean="0"/>
              <a:pPr/>
              <a:t>9/26/2025</a:t>
            </a:fld>
            <a:endParaRPr lang="en-US" dirty="0"/>
          </a:p>
        </p:txBody>
      </p:sp>
      <p:sp>
        <p:nvSpPr>
          <p:cNvPr id="8" name="Footer Placeholder 7"/>
          <p:cNvSpPr>
            <a:spLocks noGrp="1"/>
          </p:cNvSpPr>
          <p:nvPr>
            <p:ph type="ftr" sz="quarter" idx="11"/>
          </p:nvPr>
        </p:nvSpPr>
        <p:spPr/>
        <p:txBody>
          <a:bodyPr/>
          <a:lstStyle>
            <a:lvl1pPr>
              <a:defRPr>
                <a:latin typeface="Barlow regular" panose="00000500000000000000" pitchFamily="2"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Barlow regular" panose="00000500000000000000" pitchFamily="2" charset="0"/>
              </a:defRPr>
            </a:lvl1pPr>
          </a:lstStyle>
          <a:p>
            <a:fld id="{B52CAE73-3679-492E-BB01-09D50B38A23B}" type="slidenum">
              <a:rPr lang="en-US" smtClean="0"/>
              <a:pPr/>
              <a:t>‹#›</a:t>
            </a:fld>
            <a:endParaRPr lang="en-US" dirty="0"/>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val="0"/>
              </a:ext>
            </a:extLst>
          </a:blip>
          <a:srcRect t="21118"/>
          <a:stretch>
            <a:fillRect/>
          </a:stretch>
        </p:blipFill>
        <p:spPr>
          <a:xfrm>
            <a:off x="0" y="0"/>
            <a:ext cx="9284043" cy="853539"/>
          </a:xfrm>
          <a:prstGeom prst="rect">
            <a:avLst/>
          </a:prstGeom>
        </p:spPr>
      </p:pic>
      <p:sp>
        <p:nvSpPr>
          <p:cNvPr id="12" name="Title 1"/>
          <p:cNvSpPr>
            <a:spLocks noGrp="1"/>
          </p:cNvSpPr>
          <p:nvPr>
            <p:ph type="title"/>
          </p:nvPr>
        </p:nvSpPr>
        <p:spPr>
          <a:xfrm>
            <a:off x="456292" y="49019"/>
            <a:ext cx="8475437" cy="625247"/>
          </a:xfrm>
        </p:spPr>
        <p:txBody>
          <a:bodyPr anchor="ctr">
            <a:normAutofit/>
          </a:bodyPr>
          <a:lstStyle>
            <a:lvl1pPr>
              <a:defRPr sz="2800">
                <a:solidFill>
                  <a:schemeClr val="bg1"/>
                </a:solidFill>
                <a:latin typeface="Barlow regular" panose="00000500000000000000" pitchFamily="2" charset="0"/>
              </a:defRPr>
            </a:lvl1pPr>
          </a:lstStyle>
          <a:p>
            <a:r>
              <a:rPr lang="en-US"/>
              <a:t>Click to edit Master title style</a:t>
            </a:r>
            <a:endParaRPr lang="en-US" dirty="0"/>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46426" y="81339"/>
            <a:ext cx="1957971" cy="57996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43916" y="1"/>
            <a:ext cx="10548084" cy="6858000"/>
          </a:xfrm>
          <a:prstGeom prst="rect">
            <a:avLst/>
          </a:prstGeom>
        </p:spPr>
      </p:pic>
      <p:sp>
        <p:nvSpPr>
          <p:cNvPr id="5" name="Title 1"/>
          <p:cNvSpPr>
            <a:spLocks noGrp="1"/>
          </p:cNvSpPr>
          <p:nvPr>
            <p:ph type="title" hasCustomPrompt="1"/>
          </p:nvPr>
        </p:nvSpPr>
        <p:spPr>
          <a:xfrm>
            <a:off x="6687233" y="2268913"/>
            <a:ext cx="4636704" cy="1160087"/>
          </a:xfrm>
        </p:spPr>
        <p:txBody>
          <a:bodyPr anchor="ctr">
            <a:normAutofit/>
          </a:bodyPr>
          <a:lstStyle>
            <a:lvl1pPr algn="ctr">
              <a:defRPr sz="6000">
                <a:solidFill>
                  <a:schemeClr val="bg1"/>
                </a:solidFill>
                <a:latin typeface="Barlow regular" panose="00000500000000000000" pitchFamily="2" charset="0"/>
              </a:defRPr>
            </a:lvl1pPr>
          </a:lstStyle>
          <a:p>
            <a:r>
              <a:rPr lang="en-US" dirty="0"/>
              <a:t>Thank You</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46426" y="81339"/>
            <a:ext cx="1957971" cy="57996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8D0751-BF71-4E0F-B54A-B743D8325089}" type="datetimeFigureOut">
              <a:rPr lang="en-US" smtClean="0"/>
              <a:pPr/>
              <a:t>9/26/2025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2CAE73-3679-492E-BB01-09D50B38A23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8D0751-BF71-4E0F-B54A-B743D8325089}" type="datetimeFigureOut">
              <a:rPr lang="en-US" smtClean="0"/>
              <a:pPr/>
              <a:t>9/26/2025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2CAE73-3679-492E-BB01-09D50B38A23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8D0751-BF71-4E0F-B54A-B743D8325089}" type="datetimeFigureOut">
              <a:rPr lang="en-US" smtClean="0"/>
              <a:pPr/>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2CAE73-3679-492E-BB01-09D50B38A23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8D0751-BF71-4E0F-B54A-B743D8325089}" type="datetimeFigureOut">
              <a:rPr lang="en-US" smtClean="0"/>
              <a:pPr/>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2CAE73-3679-492E-BB01-09D50B38A23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8D0751-BF71-4E0F-B54A-B743D8325089}"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2CAE73-3679-492E-BB01-09D50B38A23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8D0751-BF71-4E0F-B54A-B743D8325089}" type="datetimeFigureOut">
              <a:rPr lang="en-US" smtClean="0"/>
              <a:pPr/>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2CAE73-3679-492E-BB01-09D50B38A23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8D0751-BF71-4E0F-B54A-B743D8325089}" type="datetimeFigureOut">
              <a:rPr lang="en-US" smtClean="0"/>
              <a:pPr/>
              <a:t>9/26/2025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2CAE73-3679-492E-BB01-09D50B38A23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mailto:mohit.gupta@angelbroking.com"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mailto:miral.lad@angelbroking.com"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6088" y="2931959"/>
            <a:ext cx="5155498" cy="2446627"/>
          </a:xfrm>
        </p:spPr>
        <p:txBody>
          <a:bodyPr>
            <a:normAutofit fontScale="90000"/>
          </a:bodyPr>
          <a:lstStyle/>
          <a:p>
            <a:r>
              <a:rPr lang="en-US" dirty="0"/>
              <a:t>Risk rating requirements</a:t>
            </a:r>
            <a:br>
              <a:rPr lang="en-US" dirty="0"/>
            </a:br>
            <a:endParaRPr lang="en-US" dirty="0"/>
          </a:p>
        </p:txBody>
      </p:sp>
      <p:sp>
        <p:nvSpPr>
          <p:cNvPr id="4" name="TextBox 3"/>
          <p:cNvSpPr txBox="1"/>
          <p:nvPr/>
        </p:nvSpPr>
        <p:spPr>
          <a:xfrm>
            <a:off x="9377916" y="6092456"/>
            <a:ext cx="2402958" cy="337185"/>
          </a:xfrm>
          <a:prstGeom prst="rect">
            <a:avLst/>
          </a:prstGeom>
          <a:noFill/>
        </p:spPr>
        <p:txBody>
          <a:bodyPr wrap="square" rtlCol="0">
            <a:spAutoFit/>
          </a:bodyPr>
          <a:lstStyle/>
          <a:p>
            <a:pPr algn="r"/>
            <a:fld id="{FF268102-53D4-48C1-AB00-241FCA794B91}" type="datetime3">
              <a:rPr lang="en-US" sz="1600" smtClean="0">
                <a:latin typeface="Barlow regular" panose="00000500000000000000" pitchFamily="2" charset="0"/>
              </a:rPr>
              <a:pPr algn="r"/>
              <a:t>26 September 2025</a:t>
            </a:fld>
            <a:endParaRPr lang="en-US" sz="1600" dirty="0">
              <a:latin typeface="Barlow regular" panose="00000500000000000000" pitchFamily="2" charset="0"/>
            </a:endParaRPr>
          </a:p>
        </p:txBody>
      </p:sp>
      <p:sp>
        <p:nvSpPr>
          <p:cNvPr id="3" name="GVCLASSIFICATIONFOOTERCenter0">
            <a:extLst>
              <a:ext uri="{FF2B5EF4-FFF2-40B4-BE49-F238E27FC236}">
                <a16:creationId xmlns:a16="http://schemas.microsoft.com/office/drawing/2014/main" id="{56F1751D-8B2F-64B7-8C9B-B7A40265A303}"/>
              </a:ext>
            </a:extLst>
          </p:cNvPr>
          <p:cNvSpPr txBox="1"/>
          <p:nvPr/>
        </p:nvSpPr>
        <p:spPr>
          <a:xfrm>
            <a:off x="0" y="6611779"/>
            <a:ext cx="12192000" cy="246221"/>
          </a:xfrm>
          <a:prstGeom prst="rect">
            <a:avLst/>
          </a:prstGeom>
          <a:noFill/>
        </p:spPr>
        <p:txBody>
          <a:bodyPr vert="horz" wrap="square" rtlCol="0">
            <a:spAutoFit/>
          </a:bodyPr>
          <a:lstStyle/>
          <a:p>
            <a:pPr algn="ctr"/>
            <a:r>
              <a:rPr lang="en-US" sz="1000">
                <a:solidFill>
                  <a:srgbClr val="0303FE"/>
                </a:solidFill>
              </a:rPr>
              <a:t>Classified as Internal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4535" y="833925"/>
            <a:ext cx="9315950" cy="1858970"/>
          </a:xfrm>
          <a:prstGeom prst="rect">
            <a:avLst/>
          </a:prstGeom>
        </p:spPr>
        <p:txBody>
          <a:bodyPr wrap="square">
            <a:spAutoFit/>
          </a:bodyPr>
          <a:lstStyle/>
          <a:p>
            <a:pPr marL="171450" indent="-171450">
              <a:spcBef>
                <a:spcPct val="20000"/>
              </a:spcBef>
              <a:buFont typeface="Arial" panose="020B0604020202020204" pitchFamily="34" charset="0"/>
              <a:buChar char="•"/>
            </a:pPr>
            <a:r>
              <a:rPr lang="en-US" sz="1400" dirty="0">
                <a:latin typeface="Barlow" panose="00000500000000000000" pitchFamily="2" charset="0"/>
              </a:rPr>
              <a:t>Types of risk rating queries (tabular format maybe)</a:t>
            </a:r>
          </a:p>
          <a:p>
            <a:pPr marL="171450" indent="-171450">
              <a:spcBef>
                <a:spcPct val="20000"/>
              </a:spcBef>
              <a:buFont typeface="Arial" panose="020B0604020202020204" pitchFamily="34" charset="0"/>
              <a:buChar char="•"/>
            </a:pPr>
            <a:endParaRPr lang="en-US" sz="1400" dirty="0">
              <a:latin typeface="Barlow" panose="00000500000000000000" pitchFamily="2" charset="0"/>
            </a:endParaRPr>
          </a:p>
          <a:p>
            <a:pPr marL="171450" indent="-171450">
              <a:spcBef>
                <a:spcPct val="20000"/>
              </a:spcBef>
              <a:buFont typeface="Arial" panose="020B0604020202020204" pitchFamily="34" charset="0"/>
              <a:buChar char="•"/>
            </a:pPr>
            <a:r>
              <a:rPr lang="en-US" sz="1400" dirty="0">
                <a:latin typeface="Barlow" panose="00000500000000000000" pitchFamily="2" charset="0"/>
              </a:rPr>
              <a:t>Process flow and rules of the queries</a:t>
            </a:r>
          </a:p>
          <a:p>
            <a:pPr marL="628650" lvl="1" indent="-171450">
              <a:spcBef>
                <a:spcPct val="20000"/>
              </a:spcBef>
              <a:buFont typeface="Arial" panose="020B0604020202020204" pitchFamily="34" charset="0"/>
              <a:buChar char="•"/>
            </a:pPr>
            <a:r>
              <a:rPr lang="en-US" sz="1400" dirty="0">
                <a:latin typeface="Barlow" panose="00000500000000000000" pitchFamily="2" charset="0"/>
              </a:rPr>
              <a:t>Equity stocks risk rating</a:t>
            </a:r>
          </a:p>
          <a:p>
            <a:pPr marL="628650" lvl="1" indent="-171450">
              <a:spcBef>
                <a:spcPct val="20000"/>
              </a:spcBef>
              <a:buFont typeface="Arial" panose="020B0604020202020204" pitchFamily="34" charset="0"/>
              <a:buChar char="•"/>
            </a:pPr>
            <a:r>
              <a:rPr lang="en-US" sz="1400" dirty="0">
                <a:latin typeface="Barlow" panose="00000500000000000000" pitchFamily="2" charset="0"/>
              </a:rPr>
              <a:t>MF’s risk rating</a:t>
            </a:r>
          </a:p>
          <a:p>
            <a:pPr marL="628650" lvl="1" indent="-171450">
              <a:spcBef>
                <a:spcPct val="20000"/>
              </a:spcBef>
              <a:buFont typeface="Arial" panose="020B0604020202020204" pitchFamily="34" charset="0"/>
              <a:buChar char="•"/>
            </a:pPr>
            <a:r>
              <a:rPr lang="en-US" sz="1400" dirty="0">
                <a:latin typeface="Barlow" panose="00000500000000000000" pitchFamily="2" charset="0"/>
              </a:rPr>
              <a:t>IPO risk rating</a:t>
            </a:r>
          </a:p>
          <a:p>
            <a:pPr marL="628650" lvl="1" indent="-171450">
              <a:spcBef>
                <a:spcPct val="20000"/>
              </a:spcBef>
              <a:buFont typeface="Arial" panose="020B0604020202020204" pitchFamily="34" charset="0"/>
              <a:buChar char="•"/>
            </a:pPr>
            <a:r>
              <a:rPr lang="en-US" sz="1400" dirty="0">
                <a:latin typeface="Barlow" panose="00000500000000000000" pitchFamily="2" charset="0"/>
              </a:rPr>
              <a:t>Monthly volume turnover data requirement</a:t>
            </a:r>
          </a:p>
        </p:txBody>
      </p:sp>
      <p:sp>
        <p:nvSpPr>
          <p:cNvPr id="2" name="Title 1"/>
          <p:cNvSpPr>
            <a:spLocks noGrp="1"/>
          </p:cNvSpPr>
          <p:nvPr>
            <p:ph type="title"/>
          </p:nvPr>
        </p:nvSpPr>
        <p:spPr/>
        <p:txBody>
          <a:bodyPr/>
          <a:lstStyle/>
          <a:p>
            <a:r>
              <a:rPr lang="en-IN" dirty="0"/>
              <a:t>Index</a:t>
            </a:r>
          </a:p>
        </p:txBody>
      </p:sp>
      <p:sp>
        <p:nvSpPr>
          <p:cNvPr id="3" name="GVCLASSIFICATIONFOOTERCenter0">
            <a:extLst>
              <a:ext uri="{FF2B5EF4-FFF2-40B4-BE49-F238E27FC236}">
                <a16:creationId xmlns:a16="http://schemas.microsoft.com/office/drawing/2014/main" id="{8795DD76-9D4F-EE39-3C3C-1779C174F591}"/>
              </a:ext>
            </a:extLst>
          </p:cNvPr>
          <p:cNvSpPr txBox="1"/>
          <p:nvPr/>
        </p:nvSpPr>
        <p:spPr>
          <a:xfrm>
            <a:off x="0" y="6611779"/>
            <a:ext cx="12192000" cy="246221"/>
          </a:xfrm>
          <a:prstGeom prst="rect">
            <a:avLst/>
          </a:prstGeom>
          <a:noFill/>
        </p:spPr>
        <p:txBody>
          <a:bodyPr vert="horz" wrap="square" rtlCol="0">
            <a:spAutoFit/>
          </a:bodyPr>
          <a:lstStyle/>
          <a:p>
            <a:pPr algn="ctr"/>
            <a:r>
              <a:rPr lang="en-US" sz="1000">
                <a:solidFill>
                  <a:srgbClr val="0303FE"/>
                </a:solidFill>
              </a:rPr>
              <a:t>Classified as Internal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Types of risk rating queries </a:t>
            </a:r>
            <a:endParaRPr lang="en-IN" dirty="0"/>
          </a:p>
        </p:txBody>
      </p:sp>
      <p:graphicFrame>
        <p:nvGraphicFramePr>
          <p:cNvPr id="4" name="Table 3">
            <a:extLst>
              <a:ext uri="{FF2B5EF4-FFF2-40B4-BE49-F238E27FC236}">
                <a16:creationId xmlns:a16="http://schemas.microsoft.com/office/drawing/2014/main" id="{7FF9F874-C0E4-C08D-4214-AC6EBE346F39}"/>
              </a:ext>
            </a:extLst>
          </p:cNvPr>
          <p:cNvGraphicFramePr>
            <a:graphicFrameLocks noGrp="1"/>
          </p:cNvGraphicFramePr>
          <p:nvPr>
            <p:extLst>
              <p:ext uri="{D42A27DB-BD31-4B8C-83A1-F6EECF244321}">
                <p14:modId xmlns:p14="http://schemas.microsoft.com/office/powerpoint/2010/main" val="3620408778"/>
              </p:ext>
            </p:extLst>
          </p:nvPr>
        </p:nvGraphicFramePr>
        <p:xfrm>
          <a:off x="456292" y="1241508"/>
          <a:ext cx="11136267" cy="5065337"/>
        </p:xfrm>
        <a:graphic>
          <a:graphicData uri="http://schemas.openxmlformats.org/drawingml/2006/table">
            <a:tbl>
              <a:tblPr firstRow="1" bandRow="1">
                <a:tableStyleId>{5940675A-B579-460E-94D1-54222C63F5DA}</a:tableStyleId>
              </a:tblPr>
              <a:tblGrid>
                <a:gridCol w="1556631">
                  <a:extLst>
                    <a:ext uri="{9D8B030D-6E8A-4147-A177-3AD203B41FA5}">
                      <a16:colId xmlns:a16="http://schemas.microsoft.com/office/drawing/2014/main" val="652274257"/>
                    </a:ext>
                  </a:extLst>
                </a:gridCol>
                <a:gridCol w="2414471">
                  <a:extLst>
                    <a:ext uri="{9D8B030D-6E8A-4147-A177-3AD203B41FA5}">
                      <a16:colId xmlns:a16="http://schemas.microsoft.com/office/drawing/2014/main" val="2467495412"/>
                    </a:ext>
                  </a:extLst>
                </a:gridCol>
                <a:gridCol w="2424017">
                  <a:extLst>
                    <a:ext uri="{9D8B030D-6E8A-4147-A177-3AD203B41FA5}">
                      <a16:colId xmlns:a16="http://schemas.microsoft.com/office/drawing/2014/main" val="1225241388"/>
                    </a:ext>
                  </a:extLst>
                </a:gridCol>
                <a:gridCol w="2370574">
                  <a:extLst>
                    <a:ext uri="{9D8B030D-6E8A-4147-A177-3AD203B41FA5}">
                      <a16:colId xmlns:a16="http://schemas.microsoft.com/office/drawing/2014/main" val="577031856"/>
                    </a:ext>
                  </a:extLst>
                </a:gridCol>
                <a:gridCol w="2370574">
                  <a:extLst>
                    <a:ext uri="{9D8B030D-6E8A-4147-A177-3AD203B41FA5}">
                      <a16:colId xmlns:a16="http://schemas.microsoft.com/office/drawing/2014/main" val="2879831548"/>
                    </a:ext>
                  </a:extLst>
                </a:gridCol>
              </a:tblGrid>
              <a:tr h="535395">
                <a:tc>
                  <a:txBody>
                    <a:bodyPr/>
                    <a:lstStyle/>
                    <a:p>
                      <a:pPr algn="ctr"/>
                      <a:r>
                        <a:rPr lang="en-US" sz="1200" b="1" dirty="0">
                          <a:latin typeface="Barlow" panose="00000500000000000000" pitchFamily="2" charset="0"/>
                        </a:rPr>
                        <a:t>Particulars</a:t>
                      </a:r>
                    </a:p>
                  </a:txBody>
                  <a:tcPr anchor="ctr">
                    <a:solidFill>
                      <a:schemeClr val="accent2"/>
                    </a:solidFill>
                  </a:tcPr>
                </a:tc>
                <a:tc>
                  <a:txBody>
                    <a:bodyPr/>
                    <a:lstStyle/>
                    <a:p>
                      <a:pPr algn="ctr"/>
                      <a:r>
                        <a:rPr lang="en-US" sz="1200" b="1" dirty="0">
                          <a:latin typeface="Barlow" panose="00000500000000000000" pitchFamily="2" charset="0"/>
                        </a:rPr>
                        <a:t>Deadline</a:t>
                      </a:r>
                    </a:p>
                  </a:txBody>
                  <a:tcPr anchor="ctr">
                    <a:solidFill>
                      <a:schemeClr val="accent2"/>
                    </a:solidFill>
                  </a:tcPr>
                </a:tc>
                <a:tc>
                  <a:txBody>
                    <a:bodyPr/>
                    <a:lstStyle/>
                    <a:p>
                      <a:pPr algn="ctr"/>
                      <a:r>
                        <a:rPr lang="en-US" sz="1200" b="1" dirty="0">
                          <a:latin typeface="Barlow" panose="00000500000000000000" pitchFamily="2" charset="0"/>
                        </a:rPr>
                        <a:t>Additional checks (other than rules)</a:t>
                      </a:r>
                    </a:p>
                  </a:txBody>
                  <a:tcPr anchor="ctr">
                    <a:solidFill>
                      <a:schemeClr val="accent2"/>
                    </a:solidFill>
                  </a:tcPr>
                </a:tc>
                <a:tc>
                  <a:txBody>
                    <a:bodyPr/>
                    <a:lstStyle/>
                    <a:p>
                      <a:pPr algn="ctr"/>
                      <a:r>
                        <a:rPr lang="en-US" sz="1200" b="1" dirty="0">
                          <a:latin typeface="Barlow" panose="00000500000000000000" pitchFamily="2" charset="0"/>
                        </a:rPr>
                        <a:t>Comments</a:t>
                      </a:r>
                    </a:p>
                  </a:txBody>
                  <a:tcPr anchor="ctr">
                    <a:solidFill>
                      <a:schemeClr val="accent2"/>
                    </a:solidFill>
                  </a:tcPr>
                </a:tc>
                <a:tc>
                  <a:txBody>
                    <a:bodyPr/>
                    <a:lstStyle/>
                    <a:p>
                      <a:pPr algn="ctr"/>
                      <a:r>
                        <a:rPr lang="en-US" sz="1200" b="1" dirty="0">
                          <a:latin typeface="Barlow" panose="00000500000000000000" pitchFamily="2" charset="0"/>
                        </a:rPr>
                        <a:t>Rating range</a:t>
                      </a:r>
                    </a:p>
                  </a:txBody>
                  <a:tcPr anchor="ctr">
                    <a:solidFill>
                      <a:schemeClr val="accent2"/>
                    </a:solidFill>
                  </a:tcPr>
                </a:tc>
                <a:extLst>
                  <a:ext uri="{0D108BD9-81ED-4DB2-BD59-A6C34878D82A}">
                    <a16:rowId xmlns:a16="http://schemas.microsoft.com/office/drawing/2014/main" val="814928167"/>
                  </a:ext>
                </a:extLst>
              </a:tr>
              <a:tr h="873492">
                <a:tc>
                  <a:txBody>
                    <a:bodyPr/>
                    <a:lstStyle/>
                    <a:p>
                      <a:pPr algn="ctr"/>
                      <a:r>
                        <a:rPr lang="en-US" sz="1200" dirty="0">
                          <a:latin typeface="Barlow" panose="00000500000000000000" pitchFamily="2" charset="0"/>
                        </a:rPr>
                        <a:t>Equity risk rating</a:t>
                      </a:r>
                    </a:p>
                  </a:txBody>
                  <a:tcPr anchor="ctr"/>
                </a:tc>
                <a:tc>
                  <a:txBody>
                    <a:bodyPr/>
                    <a:lstStyle/>
                    <a:p>
                      <a:pPr marL="342900" indent="-342900" algn="l">
                        <a:buAutoNum type="arabicPeriod"/>
                      </a:pPr>
                      <a:r>
                        <a:rPr lang="en-US" sz="1200" dirty="0">
                          <a:latin typeface="Barlow" panose="00000500000000000000" pitchFamily="2" charset="0"/>
                        </a:rPr>
                        <a:t>For a single scrip – EOD</a:t>
                      </a:r>
                    </a:p>
                    <a:p>
                      <a:pPr marL="342900" indent="-342900" algn="l">
                        <a:buAutoNum type="arabicPeriod"/>
                      </a:pPr>
                      <a:r>
                        <a:rPr lang="en-US" sz="1200" dirty="0">
                          <a:latin typeface="Barlow" panose="00000500000000000000" pitchFamily="2" charset="0"/>
                        </a:rPr>
                        <a:t>For a list can take another day</a:t>
                      </a:r>
                    </a:p>
                  </a:txBody>
                  <a:tcPr anchor="ctr"/>
                </a:tc>
                <a:tc>
                  <a:txBody>
                    <a:bodyPr/>
                    <a:lstStyle/>
                    <a:p>
                      <a:pPr marL="171450" indent="-171450" algn="ctr">
                        <a:buFont typeface="Arial" panose="020B0604020202020204" pitchFamily="34" charset="0"/>
                        <a:buChar char="•"/>
                      </a:pPr>
                      <a:r>
                        <a:rPr lang="en-US" sz="1200" dirty="0">
                          <a:latin typeface="Barlow" panose="00000500000000000000" pitchFamily="2" charset="0"/>
                        </a:rPr>
                        <a:t>Promoter pledge</a:t>
                      </a:r>
                    </a:p>
                    <a:p>
                      <a:pPr marL="171450" indent="-171450" algn="ctr">
                        <a:buFont typeface="Arial" panose="020B0604020202020204" pitchFamily="34" charset="0"/>
                        <a:buChar char="•"/>
                      </a:pPr>
                      <a:r>
                        <a:rPr lang="en-US" sz="1200" dirty="0">
                          <a:latin typeface="Barlow" panose="00000500000000000000" pitchFamily="2" charset="0"/>
                        </a:rPr>
                        <a:t>BSE VAR</a:t>
                      </a:r>
                    </a:p>
                    <a:p>
                      <a:pPr marL="171450" indent="-171450" algn="ctr">
                        <a:buFont typeface="Arial" panose="020B0604020202020204" pitchFamily="34" charset="0"/>
                        <a:buChar char="•"/>
                      </a:pPr>
                      <a:r>
                        <a:rPr lang="en-US" sz="1200" dirty="0">
                          <a:latin typeface="Barlow" panose="00000500000000000000" pitchFamily="2" charset="0"/>
                        </a:rPr>
                        <a:t>Funding by peers</a:t>
                      </a:r>
                    </a:p>
                    <a:p>
                      <a:pPr marL="171450" indent="-171450" algn="ctr">
                        <a:buFont typeface="Arial" panose="020B0604020202020204" pitchFamily="34" charset="0"/>
                        <a:buChar char="•"/>
                      </a:pPr>
                      <a:r>
                        <a:rPr lang="en-US" sz="1200" dirty="0">
                          <a:latin typeface="Barlow" panose="00000500000000000000" pitchFamily="2" charset="0"/>
                        </a:rPr>
                        <a:t>Negative news</a:t>
                      </a:r>
                    </a:p>
                  </a:txBody>
                  <a:tcPr anchor="ctr"/>
                </a:tc>
                <a:tc>
                  <a:txBody>
                    <a:bodyPr/>
                    <a:lstStyle/>
                    <a:p>
                      <a:pPr marL="171450" indent="-171450" algn="ctr">
                        <a:buFont typeface="Arial" panose="020B0604020202020204" pitchFamily="34" charset="0"/>
                        <a:buChar char="•"/>
                      </a:pPr>
                      <a:r>
                        <a:rPr lang="en-US" sz="1200" dirty="0">
                          <a:latin typeface="Barlow" panose="00000500000000000000" pitchFamily="2" charset="0"/>
                        </a:rPr>
                        <a:t>Don’t reply to external mail from brokers directly, tag business team in rating</a:t>
                      </a:r>
                    </a:p>
                  </a:txBody>
                  <a:tcPr anchor="ctr"/>
                </a:tc>
                <a:tc>
                  <a:txBody>
                    <a:bodyPr/>
                    <a:lstStyle/>
                    <a:p>
                      <a:pPr marL="171450" indent="-171450" algn="ctr">
                        <a:buFont typeface="Arial" panose="020B0604020202020204" pitchFamily="34" charset="0"/>
                        <a:buChar char="•"/>
                      </a:pPr>
                      <a:r>
                        <a:rPr lang="en-US" sz="1200" dirty="0" err="1">
                          <a:latin typeface="Barlow" panose="00000500000000000000" pitchFamily="2" charset="0"/>
                        </a:rPr>
                        <a:t>Bluechip</a:t>
                      </a:r>
                      <a:r>
                        <a:rPr lang="en-US" sz="1200" dirty="0">
                          <a:latin typeface="Barlow" panose="00000500000000000000" pitchFamily="2" charset="0"/>
                        </a:rPr>
                        <a:t> (only to F&amp;O stocks) to Poor (restricted)</a:t>
                      </a:r>
                    </a:p>
                  </a:txBody>
                  <a:tcPr anchor="ctr"/>
                </a:tc>
                <a:extLst>
                  <a:ext uri="{0D108BD9-81ED-4DB2-BD59-A6C34878D82A}">
                    <a16:rowId xmlns:a16="http://schemas.microsoft.com/office/drawing/2014/main" val="841757088"/>
                  </a:ext>
                </a:extLst>
              </a:tr>
              <a:tr h="739611">
                <a:tc>
                  <a:txBody>
                    <a:bodyPr/>
                    <a:lstStyle/>
                    <a:p>
                      <a:pPr algn="ctr"/>
                      <a:r>
                        <a:rPr lang="en-US" sz="1200" dirty="0">
                          <a:latin typeface="Barlow" panose="00000500000000000000" pitchFamily="2" charset="0"/>
                        </a:rPr>
                        <a:t>IPO </a:t>
                      </a:r>
                    </a:p>
                  </a:txBody>
                  <a:tcPr anchor="ctr"/>
                </a:tc>
                <a:tc>
                  <a:txBody>
                    <a:bodyPr/>
                    <a:lstStyle/>
                    <a:p>
                      <a:pPr marL="228600" indent="-228600" algn="l">
                        <a:buFont typeface="+mj-lt"/>
                        <a:buAutoNum type="arabicPeriod"/>
                      </a:pPr>
                      <a:r>
                        <a:rPr lang="en-US" sz="1200" dirty="0">
                          <a:latin typeface="Barlow" panose="00000500000000000000" pitchFamily="2" charset="0"/>
                        </a:rPr>
                        <a:t>At least a day before IPO lists</a:t>
                      </a:r>
                    </a:p>
                  </a:txBody>
                  <a:tcPr anchor="ctr"/>
                </a:tc>
                <a:tc>
                  <a:txBody>
                    <a:bodyPr/>
                    <a:lstStyle/>
                    <a:p>
                      <a:pPr marL="171450" indent="-171450" algn="ctr">
                        <a:buFont typeface="Arial" panose="020B0604020202020204" pitchFamily="34" charset="0"/>
                        <a:buChar char="•"/>
                      </a:pPr>
                      <a:r>
                        <a:rPr lang="en-US" sz="1200" dirty="0">
                          <a:latin typeface="Barlow" panose="00000500000000000000" pitchFamily="2" charset="0"/>
                        </a:rPr>
                        <a:t>GMP</a:t>
                      </a:r>
                    </a:p>
                  </a:txBody>
                  <a:tcPr anchor="ctr"/>
                </a:tc>
                <a:tc>
                  <a:txBody>
                    <a:bodyPr/>
                    <a:lstStyle/>
                    <a:p>
                      <a:pPr marL="171450" indent="-171450" algn="ctr">
                        <a:buFont typeface="Arial" panose="020B0604020202020204" pitchFamily="34" charset="0"/>
                        <a:buChar char="•"/>
                      </a:pPr>
                      <a:r>
                        <a:rPr lang="en-US" sz="1200" dirty="0">
                          <a:latin typeface="Barlow" panose="00000500000000000000" pitchFamily="2" charset="0"/>
                        </a:rPr>
                        <a:t>We don’t rate SME IPO’s.</a:t>
                      </a:r>
                    </a:p>
                    <a:p>
                      <a:pPr marL="171450" indent="-171450" algn="ctr">
                        <a:buFont typeface="Arial" panose="020B0604020202020204" pitchFamily="34" charset="0"/>
                        <a:buChar char="•"/>
                      </a:pPr>
                      <a:r>
                        <a:rPr lang="en-US" sz="1200" dirty="0">
                          <a:latin typeface="Barlow" panose="00000500000000000000" pitchFamily="2" charset="0"/>
                        </a:rPr>
                        <a:t>Needs to be self-monitored</a:t>
                      </a:r>
                    </a:p>
                  </a:txBody>
                  <a:tcPr anchor="ctr"/>
                </a:tc>
                <a:tc>
                  <a:txBody>
                    <a:bodyPr/>
                    <a:lstStyle/>
                    <a:p>
                      <a:pPr marL="171450" indent="-171450" algn="ctr">
                        <a:buFont typeface="Arial" panose="020B0604020202020204" pitchFamily="34" charset="0"/>
                        <a:buChar char="•"/>
                      </a:pPr>
                      <a:r>
                        <a:rPr lang="en-US" sz="1200" dirty="0">
                          <a:latin typeface="Barlow" panose="00000500000000000000" pitchFamily="2" charset="0"/>
                        </a:rPr>
                        <a:t>Average to Poor (restricted)</a:t>
                      </a:r>
                    </a:p>
                  </a:txBody>
                  <a:tcPr anchor="ctr"/>
                </a:tc>
                <a:extLst>
                  <a:ext uri="{0D108BD9-81ED-4DB2-BD59-A6C34878D82A}">
                    <a16:rowId xmlns:a16="http://schemas.microsoft.com/office/drawing/2014/main" val="574368306"/>
                  </a:ext>
                </a:extLst>
              </a:tr>
              <a:tr h="727910">
                <a:tc>
                  <a:txBody>
                    <a:bodyPr/>
                    <a:lstStyle/>
                    <a:p>
                      <a:pPr algn="ctr"/>
                      <a:r>
                        <a:rPr lang="en-US" sz="1200" dirty="0">
                          <a:latin typeface="Barlow" panose="00000500000000000000" pitchFamily="2" charset="0"/>
                        </a:rPr>
                        <a:t>MF risk ratings</a:t>
                      </a:r>
                    </a:p>
                  </a:txBody>
                  <a:tcPr anchor="ctr"/>
                </a:tc>
                <a:tc>
                  <a:txBody>
                    <a:bodyPr/>
                    <a:lstStyle/>
                    <a:p>
                      <a:pPr marL="342900" indent="-342900" algn="l">
                        <a:buAutoNum type="arabicPeriod"/>
                      </a:pPr>
                      <a:r>
                        <a:rPr lang="en-US" sz="1200" dirty="0">
                          <a:latin typeface="Barlow" panose="00000500000000000000" pitchFamily="2" charset="0"/>
                        </a:rPr>
                        <a:t>For a single scrip – EOD</a:t>
                      </a:r>
                    </a:p>
                    <a:p>
                      <a:pPr marL="342900" indent="-342900" algn="l">
                        <a:buAutoNum type="arabicPeriod"/>
                      </a:pPr>
                      <a:r>
                        <a:rPr lang="en-US" sz="1200" dirty="0">
                          <a:latin typeface="Barlow" panose="00000500000000000000" pitchFamily="2" charset="0"/>
                        </a:rPr>
                        <a:t>For a list can take another day</a:t>
                      </a:r>
                    </a:p>
                  </a:txBody>
                  <a:tcPr anchor="ctr"/>
                </a:tc>
                <a:tc>
                  <a:txBody>
                    <a:bodyPr/>
                    <a:lstStyle/>
                    <a:p>
                      <a:pPr algn="ctr"/>
                      <a:endParaRPr lang="en-US" sz="1200" dirty="0">
                        <a:latin typeface="Barlow" panose="00000500000000000000" pitchFamily="2" charset="0"/>
                      </a:endParaRPr>
                    </a:p>
                  </a:txBody>
                  <a:tcPr anchor="ctr"/>
                </a:tc>
                <a:tc>
                  <a:txBody>
                    <a:bodyPr/>
                    <a:lstStyle/>
                    <a:p>
                      <a:pPr marL="171450" indent="-171450" algn="ctr">
                        <a:buFont typeface="Arial" panose="020B0604020202020204" pitchFamily="34" charset="0"/>
                        <a:buChar char="•"/>
                      </a:pPr>
                      <a:r>
                        <a:rPr lang="en-US" sz="1200" dirty="0">
                          <a:latin typeface="Barlow" panose="00000500000000000000" pitchFamily="2" charset="0"/>
                        </a:rPr>
                        <a:t>If cannot find on NAV, try searching for prior months</a:t>
                      </a:r>
                    </a:p>
                  </a:txBody>
                  <a:tcPr anchor="ctr"/>
                </a:tc>
                <a:tc>
                  <a:txBody>
                    <a:bodyPr/>
                    <a:lstStyle/>
                    <a:p>
                      <a:pPr marL="171450" indent="-171450" algn="ctr">
                        <a:buFont typeface="Arial" panose="020B0604020202020204" pitchFamily="34" charset="0"/>
                        <a:buChar char="•"/>
                      </a:pPr>
                      <a:r>
                        <a:rPr lang="en-US" sz="1200" dirty="0">
                          <a:latin typeface="Barlow" panose="00000500000000000000" pitchFamily="2" charset="0"/>
                        </a:rPr>
                        <a:t>Good to Poor</a:t>
                      </a:r>
                    </a:p>
                  </a:txBody>
                  <a:tcPr anchor="ctr"/>
                </a:tc>
                <a:extLst>
                  <a:ext uri="{0D108BD9-81ED-4DB2-BD59-A6C34878D82A}">
                    <a16:rowId xmlns:a16="http://schemas.microsoft.com/office/drawing/2014/main" val="489738069"/>
                  </a:ext>
                </a:extLst>
              </a:tr>
              <a:tr h="729643">
                <a:tc>
                  <a:txBody>
                    <a:bodyPr/>
                    <a:lstStyle/>
                    <a:p>
                      <a:pPr algn="ctr"/>
                      <a:r>
                        <a:rPr lang="en-US" sz="1200" dirty="0">
                          <a:latin typeface="Barlow" panose="00000500000000000000" pitchFamily="2" charset="0"/>
                        </a:rPr>
                        <a:t>ETF’s</a:t>
                      </a:r>
                    </a:p>
                  </a:txBody>
                  <a:tcPr anchor="ctr"/>
                </a:tc>
                <a:tc>
                  <a:txBody>
                    <a:bodyPr/>
                    <a:lstStyle/>
                    <a:p>
                      <a:pPr marL="342900" indent="-342900" algn="l">
                        <a:buAutoNum type="arabicPeriod"/>
                      </a:pPr>
                      <a:r>
                        <a:rPr lang="en-US" sz="1200" dirty="0">
                          <a:latin typeface="Barlow" panose="00000500000000000000" pitchFamily="2" charset="0"/>
                        </a:rPr>
                        <a:t>For a single ETF – EOD</a:t>
                      </a:r>
                    </a:p>
                    <a:p>
                      <a:pPr marL="342900" indent="-342900" algn="l">
                        <a:buAutoNum type="arabicPeriod"/>
                      </a:pPr>
                      <a:r>
                        <a:rPr lang="en-US" sz="1200" dirty="0">
                          <a:latin typeface="Barlow" panose="00000500000000000000" pitchFamily="2" charset="0"/>
                        </a:rPr>
                        <a:t>For a list can take another day</a:t>
                      </a:r>
                    </a:p>
                  </a:txBody>
                  <a:tcPr anchor="ctr"/>
                </a:tc>
                <a:tc>
                  <a:txBody>
                    <a:bodyPr/>
                    <a:lstStyle/>
                    <a:p>
                      <a:pPr marL="171450" indent="-171450" algn="ctr">
                        <a:buFont typeface="Arial" panose="020B0604020202020204" pitchFamily="34" charset="0"/>
                        <a:buChar char="•"/>
                      </a:pPr>
                      <a:r>
                        <a:rPr lang="en-US" sz="1200" dirty="0">
                          <a:latin typeface="Barlow" panose="00000500000000000000" pitchFamily="2" charset="0"/>
                        </a:rPr>
                        <a:t>Daily turnover when portfolio rating is not possible through rules</a:t>
                      </a:r>
                    </a:p>
                  </a:txBody>
                  <a:tcPr anchor="ctr"/>
                </a:tc>
                <a:tc>
                  <a:txBody>
                    <a:bodyPr/>
                    <a:lstStyle/>
                    <a:p>
                      <a:pPr algn="ctr"/>
                      <a:endParaRPr lang="en-US" sz="1200" dirty="0">
                        <a:latin typeface="Barlow" panose="00000500000000000000" pitchFamily="2" charset="0"/>
                      </a:endParaRPr>
                    </a:p>
                  </a:txBody>
                  <a:tcPr anchor="ctr"/>
                </a:tc>
                <a:tc>
                  <a:txBody>
                    <a:bodyPr/>
                    <a:lstStyle/>
                    <a:p>
                      <a:pPr marL="171450" indent="-171450" algn="ctr">
                        <a:buFont typeface="Arial" panose="020B0604020202020204" pitchFamily="34" charset="0"/>
                        <a:buChar char="•"/>
                      </a:pPr>
                      <a:r>
                        <a:rPr lang="en-US" sz="1200" dirty="0">
                          <a:latin typeface="Barlow" panose="00000500000000000000" pitchFamily="2" charset="0"/>
                        </a:rPr>
                        <a:t>Good to Poor</a:t>
                      </a:r>
                    </a:p>
                  </a:txBody>
                  <a:tcPr anchor="ctr"/>
                </a:tc>
                <a:extLst>
                  <a:ext uri="{0D108BD9-81ED-4DB2-BD59-A6C34878D82A}">
                    <a16:rowId xmlns:a16="http://schemas.microsoft.com/office/drawing/2014/main" val="2628236132"/>
                  </a:ext>
                </a:extLst>
              </a:tr>
              <a:tr h="729643">
                <a:tc>
                  <a:txBody>
                    <a:bodyPr/>
                    <a:lstStyle/>
                    <a:p>
                      <a:pPr algn="ctr"/>
                      <a:r>
                        <a:rPr lang="en-US" sz="1200" dirty="0">
                          <a:latin typeface="Barlow" panose="00000500000000000000" pitchFamily="2" charset="0"/>
                        </a:rPr>
                        <a:t>T-Bills/goi loans</a:t>
                      </a:r>
                    </a:p>
                  </a:txBody>
                  <a:tcPr anchor="ctr"/>
                </a:tc>
                <a:tc>
                  <a:txBody>
                    <a:bodyPr/>
                    <a:lstStyle/>
                    <a:p>
                      <a:pPr marL="342900" indent="-342900" algn="l">
                        <a:buAutoNum type="arabicPeriod"/>
                      </a:pPr>
                      <a:r>
                        <a:rPr lang="en-US" sz="1200" dirty="0">
                          <a:latin typeface="Barlow" panose="00000500000000000000" pitchFamily="2" charset="0"/>
                        </a:rPr>
                        <a:t>For a single ETF – EOD</a:t>
                      </a:r>
                    </a:p>
                    <a:p>
                      <a:pPr marL="342900" indent="-342900" algn="l">
                        <a:buAutoNum type="arabicPeriod"/>
                      </a:pPr>
                      <a:r>
                        <a:rPr lang="en-US" sz="1200" dirty="0">
                          <a:latin typeface="Barlow" panose="00000500000000000000" pitchFamily="2" charset="0"/>
                        </a:rPr>
                        <a:t>For a list can take another day</a:t>
                      </a:r>
                    </a:p>
                  </a:txBody>
                  <a:tcPr anchor="ctr"/>
                </a:tc>
                <a:tc>
                  <a:txBody>
                    <a:bodyPr/>
                    <a:lstStyle/>
                    <a:p>
                      <a:pPr algn="ctr"/>
                      <a:endParaRPr lang="en-US" sz="1200" dirty="0">
                        <a:latin typeface="Barlow" panose="00000500000000000000" pitchFamily="2" charset="0"/>
                      </a:endParaRPr>
                    </a:p>
                  </a:txBody>
                  <a:tcPr anchor="ctr"/>
                </a:tc>
                <a:tc>
                  <a:txBody>
                    <a:bodyPr/>
                    <a:lstStyle/>
                    <a:p>
                      <a:pPr marL="171450" indent="-171450" algn="ctr">
                        <a:buFont typeface="Arial" panose="020B0604020202020204" pitchFamily="34" charset="0"/>
                        <a:buChar char="•"/>
                      </a:pPr>
                      <a:r>
                        <a:rPr lang="en-US" sz="1200" dirty="0">
                          <a:latin typeface="Barlow" panose="00000500000000000000" pitchFamily="2" charset="0"/>
                        </a:rPr>
                        <a:t>Poor rating for T-Bills/</a:t>
                      </a:r>
                      <a:r>
                        <a:rPr lang="en-US" sz="1200" dirty="0" err="1">
                          <a:latin typeface="Barlow" panose="00000500000000000000" pitchFamily="2" charset="0"/>
                        </a:rPr>
                        <a:t>GoIloans</a:t>
                      </a:r>
                      <a:r>
                        <a:rPr lang="en-US" sz="1200" dirty="0">
                          <a:latin typeface="Barlow" panose="00000500000000000000" pitchFamily="2" charset="0"/>
                        </a:rPr>
                        <a:t>  maturing in short term (3-6 months)</a:t>
                      </a:r>
                    </a:p>
                  </a:txBody>
                  <a:tcPr anchor="ctr"/>
                </a:tc>
                <a:tc>
                  <a:txBody>
                    <a:bodyPr/>
                    <a:lstStyle/>
                    <a:p>
                      <a:pPr marL="171450" indent="-171450" algn="ctr">
                        <a:buFont typeface="Arial" panose="020B0604020202020204" pitchFamily="34" charset="0"/>
                        <a:buChar char="•"/>
                      </a:pPr>
                      <a:r>
                        <a:rPr lang="en-US" sz="1200" dirty="0">
                          <a:latin typeface="Barlow" panose="00000500000000000000" pitchFamily="2" charset="0"/>
                        </a:rPr>
                        <a:t>Good to Poor</a:t>
                      </a:r>
                    </a:p>
                  </a:txBody>
                  <a:tcPr anchor="ctr"/>
                </a:tc>
                <a:extLst>
                  <a:ext uri="{0D108BD9-81ED-4DB2-BD59-A6C34878D82A}">
                    <a16:rowId xmlns:a16="http://schemas.microsoft.com/office/drawing/2014/main" val="4205917178"/>
                  </a:ext>
                </a:extLst>
              </a:tr>
              <a:tr h="729643">
                <a:tc>
                  <a:txBody>
                    <a:bodyPr/>
                    <a:lstStyle/>
                    <a:p>
                      <a:pPr algn="ctr"/>
                      <a:r>
                        <a:rPr lang="en-US" sz="1200" dirty="0">
                          <a:latin typeface="Barlow" panose="00000500000000000000" pitchFamily="2" charset="0"/>
                        </a:rPr>
                        <a:t>Volume turnover data</a:t>
                      </a:r>
                    </a:p>
                  </a:txBody>
                  <a:tcPr anchor="ctr"/>
                </a:tc>
                <a:tc>
                  <a:txBody>
                    <a:bodyPr/>
                    <a:lstStyle/>
                    <a:p>
                      <a:pPr marL="228600" indent="-228600" algn="l">
                        <a:buFont typeface="+mj-lt"/>
                        <a:buAutoNum type="arabicPeriod"/>
                      </a:pPr>
                      <a:r>
                        <a:rPr lang="en-US" sz="1200" dirty="0">
                          <a:latin typeface="Barlow" panose="00000500000000000000" pitchFamily="2" charset="0"/>
                        </a:rPr>
                        <a:t>Every 1</a:t>
                      </a:r>
                      <a:r>
                        <a:rPr lang="en-US" sz="1200" baseline="30000" dirty="0">
                          <a:latin typeface="Barlow" panose="00000500000000000000" pitchFamily="2" charset="0"/>
                        </a:rPr>
                        <a:t>st</a:t>
                      </a:r>
                      <a:r>
                        <a:rPr lang="en-US" sz="1200" dirty="0">
                          <a:latin typeface="Barlow" panose="00000500000000000000" pitchFamily="2" charset="0"/>
                        </a:rPr>
                        <a:t> of the month, Can do on next working day if 1</a:t>
                      </a:r>
                      <a:r>
                        <a:rPr lang="en-US" sz="1200" baseline="30000" dirty="0">
                          <a:latin typeface="Barlow" panose="00000500000000000000" pitchFamily="2" charset="0"/>
                        </a:rPr>
                        <a:t>st</a:t>
                      </a:r>
                      <a:r>
                        <a:rPr lang="en-US" sz="1200" dirty="0">
                          <a:latin typeface="Barlow" panose="00000500000000000000" pitchFamily="2" charset="0"/>
                        </a:rPr>
                        <a:t> is a off. </a:t>
                      </a:r>
                    </a:p>
                  </a:txBody>
                  <a:tcPr anchor="ctr"/>
                </a:tc>
                <a:tc>
                  <a:txBody>
                    <a:bodyPr/>
                    <a:lstStyle/>
                    <a:p>
                      <a:pPr algn="ctr"/>
                      <a:r>
                        <a:rPr lang="en-US" sz="1200" dirty="0">
                          <a:latin typeface="Barlow" panose="00000500000000000000" pitchFamily="2" charset="0"/>
                        </a:rPr>
                        <a:t>Hygienic check on the number of stocks in the list</a:t>
                      </a:r>
                    </a:p>
                  </a:txBody>
                  <a:tcPr anchor="ctr"/>
                </a:tc>
                <a:tc>
                  <a:txBody>
                    <a:bodyPr/>
                    <a:lstStyle/>
                    <a:p>
                      <a:pPr marL="171450" indent="-171450" algn="ctr">
                        <a:buFont typeface="Arial" panose="020B0604020202020204" pitchFamily="34" charset="0"/>
                        <a:buChar char="•"/>
                      </a:pPr>
                      <a:r>
                        <a:rPr lang="en-US" sz="1200" dirty="0">
                          <a:latin typeface="Barlow" panose="00000500000000000000" pitchFamily="2" charset="0"/>
                        </a:rPr>
                        <a:t>Use “Volume Turnover” screener in Cline</a:t>
                      </a:r>
                    </a:p>
                  </a:txBody>
                  <a:tcPr anchor="ctr"/>
                </a:tc>
                <a:tc>
                  <a:txBody>
                    <a:bodyPr/>
                    <a:lstStyle/>
                    <a:p>
                      <a:pPr algn="ctr"/>
                      <a:endParaRPr lang="en-US" sz="1200" dirty="0">
                        <a:latin typeface="Barlow" panose="00000500000000000000" pitchFamily="2" charset="0"/>
                      </a:endParaRPr>
                    </a:p>
                  </a:txBody>
                  <a:tcPr anchor="ctr"/>
                </a:tc>
                <a:extLst>
                  <a:ext uri="{0D108BD9-81ED-4DB2-BD59-A6C34878D82A}">
                    <a16:rowId xmlns:a16="http://schemas.microsoft.com/office/drawing/2014/main" val="258183900"/>
                  </a:ext>
                </a:extLst>
              </a:tr>
            </a:tbl>
          </a:graphicData>
        </a:graphic>
      </p:graphicFrame>
      <p:sp>
        <p:nvSpPr>
          <p:cNvPr id="3" name="GVCLASSIFICATIONFOOTERCenter0">
            <a:extLst>
              <a:ext uri="{FF2B5EF4-FFF2-40B4-BE49-F238E27FC236}">
                <a16:creationId xmlns:a16="http://schemas.microsoft.com/office/drawing/2014/main" id="{9158CAE7-EC96-7B16-03AC-D91AEDF3AFB9}"/>
              </a:ext>
            </a:extLst>
          </p:cNvPr>
          <p:cNvSpPr txBox="1"/>
          <p:nvPr/>
        </p:nvSpPr>
        <p:spPr>
          <a:xfrm>
            <a:off x="0" y="6611779"/>
            <a:ext cx="12192000" cy="246221"/>
          </a:xfrm>
          <a:prstGeom prst="rect">
            <a:avLst/>
          </a:prstGeom>
          <a:noFill/>
        </p:spPr>
        <p:txBody>
          <a:bodyPr vert="horz" wrap="square" rtlCol="0">
            <a:spAutoFit/>
          </a:bodyPr>
          <a:lstStyle/>
          <a:p>
            <a:pPr algn="ctr"/>
            <a:r>
              <a:rPr lang="en-US" sz="1000">
                <a:solidFill>
                  <a:srgbClr val="0303FE"/>
                </a:solidFill>
              </a:rPr>
              <a:t>Classified as Internal</a:t>
            </a:r>
          </a:p>
        </p:txBody>
      </p:sp>
    </p:spTree>
    <p:extLst>
      <p:ext uri="{BB962C8B-B14F-4D97-AF65-F5344CB8AC3E}">
        <p14:creationId xmlns:p14="http://schemas.microsoft.com/office/powerpoint/2010/main" val="1529479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Flow and rules</a:t>
            </a:r>
          </a:p>
        </p:txBody>
      </p:sp>
      <p:sp>
        <p:nvSpPr>
          <p:cNvPr id="4" name="TextBox 3">
            <a:extLst>
              <a:ext uri="{FF2B5EF4-FFF2-40B4-BE49-F238E27FC236}">
                <a16:creationId xmlns:a16="http://schemas.microsoft.com/office/drawing/2014/main" id="{776D4963-0FCA-6FC8-1890-9443F6451B41}"/>
              </a:ext>
            </a:extLst>
          </p:cNvPr>
          <p:cNvSpPr txBox="1"/>
          <p:nvPr/>
        </p:nvSpPr>
        <p:spPr>
          <a:xfrm>
            <a:off x="209800" y="808196"/>
            <a:ext cx="11520382" cy="1046440"/>
          </a:xfrm>
          <a:prstGeom prst="rect">
            <a:avLst/>
          </a:prstGeom>
          <a:noFill/>
        </p:spPr>
        <p:txBody>
          <a:bodyPr wrap="square" rtlCol="0">
            <a:spAutoFit/>
          </a:bodyPr>
          <a:lstStyle/>
          <a:p>
            <a:r>
              <a:rPr lang="en-US" sz="1400" b="1" dirty="0">
                <a:latin typeface="Barlow" panose="00000500000000000000" pitchFamily="2" charset="0"/>
              </a:rPr>
              <a:t>Equity risk rating</a:t>
            </a:r>
            <a:r>
              <a:rPr lang="en-US" sz="1200" dirty="0">
                <a:latin typeface="Barlow" panose="00000500000000000000" pitchFamily="2" charset="0"/>
              </a:rPr>
              <a:t> </a:t>
            </a:r>
          </a:p>
          <a:p>
            <a:endParaRPr lang="en-US" sz="1200" dirty="0">
              <a:latin typeface="Barlow" panose="00000500000000000000" pitchFamily="2" charset="0"/>
            </a:endParaRPr>
          </a:p>
          <a:p>
            <a:pPr marL="171450" indent="-171450">
              <a:buFont typeface="Arial" panose="020B0604020202020204" pitchFamily="34" charset="0"/>
              <a:buChar char="•"/>
            </a:pPr>
            <a:r>
              <a:rPr lang="en-US" sz="1200" dirty="0">
                <a:latin typeface="Barlow" panose="00000500000000000000" pitchFamily="2" charset="0"/>
              </a:rPr>
              <a:t>Mail check: Tag Mohit in the replies of all mails. </a:t>
            </a:r>
          </a:p>
          <a:p>
            <a:pPr marL="171450" indent="-171450">
              <a:buFont typeface="Arial" panose="020B0604020202020204" pitchFamily="34" charset="0"/>
              <a:buChar char="•"/>
            </a:pPr>
            <a:r>
              <a:rPr lang="en-US" sz="1200" dirty="0">
                <a:latin typeface="Barlow" panose="00000500000000000000" pitchFamily="2" charset="0"/>
              </a:rPr>
              <a:t>Process: Various Financial criteria are used to grade the stock as Blue Chip, Good, Average, Poor or Restricted. Let’s go through the above-mentioned criteria and their sub-criteria:</a:t>
            </a:r>
          </a:p>
        </p:txBody>
      </p:sp>
      <p:graphicFrame>
        <p:nvGraphicFramePr>
          <p:cNvPr id="5" name="Table 4">
            <a:extLst>
              <a:ext uri="{FF2B5EF4-FFF2-40B4-BE49-F238E27FC236}">
                <a16:creationId xmlns:a16="http://schemas.microsoft.com/office/drawing/2014/main" id="{93B5C4A1-5508-8AE3-E0B9-8B66E4617978}"/>
              </a:ext>
            </a:extLst>
          </p:cNvPr>
          <p:cNvGraphicFramePr>
            <a:graphicFrameLocks noGrp="1"/>
          </p:cNvGraphicFramePr>
          <p:nvPr>
            <p:extLst>
              <p:ext uri="{D42A27DB-BD31-4B8C-83A1-F6EECF244321}">
                <p14:modId xmlns:p14="http://schemas.microsoft.com/office/powerpoint/2010/main" val="427898252"/>
              </p:ext>
            </p:extLst>
          </p:nvPr>
        </p:nvGraphicFramePr>
        <p:xfrm>
          <a:off x="456292" y="2074628"/>
          <a:ext cx="10607946" cy="3668771"/>
        </p:xfrm>
        <a:graphic>
          <a:graphicData uri="http://schemas.openxmlformats.org/drawingml/2006/table">
            <a:tbl>
              <a:tblPr firstRow="1" bandRow="1">
                <a:tableStyleId>{2D5ABB26-0587-4C30-8999-92F81FD0307C}</a:tableStyleId>
              </a:tblPr>
              <a:tblGrid>
                <a:gridCol w="1365067">
                  <a:extLst>
                    <a:ext uri="{9D8B030D-6E8A-4147-A177-3AD203B41FA5}">
                      <a16:colId xmlns:a16="http://schemas.microsoft.com/office/drawing/2014/main" val="652274257"/>
                    </a:ext>
                  </a:extLst>
                </a:gridCol>
                <a:gridCol w="1365067">
                  <a:extLst>
                    <a:ext uri="{9D8B030D-6E8A-4147-A177-3AD203B41FA5}">
                      <a16:colId xmlns:a16="http://schemas.microsoft.com/office/drawing/2014/main" val="2467495412"/>
                    </a:ext>
                  </a:extLst>
                </a:gridCol>
                <a:gridCol w="1663627">
                  <a:extLst>
                    <a:ext uri="{9D8B030D-6E8A-4147-A177-3AD203B41FA5}">
                      <a16:colId xmlns:a16="http://schemas.microsoft.com/office/drawing/2014/main" val="1225241388"/>
                    </a:ext>
                  </a:extLst>
                </a:gridCol>
                <a:gridCol w="1327227">
                  <a:extLst>
                    <a:ext uri="{9D8B030D-6E8A-4147-A177-3AD203B41FA5}">
                      <a16:colId xmlns:a16="http://schemas.microsoft.com/office/drawing/2014/main" val="175532399"/>
                    </a:ext>
                  </a:extLst>
                </a:gridCol>
                <a:gridCol w="1310640">
                  <a:extLst>
                    <a:ext uri="{9D8B030D-6E8A-4147-A177-3AD203B41FA5}">
                      <a16:colId xmlns:a16="http://schemas.microsoft.com/office/drawing/2014/main" val="2289287481"/>
                    </a:ext>
                  </a:extLst>
                </a:gridCol>
                <a:gridCol w="1205960">
                  <a:extLst>
                    <a:ext uri="{9D8B030D-6E8A-4147-A177-3AD203B41FA5}">
                      <a16:colId xmlns:a16="http://schemas.microsoft.com/office/drawing/2014/main" val="1637185359"/>
                    </a:ext>
                  </a:extLst>
                </a:gridCol>
                <a:gridCol w="1232440">
                  <a:extLst>
                    <a:ext uri="{9D8B030D-6E8A-4147-A177-3AD203B41FA5}">
                      <a16:colId xmlns:a16="http://schemas.microsoft.com/office/drawing/2014/main" val="1660766979"/>
                    </a:ext>
                  </a:extLst>
                </a:gridCol>
                <a:gridCol w="1137918">
                  <a:extLst>
                    <a:ext uri="{9D8B030D-6E8A-4147-A177-3AD203B41FA5}">
                      <a16:colId xmlns:a16="http://schemas.microsoft.com/office/drawing/2014/main" val="577031856"/>
                    </a:ext>
                  </a:extLst>
                </a:gridCol>
              </a:tblGrid>
              <a:tr h="567102">
                <a:tc>
                  <a:txBody>
                    <a:bodyPr/>
                    <a:lstStyle/>
                    <a:p>
                      <a:pPr algn="ctr"/>
                      <a:r>
                        <a:rPr lang="en-US" sz="1200" b="1" dirty="0">
                          <a:latin typeface="Barlow" panose="00000500000000000000" pitchFamily="2" charset="0"/>
                        </a:rPr>
                        <a:t>Criteria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en-US" sz="1200" b="1"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1" dirty="0">
                          <a:latin typeface="Barlow" panose="00000500000000000000" pitchFamily="2" charset="0"/>
                        </a:rPr>
                        <a:t>Sub-criteria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1" kern="1200" dirty="0">
                          <a:solidFill>
                            <a:schemeClr val="tx1"/>
                          </a:solidFill>
                          <a:latin typeface="Barlow" panose="00000500000000000000" pitchFamily="2" charset="0"/>
                        </a:rPr>
                        <a:t>Blue Chip</a:t>
                      </a:r>
                      <a:endParaRPr lang="en-US" sz="1200" b="1" kern="1200" dirty="0">
                        <a:solidFill>
                          <a:schemeClr val="tx1"/>
                        </a:solidFill>
                        <a:latin typeface="Barlow" panose="00000500000000000000" pitchFamily="2"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1" dirty="0">
                          <a:latin typeface="Barlow" panose="00000500000000000000" pitchFamily="2" charset="0"/>
                        </a:rPr>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1" dirty="0">
                          <a:latin typeface="Barlow" panose="00000500000000000000" pitchFamily="2" charset="0"/>
                        </a:rPr>
                        <a:t>Average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1" dirty="0">
                          <a:latin typeface="Barlow" panose="00000500000000000000" pitchFamily="2" charset="0"/>
                        </a:rPr>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1" dirty="0">
                          <a:latin typeface="Barlow" panose="00000500000000000000" pitchFamily="2" charset="0"/>
                        </a:rPr>
                        <a:t>Restricted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814928167"/>
                  </a:ext>
                </a:extLst>
              </a:tr>
              <a:tr h="464366">
                <a:tc rowSpan="6">
                  <a:txBody>
                    <a:bodyPr/>
                    <a:lstStyle/>
                    <a:p>
                      <a:pPr algn="ctr"/>
                      <a:r>
                        <a:rPr lang="en-US" sz="1200" b="1" dirty="0">
                          <a:latin typeface="Barlow" panose="00000500000000000000" pitchFamily="2" charset="0"/>
                        </a:rPr>
                        <a:t>Financial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marL="0" indent="0" algn="ctr">
                        <a:buNone/>
                      </a:pPr>
                      <a:r>
                        <a:rPr lang="en-US" sz="1200" b="1" dirty="0">
                          <a:latin typeface="Barlow" panose="00000500000000000000" pitchFamily="2" charset="0"/>
                        </a:rPr>
                        <a:t>All three must</a:t>
                      </a:r>
                      <a:endParaRPr lang="en-US" sz="1400" b="1"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MCAP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&gt;=5000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500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100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&lt; 100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1757088"/>
                  </a:ext>
                </a:extLst>
              </a:tr>
              <a:tr h="468687">
                <a:tc vMerge="1">
                  <a:txBody>
                    <a:bodyPr/>
                    <a:lstStyle/>
                    <a:p>
                      <a:pPr algn="just"/>
                      <a:r>
                        <a:rPr lang="en-US" sz="1400" dirty="0"/>
                        <a:t>IPO </a:t>
                      </a:r>
                      <a:endParaRPr lang="en-US" sz="1400" dirty="0">
                        <a:latin typeface="Barlow" panose="00000500000000000000" pitchFamily="2" charset="0"/>
                      </a:endParaRPr>
                    </a:p>
                  </a:txBody>
                  <a:tcPr/>
                </a:tc>
                <a:tc vMerge="1">
                  <a:txBody>
                    <a:bodyPr/>
                    <a:lstStyle/>
                    <a:p>
                      <a:pPr algn="ctr"/>
                      <a:r>
                        <a:rPr lang="en-US" sz="1400" dirty="0"/>
                        <a:t>At least a day before IPO lists</a:t>
                      </a:r>
                      <a:endParaRPr lang="en-US" sz="1400" dirty="0">
                        <a:latin typeface="Barlow" panose="00000500000000000000" pitchFamily="2" charset="0"/>
                      </a:endParaRPr>
                    </a:p>
                  </a:txBody>
                  <a:tcPr anchor="ctr"/>
                </a:tc>
                <a:tc>
                  <a:txBody>
                    <a:bodyPr/>
                    <a:lstStyle/>
                    <a:p>
                      <a:pPr algn="ctr"/>
                      <a:r>
                        <a:rPr lang="en-US" sz="1200" b="0" dirty="0">
                          <a:latin typeface="Barlow" panose="00000500000000000000" pitchFamily="2" charset="0"/>
                        </a:rPr>
                        <a:t>Net Worth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2000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500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100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&lt;100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b="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4368306"/>
                  </a:ext>
                </a:extLst>
              </a:tr>
              <a:tr h="470176">
                <a:tc vMerge="1">
                  <a:txBody>
                    <a:bodyPr/>
                    <a:lstStyle/>
                    <a:p>
                      <a:pPr algn="just"/>
                      <a:r>
                        <a:rPr lang="en-US" sz="1400" dirty="0"/>
                        <a:t>MF risk ratings</a:t>
                      </a:r>
                      <a:endParaRPr lang="en-US" sz="1400" dirty="0">
                        <a:latin typeface="Barlow" panose="00000500000000000000" pitchFamily="2" charset="0"/>
                      </a:endParaRPr>
                    </a:p>
                  </a:txBody>
                  <a:tcPr/>
                </a:tc>
                <a:tc vMerge="1">
                  <a:txBody>
                    <a:bodyPr/>
                    <a:lstStyle/>
                    <a:p>
                      <a:pPr marL="342900" indent="-342900" algn="ctr">
                        <a:buAutoNum type="arabicPeriod"/>
                      </a:pPr>
                      <a:endParaRPr lang="en-US" sz="1200" dirty="0">
                        <a:latin typeface="Barlow" panose="00000500000000000000" pitchFamily="2" charset="0"/>
                      </a:endParaRPr>
                    </a:p>
                  </a:txBody>
                  <a:tcPr anchor="ctr"/>
                </a:tc>
                <a:tc>
                  <a:txBody>
                    <a:bodyPr/>
                    <a:lstStyle/>
                    <a:p>
                      <a:pPr algn="ctr"/>
                      <a:r>
                        <a:rPr lang="en-US" sz="1200" b="0" dirty="0">
                          <a:latin typeface="Barlow" panose="00000500000000000000" pitchFamily="2" charset="0"/>
                        </a:rPr>
                        <a:t>F&amp;O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No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9738069"/>
                  </a:ext>
                </a:extLst>
              </a:tr>
              <a:tr h="697250">
                <a:tc vMerge="1">
                  <a:txBody>
                    <a:bodyPr/>
                    <a:lstStyle/>
                    <a:p>
                      <a:endParaRPr lang="en-US"/>
                    </a:p>
                  </a:txBody>
                  <a:tcPr/>
                </a:tc>
                <a:tc rowSpan="3">
                  <a:txBody>
                    <a:bodyPr/>
                    <a:lstStyle/>
                    <a:p>
                      <a:pPr marL="0" indent="0" algn="ctr">
                        <a:buNone/>
                      </a:pPr>
                      <a:r>
                        <a:rPr lang="en-US" sz="1200" b="1" dirty="0">
                          <a:latin typeface="Barlow" panose="00000500000000000000" pitchFamily="2" charset="0"/>
                        </a:rPr>
                        <a:t>Any 2 of these should have these qualifications for last 2 years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Employee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50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10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2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&lt; 2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&lt;= 0.50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7853851"/>
                  </a:ext>
                </a:extLst>
              </a:tr>
              <a:tr h="543502">
                <a:tc vMerge="1">
                  <a:txBody>
                    <a:bodyPr/>
                    <a:lstStyle/>
                    <a:p>
                      <a:pPr algn="just"/>
                      <a:r>
                        <a:rPr lang="en-US" sz="1400" dirty="0"/>
                        <a:t>Volume turnover data</a:t>
                      </a:r>
                      <a:endParaRPr lang="en-US" sz="1400" dirty="0">
                        <a:latin typeface="Barlow" panose="00000500000000000000" pitchFamily="2" charset="0"/>
                      </a:endParaRPr>
                    </a:p>
                  </a:txBody>
                  <a:tcPr/>
                </a:tc>
                <a:tc vMerge="1">
                  <a:txBody>
                    <a:bodyPr/>
                    <a:lstStyle/>
                    <a:p>
                      <a:pPr algn="ctr"/>
                      <a:endParaRPr lang="en-US" sz="12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Power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50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10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2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&lt; 2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&lt;= 0.50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8236132"/>
                  </a:ext>
                </a:extLst>
              </a:tr>
              <a:tr h="457688">
                <a:tc vMerge="1">
                  <a:txBody>
                    <a:bodyPr/>
                    <a:lstStyle/>
                    <a:p>
                      <a:pPr algn="ctr"/>
                      <a:endParaRPr lang="en-US" sz="12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US" sz="12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Tax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50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10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&gt;= 2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&lt; 2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0" dirty="0">
                          <a:latin typeface="Barlow" panose="00000500000000000000" pitchFamily="2" charset="0"/>
                        </a:rPr>
                        <a:t>&lt;= 0.50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9178266"/>
                  </a:ext>
                </a:extLst>
              </a:tr>
            </a:tbl>
          </a:graphicData>
        </a:graphic>
      </p:graphicFrame>
      <p:sp>
        <p:nvSpPr>
          <p:cNvPr id="3" name="GVCLASSIFICATIONFOOTERCenter0">
            <a:extLst>
              <a:ext uri="{FF2B5EF4-FFF2-40B4-BE49-F238E27FC236}">
                <a16:creationId xmlns:a16="http://schemas.microsoft.com/office/drawing/2014/main" id="{7D75A46E-2B18-3EDA-0B46-D140A7EC7AC5}"/>
              </a:ext>
            </a:extLst>
          </p:cNvPr>
          <p:cNvSpPr txBox="1"/>
          <p:nvPr/>
        </p:nvSpPr>
        <p:spPr>
          <a:xfrm>
            <a:off x="0" y="6611779"/>
            <a:ext cx="12192000" cy="246221"/>
          </a:xfrm>
          <a:prstGeom prst="rect">
            <a:avLst/>
          </a:prstGeom>
          <a:noFill/>
        </p:spPr>
        <p:txBody>
          <a:bodyPr vert="horz" wrap="square" rtlCol="0">
            <a:spAutoFit/>
          </a:bodyPr>
          <a:lstStyle/>
          <a:p>
            <a:pPr algn="ctr"/>
            <a:r>
              <a:rPr lang="en-US" sz="1000">
                <a:solidFill>
                  <a:srgbClr val="0303FE"/>
                </a:solidFill>
              </a:rPr>
              <a:t>Classified as Internal</a:t>
            </a:r>
          </a:p>
        </p:txBody>
      </p:sp>
    </p:spTree>
    <p:extLst>
      <p:ext uri="{BB962C8B-B14F-4D97-AF65-F5344CB8AC3E}">
        <p14:creationId xmlns:p14="http://schemas.microsoft.com/office/powerpoint/2010/main" val="4094978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A5E7AFE-D2CE-7778-296F-D2F37B0DAC31}"/>
              </a:ext>
            </a:extLst>
          </p:cNvPr>
          <p:cNvSpPr txBox="1"/>
          <p:nvPr/>
        </p:nvSpPr>
        <p:spPr>
          <a:xfrm>
            <a:off x="209800" y="808196"/>
            <a:ext cx="11520382" cy="5262979"/>
          </a:xfrm>
          <a:prstGeom prst="rect">
            <a:avLst/>
          </a:prstGeom>
          <a:noFill/>
        </p:spPr>
        <p:txBody>
          <a:bodyPr wrap="square" rtlCol="0">
            <a:spAutoFit/>
          </a:bodyPr>
          <a:lstStyle/>
          <a:p>
            <a:pPr marL="171450" indent="-171450">
              <a:buFont typeface="Arial" panose="020B0604020202020204" pitchFamily="34" charset="0"/>
              <a:buChar char="•"/>
            </a:pPr>
            <a:r>
              <a:rPr lang="en-US" sz="1200" dirty="0">
                <a:latin typeface="Barlow" panose="00000500000000000000" pitchFamily="2" charset="0"/>
              </a:rPr>
              <a:t>Explanation to the criteria:</a:t>
            </a:r>
          </a:p>
          <a:p>
            <a:pPr marL="628650" lvl="1" indent="-171450">
              <a:buFont typeface="Arial" panose="020B0604020202020204" pitchFamily="34" charset="0"/>
              <a:buChar char="•"/>
            </a:pPr>
            <a:r>
              <a:rPr lang="en-US" sz="1200" dirty="0">
                <a:latin typeface="Barlow" panose="00000500000000000000" pitchFamily="2" charset="0"/>
              </a:rPr>
              <a:t>Blue Chip : Market Cap Should be greater than equal to Rs.5000cr &amp; Net worth should be greater than equal to Rs. 2000 Cr. Moreover, from Employee cost, Power cost &amp; Tax, at least any 2 should be greater than equal to Rs. 50 Cr for last 2 years. Scrip should be listed in F&amp;O segment. </a:t>
            </a:r>
          </a:p>
          <a:p>
            <a:pPr marL="1085850" lvl="2" indent="-171450">
              <a:buFont typeface="Arial" panose="020B0604020202020204" pitchFamily="34" charset="0"/>
              <a:buChar char="•"/>
            </a:pPr>
            <a:r>
              <a:rPr lang="en-US" sz="1200" dirty="0">
                <a:latin typeface="Barlow" panose="00000500000000000000" pitchFamily="2" charset="0"/>
              </a:rPr>
              <a:t>Exception to the rule: For banking stocks that if it is listed in F&amp;O market then Employee cost, Power cost and/or Tax may or may not be greater than Rs. 50 Cr.</a:t>
            </a:r>
          </a:p>
          <a:p>
            <a:pPr marL="628650" lvl="1" indent="-171450">
              <a:buFont typeface="Arial" panose="020B0604020202020204" pitchFamily="34" charset="0"/>
              <a:buChar char="•"/>
            </a:pPr>
            <a:r>
              <a:rPr lang="en-US" sz="1200" dirty="0">
                <a:latin typeface="Barlow" panose="00000500000000000000" pitchFamily="2" charset="0"/>
              </a:rPr>
              <a:t>Good: Market Cap &amp; Net worth should be greater than equal to Rs. 500 Cr. Moreover, from Employee cost, Power cost &amp; Tax, at least any 2 should be greater than equal to Rs. 10 Cr for last 2 years. </a:t>
            </a:r>
          </a:p>
          <a:p>
            <a:pPr marL="1085850" lvl="2" indent="-171450">
              <a:buFont typeface="Arial" panose="020B0604020202020204" pitchFamily="34" charset="0"/>
              <a:buChar char="•"/>
            </a:pPr>
            <a:r>
              <a:rPr lang="en-US" sz="1200" dirty="0">
                <a:latin typeface="Barlow" panose="00000500000000000000" pitchFamily="2" charset="0"/>
              </a:rPr>
              <a:t>Scrip satisfying Blue Chip criteria but not listed in F&amp;O segment should be graded as Good. Bank stocks not listed in F&amp;O segment should also be categorized as Good.</a:t>
            </a:r>
          </a:p>
          <a:p>
            <a:pPr marL="628650" lvl="1" indent="-171450">
              <a:buFont typeface="Arial" panose="020B0604020202020204" pitchFamily="34" charset="0"/>
              <a:buChar char="•"/>
            </a:pPr>
            <a:r>
              <a:rPr lang="en-US" sz="1200" dirty="0">
                <a:latin typeface="Barlow" panose="00000500000000000000" pitchFamily="2" charset="0"/>
              </a:rPr>
              <a:t>Average: Market Cap &amp; Net worth should be greater than equal to Rs. 100 Cr. Moreover, from Employee cost, Power cost &amp; Tax, at leas t any 2 should be greater than equal to Rs. 2 Cr for last 2 years.</a:t>
            </a:r>
          </a:p>
          <a:p>
            <a:pPr marL="628650" lvl="1" indent="-171450">
              <a:buFont typeface="Arial" panose="020B0604020202020204" pitchFamily="34" charset="0"/>
              <a:buChar char="•"/>
            </a:pPr>
            <a:r>
              <a:rPr lang="en-US" sz="1200" dirty="0">
                <a:latin typeface="Barlow" panose="00000500000000000000" pitchFamily="2" charset="0"/>
              </a:rPr>
              <a:t>Poor: Market Cap &amp; Net worth should be less than equal to Rs. 100 Cr. Moreover, from Employee cost, Power cost &amp; Tax, at least any 2 should be less than equal to Rs. 2 Cr for last 2 years.</a:t>
            </a:r>
          </a:p>
          <a:p>
            <a:pPr marL="628650" lvl="1" indent="-171450">
              <a:buFont typeface="Arial" panose="020B0604020202020204" pitchFamily="34" charset="0"/>
              <a:buChar char="•"/>
            </a:pPr>
            <a:r>
              <a:rPr lang="en-US" sz="1200" dirty="0">
                <a:latin typeface="Barlow" panose="00000500000000000000" pitchFamily="2" charset="0"/>
              </a:rPr>
              <a:t>Restricted: From Employee cost, Power cost &amp; Tax at least any 2 should be less than equal to Rs. 0.50 Cr for last 2 years.</a:t>
            </a:r>
          </a:p>
          <a:p>
            <a:pPr marL="171450" indent="-171450">
              <a:buFont typeface="Arial" panose="020B0604020202020204" pitchFamily="34" charset="0"/>
              <a:buChar char="•"/>
            </a:pPr>
            <a:endParaRPr lang="en-US" sz="1200" dirty="0">
              <a:latin typeface="Barlow" panose="00000500000000000000" pitchFamily="2" charset="0"/>
            </a:endParaRPr>
          </a:p>
          <a:p>
            <a:pPr marL="171450" indent="-171450">
              <a:buFont typeface="Arial" panose="020B0604020202020204" pitchFamily="34" charset="0"/>
              <a:buChar char="•"/>
            </a:pPr>
            <a:r>
              <a:rPr lang="en-US" sz="1200" dirty="0">
                <a:latin typeface="Barlow" panose="00000500000000000000" pitchFamily="2" charset="0"/>
              </a:rPr>
              <a:t>Other </a:t>
            </a:r>
            <a:r>
              <a:rPr lang="en-US" sz="1200" dirty="0" err="1">
                <a:latin typeface="Barlow" panose="00000500000000000000" pitchFamily="2" charset="0"/>
              </a:rPr>
              <a:t>criterias</a:t>
            </a:r>
            <a:r>
              <a:rPr lang="en-US" sz="1200" dirty="0">
                <a:latin typeface="Barlow" panose="00000500000000000000" pitchFamily="2" charset="0"/>
              </a:rPr>
              <a:t>:</a:t>
            </a:r>
          </a:p>
          <a:p>
            <a:pPr marL="628650" lvl="1" indent="-171450">
              <a:buFont typeface="Arial" panose="020B0604020202020204" pitchFamily="34" charset="0"/>
              <a:buChar char="•"/>
            </a:pPr>
            <a:r>
              <a:rPr lang="en-US" sz="1200" dirty="0">
                <a:latin typeface="Barlow" panose="00000500000000000000" pitchFamily="2" charset="0"/>
              </a:rPr>
              <a:t>MCAP and net worth category difference: If Market Cap &amp; Net worth are belonging to 2 different categories or grades, then it will be graded to lower category. Assume if Market Cap belongs to Blue Chip category and Net worth belongs to Good, then it will be graded to lower category i.e. Good.</a:t>
            </a:r>
          </a:p>
          <a:p>
            <a:pPr marL="628650" lvl="1" indent="-171450">
              <a:buFont typeface="Arial" panose="020B0604020202020204" pitchFamily="34" charset="0"/>
              <a:buChar char="•"/>
            </a:pPr>
            <a:r>
              <a:rPr lang="en-US" sz="1200" dirty="0">
                <a:latin typeface="Barlow" panose="00000500000000000000" pitchFamily="2" charset="0"/>
              </a:rPr>
              <a:t>Downgrade one rating is promoter pledge is &gt;50%</a:t>
            </a:r>
          </a:p>
          <a:p>
            <a:pPr marL="628650" lvl="1" indent="-171450">
              <a:buFont typeface="Arial" panose="020B0604020202020204" pitchFamily="34" charset="0"/>
              <a:buChar char="•"/>
            </a:pPr>
            <a:r>
              <a:rPr lang="en-US" sz="1200" dirty="0">
                <a:latin typeface="Barlow" panose="00000500000000000000" pitchFamily="2" charset="0"/>
              </a:rPr>
              <a:t>Other criteria to move scrips in restricted category:</a:t>
            </a:r>
          </a:p>
          <a:p>
            <a:pPr marL="1085850" lvl="2" indent="-171450">
              <a:buFont typeface="Arial" panose="020B0604020202020204" pitchFamily="34" charset="0"/>
              <a:buChar char="•"/>
            </a:pPr>
            <a:r>
              <a:rPr lang="en-US" sz="1200" dirty="0">
                <a:latin typeface="Barlow" panose="00000500000000000000" pitchFamily="2" charset="0"/>
              </a:rPr>
              <a:t>Market Cap &lt; 10 </a:t>
            </a:r>
            <a:r>
              <a:rPr lang="en-US" sz="1200" dirty="0" err="1">
                <a:latin typeface="Barlow" panose="00000500000000000000" pitchFamily="2" charset="0"/>
              </a:rPr>
              <a:t>cr</a:t>
            </a:r>
            <a:endParaRPr lang="en-US" sz="1200" dirty="0">
              <a:latin typeface="Barlow" panose="00000500000000000000" pitchFamily="2" charset="0"/>
            </a:endParaRPr>
          </a:p>
          <a:p>
            <a:pPr marL="1085850" lvl="2" indent="-171450">
              <a:buFont typeface="Arial" panose="020B0604020202020204" pitchFamily="34" charset="0"/>
              <a:buChar char="•"/>
            </a:pPr>
            <a:r>
              <a:rPr lang="en-US" sz="1200" dirty="0">
                <a:latin typeface="Barlow" panose="00000500000000000000" pitchFamily="2" charset="0"/>
              </a:rPr>
              <a:t>MCAP &lt; 25 </a:t>
            </a:r>
            <a:r>
              <a:rPr lang="en-US" sz="1200" dirty="0" err="1">
                <a:latin typeface="Barlow" panose="00000500000000000000" pitchFamily="2" charset="0"/>
              </a:rPr>
              <a:t>cr</a:t>
            </a:r>
            <a:r>
              <a:rPr lang="en-US" sz="1200" dirty="0">
                <a:latin typeface="Barlow" panose="00000500000000000000" pitchFamily="2" charset="0"/>
              </a:rPr>
              <a:t> and Net worth &lt; 10 </a:t>
            </a:r>
            <a:r>
              <a:rPr lang="en-US" sz="1200" dirty="0" err="1">
                <a:latin typeface="Barlow" panose="00000500000000000000" pitchFamily="2" charset="0"/>
              </a:rPr>
              <a:t>cr</a:t>
            </a:r>
            <a:endParaRPr lang="en-US" sz="1200" dirty="0">
              <a:latin typeface="Barlow" panose="00000500000000000000" pitchFamily="2" charset="0"/>
            </a:endParaRPr>
          </a:p>
          <a:p>
            <a:pPr marL="1085850" lvl="2" indent="-171450">
              <a:buFont typeface="Arial" panose="020B0604020202020204" pitchFamily="34" charset="0"/>
              <a:buChar char="•"/>
            </a:pPr>
            <a:r>
              <a:rPr lang="en-US" sz="1200" dirty="0">
                <a:latin typeface="Barlow" panose="00000500000000000000" pitchFamily="2" charset="0"/>
              </a:rPr>
              <a:t>MCAP &gt; 300 </a:t>
            </a:r>
            <a:r>
              <a:rPr lang="en-US" sz="1200" dirty="0" err="1">
                <a:latin typeface="Barlow" panose="00000500000000000000" pitchFamily="2" charset="0"/>
              </a:rPr>
              <a:t>cr</a:t>
            </a:r>
            <a:r>
              <a:rPr lang="en-US" sz="1200" dirty="0">
                <a:latin typeface="Barlow" panose="00000500000000000000" pitchFamily="2" charset="0"/>
              </a:rPr>
              <a:t> but net worth and sales &lt; 50 </a:t>
            </a:r>
            <a:r>
              <a:rPr lang="en-US" sz="1200" dirty="0" err="1">
                <a:latin typeface="Barlow" panose="00000500000000000000" pitchFamily="2" charset="0"/>
              </a:rPr>
              <a:t>cr</a:t>
            </a:r>
            <a:endParaRPr lang="en-US" sz="1200" dirty="0">
              <a:latin typeface="Barlow" panose="00000500000000000000" pitchFamily="2" charset="0"/>
            </a:endParaRPr>
          </a:p>
          <a:p>
            <a:pPr marL="628650" lvl="1" indent="-171450">
              <a:buFont typeface="Arial" panose="020B0604020202020204" pitchFamily="34" charset="0"/>
              <a:buChar char="•"/>
            </a:pPr>
            <a:r>
              <a:rPr lang="en-US" sz="1200" dirty="0">
                <a:latin typeface="Barlow" panose="00000500000000000000" pitchFamily="2" charset="0"/>
              </a:rPr>
              <a:t>Sometimes we get queries to rate SME scrips, for such scrips we add two more parameters:</a:t>
            </a:r>
          </a:p>
          <a:p>
            <a:pPr marL="1085850" lvl="2" indent="-171450">
              <a:buFont typeface="Arial" panose="020B0604020202020204" pitchFamily="34" charset="0"/>
              <a:buChar char="•"/>
            </a:pPr>
            <a:r>
              <a:rPr lang="en-US" sz="1200" dirty="0">
                <a:latin typeface="Barlow" panose="00000500000000000000" pitchFamily="2" charset="0"/>
              </a:rPr>
              <a:t>All the scrips are categorized as poor category.</a:t>
            </a:r>
          </a:p>
          <a:p>
            <a:pPr marL="1085850" lvl="2" indent="-171450">
              <a:buFont typeface="Arial" panose="020B0604020202020204" pitchFamily="34" charset="0"/>
              <a:buChar char="•"/>
            </a:pPr>
            <a:r>
              <a:rPr lang="en-US" sz="1200" dirty="0">
                <a:latin typeface="Barlow" panose="00000500000000000000" pitchFamily="2" charset="0"/>
              </a:rPr>
              <a:t>Rest we follow Old rules to check if the scrip classifies for restricted or </a:t>
            </a:r>
            <a:r>
              <a:rPr lang="en-US" sz="1200">
                <a:latin typeface="Barlow" panose="00000500000000000000" pitchFamily="2" charset="0"/>
              </a:rPr>
              <a:t>open status. </a:t>
            </a:r>
            <a:endParaRPr lang="en-US" sz="1200" dirty="0">
              <a:latin typeface="Barlow" panose="00000500000000000000" pitchFamily="2" charset="0"/>
            </a:endParaRPr>
          </a:p>
          <a:p>
            <a:pPr marL="628650" lvl="1" indent="-171450">
              <a:buFont typeface="Arial" panose="020B0604020202020204" pitchFamily="34" charset="0"/>
              <a:buChar char="•"/>
            </a:pPr>
            <a:endParaRPr lang="en-US" sz="1200" dirty="0">
              <a:latin typeface="Barlow" panose="00000500000000000000" pitchFamily="2" charset="0"/>
            </a:endParaRPr>
          </a:p>
        </p:txBody>
      </p:sp>
      <p:sp>
        <p:nvSpPr>
          <p:cNvPr id="2" name="GVCLASSIFICATIONFOOTERCenter0">
            <a:extLst>
              <a:ext uri="{FF2B5EF4-FFF2-40B4-BE49-F238E27FC236}">
                <a16:creationId xmlns:a16="http://schemas.microsoft.com/office/drawing/2014/main" id="{1AE55EF3-6F4D-26F6-24F3-244E9971961B}"/>
              </a:ext>
            </a:extLst>
          </p:cNvPr>
          <p:cNvSpPr txBox="1"/>
          <p:nvPr/>
        </p:nvSpPr>
        <p:spPr>
          <a:xfrm>
            <a:off x="0" y="6611779"/>
            <a:ext cx="12192000" cy="246221"/>
          </a:xfrm>
          <a:prstGeom prst="rect">
            <a:avLst/>
          </a:prstGeom>
          <a:noFill/>
        </p:spPr>
        <p:txBody>
          <a:bodyPr vert="horz" wrap="square" rtlCol="0">
            <a:spAutoFit/>
          </a:bodyPr>
          <a:lstStyle/>
          <a:p>
            <a:pPr algn="ctr"/>
            <a:r>
              <a:rPr lang="en-US" sz="1000">
                <a:solidFill>
                  <a:srgbClr val="0303FE"/>
                </a:solidFill>
              </a:rPr>
              <a:t>Classified as Internal</a:t>
            </a:r>
          </a:p>
        </p:txBody>
      </p:sp>
    </p:spTree>
    <p:extLst>
      <p:ext uri="{BB962C8B-B14F-4D97-AF65-F5344CB8AC3E}">
        <p14:creationId xmlns:p14="http://schemas.microsoft.com/office/powerpoint/2010/main" val="2515645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CF9B28-FDA6-0411-0F4C-836A505B8CE8}"/>
              </a:ext>
            </a:extLst>
          </p:cNvPr>
          <p:cNvSpPr txBox="1"/>
          <p:nvPr/>
        </p:nvSpPr>
        <p:spPr>
          <a:xfrm>
            <a:off x="209800" y="757690"/>
            <a:ext cx="11520382" cy="3046988"/>
          </a:xfrm>
          <a:prstGeom prst="rect">
            <a:avLst/>
          </a:prstGeom>
          <a:noFill/>
        </p:spPr>
        <p:txBody>
          <a:bodyPr wrap="square" rtlCol="0">
            <a:spAutoFit/>
          </a:bodyPr>
          <a:lstStyle/>
          <a:p>
            <a:r>
              <a:rPr lang="en-US" sz="1200" b="1" dirty="0">
                <a:latin typeface="Barlow" panose="00000500000000000000" pitchFamily="2" charset="0"/>
              </a:rPr>
              <a:t>IPO Risk rating</a:t>
            </a:r>
            <a:r>
              <a:rPr lang="en-US" sz="1200" dirty="0">
                <a:latin typeface="Barlow" panose="00000500000000000000" pitchFamily="2" charset="0"/>
              </a:rPr>
              <a:t> </a:t>
            </a:r>
          </a:p>
          <a:p>
            <a:pPr marL="171450" indent="-171450">
              <a:buFont typeface="Arial" panose="020B0604020202020204" pitchFamily="34" charset="0"/>
              <a:buChar char="•"/>
            </a:pPr>
            <a:endParaRPr lang="en-US" sz="1200" dirty="0">
              <a:latin typeface="Barlow" panose="00000500000000000000" pitchFamily="2" charset="0"/>
            </a:endParaRPr>
          </a:p>
          <a:p>
            <a:pPr marL="171450" indent="-171450">
              <a:buFont typeface="Arial" panose="020B0604020202020204" pitchFamily="34" charset="0"/>
              <a:buChar char="•"/>
            </a:pPr>
            <a:r>
              <a:rPr lang="en-US" sz="1200" dirty="0">
                <a:latin typeface="Barlow" panose="00000500000000000000" pitchFamily="2" charset="0"/>
              </a:rPr>
              <a:t>Tag these recipients in the mail:</a:t>
            </a:r>
            <a:r>
              <a:rPr lang="en-US" sz="1200" b="0" i="0" dirty="0">
                <a:solidFill>
                  <a:srgbClr val="222222"/>
                </a:solidFill>
                <a:effectLst/>
                <a:latin typeface="Google Sans"/>
              </a:rPr>
              <a:t> Vishal </a:t>
            </a:r>
            <a:r>
              <a:rPr lang="en-US" sz="1200" b="0" i="0" dirty="0" err="1">
                <a:solidFill>
                  <a:srgbClr val="222222"/>
                </a:solidFill>
                <a:effectLst/>
                <a:latin typeface="Google Sans"/>
              </a:rPr>
              <a:t>Vitthaldas</a:t>
            </a:r>
            <a:r>
              <a:rPr lang="en-US" sz="1200" b="0" i="0" dirty="0">
                <a:solidFill>
                  <a:srgbClr val="222222"/>
                </a:solidFill>
                <a:effectLst/>
                <a:latin typeface="Google Sans"/>
              </a:rPr>
              <a:t> Gohil /Risk and Surveillance/ABL &lt;vishal@angelbroking.com&gt;,</a:t>
            </a:r>
            <a:br>
              <a:rPr lang="en-US" sz="1200" dirty="0"/>
            </a:br>
            <a:r>
              <a:rPr lang="en-US" sz="1200" b="0" i="0" dirty="0">
                <a:solidFill>
                  <a:srgbClr val="222222"/>
                </a:solidFill>
                <a:effectLst/>
                <a:latin typeface="Google Sans"/>
              </a:rPr>
              <a:t>Vishal </a:t>
            </a:r>
            <a:r>
              <a:rPr lang="en-US" sz="1200" b="0" i="0" dirty="0" err="1">
                <a:solidFill>
                  <a:srgbClr val="222222"/>
                </a:solidFill>
                <a:effectLst/>
                <a:latin typeface="Google Sans"/>
              </a:rPr>
              <a:t>Kanani</a:t>
            </a:r>
            <a:r>
              <a:rPr lang="en-US" sz="1200" b="0" i="0" dirty="0">
                <a:solidFill>
                  <a:srgbClr val="222222"/>
                </a:solidFill>
                <a:effectLst/>
                <a:latin typeface="Google Sans"/>
              </a:rPr>
              <a:t> /Risk and Surveillance/ABL &lt;vishal.kanani@angelbroking.com&gt;,</a:t>
            </a:r>
            <a:br>
              <a:rPr lang="en-US" sz="1200" dirty="0"/>
            </a:br>
            <a:r>
              <a:rPr lang="en-US" sz="1200" b="0" i="0" dirty="0" err="1">
                <a:solidFill>
                  <a:srgbClr val="222222"/>
                </a:solidFill>
                <a:effectLst/>
                <a:latin typeface="Google Sans"/>
              </a:rPr>
              <a:t>CSOSurveillance</a:t>
            </a:r>
            <a:r>
              <a:rPr lang="en-US" sz="1200" b="0" i="0" dirty="0">
                <a:solidFill>
                  <a:srgbClr val="222222"/>
                </a:solidFill>
                <a:effectLst/>
                <a:latin typeface="Google Sans"/>
              </a:rPr>
              <a:t> &lt;csosurveillance@angelbroking.com&gt;,</a:t>
            </a:r>
            <a:br>
              <a:rPr lang="en-US" sz="1200" dirty="0"/>
            </a:br>
            <a:r>
              <a:rPr lang="en-US" sz="1200" b="0" i="0" dirty="0">
                <a:solidFill>
                  <a:srgbClr val="222222"/>
                </a:solidFill>
                <a:effectLst/>
                <a:latin typeface="Google Sans"/>
              </a:rPr>
              <a:t>Amit Ranjan &lt;amit.ranjan@angelbroking.com&gt;,</a:t>
            </a:r>
            <a:br>
              <a:rPr lang="en-US" sz="1200" dirty="0"/>
            </a:br>
            <a:r>
              <a:rPr lang="en-US" sz="1200" b="0" i="0" dirty="0" err="1">
                <a:solidFill>
                  <a:srgbClr val="222222"/>
                </a:solidFill>
                <a:effectLst/>
                <a:latin typeface="Google Sans"/>
              </a:rPr>
              <a:t>CSODealing</a:t>
            </a:r>
            <a:r>
              <a:rPr lang="en-US" sz="1200" b="0" i="0" dirty="0">
                <a:solidFill>
                  <a:srgbClr val="222222"/>
                </a:solidFill>
                <a:effectLst/>
                <a:latin typeface="Google Sans"/>
              </a:rPr>
              <a:t> &lt;csodealing@angelbroking.com&gt;,</a:t>
            </a:r>
            <a:br>
              <a:rPr lang="en-US" sz="1200" dirty="0"/>
            </a:br>
            <a:r>
              <a:rPr lang="en-US" sz="1200" b="0" i="0" dirty="0" err="1">
                <a:solidFill>
                  <a:srgbClr val="222222"/>
                </a:solidFill>
                <a:effectLst/>
                <a:latin typeface="Google Sans"/>
              </a:rPr>
              <a:t>Harigopal</a:t>
            </a:r>
            <a:r>
              <a:rPr lang="en-US" sz="1200" b="0" i="0" dirty="0">
                <a:solidFill>
                  <a:srgbClr val="222222"/>
                </a:solidFill>
                <a:effectLst/>
                <a:latin typeface="Google Sans"/>
              </a:rPr>
              <a:t> S </a:t>
            </a:r>
            <a:r>
              <a:rPr lang="en-US" sz="1200" b="0" i="0" dirty="0" err="1">
                <a:solidFill>
                  <a:srgbClr val="222222"/>
                </a:solidFill>
                <a:effectLst/>
                <a:latin typeface="Google Sans"/>
              </a:rPr>
              <a:t>Thanvi</a:t>
            </a:r>
            <a:r>
              <a:rPr lang="en-US" sz="1200" b="0" i="0" dirty="0">
                <a:solidFill>
                  <a:srgbClr val="222222"/>
                </a:solidFill>
                <a:effectLst/>
                <a:latin typeface="Google Sans"/>
              </a:rPr>
              <a:t> /Risk and Surveillance/ABL &lt;harigopal.thanvi@angelbroking.com&gt;,</a:t>
            </a:r>
            <a:br>
              <a:rPr lang="en-US" sz="1200" dirty="0"/>
            </a:br>
            <a:r>
              <a:rPr lang="en-US" sz="1200" b="0" i="0" dirty="0">
                <a:solidFill>
                  <a:srgbClr val="222222"/>
                </a:solidFill>
                <a:effectLst/>
                <a:latin typeface="Google Sans"/>
              </a:rPr>
              <a:t>Mohit Gupta </a:t>
            </a:r>
            <a:r>
              <a:rPr lang="en-US" sz="1200" b="0" i="0" dirty="0">
                <a:solidFill>
                  <a:srgbClr val="222222"/>
                </a:solidFill>
                <a:effectLst/>
                <a:latin typeface="Google Sans"/>
                <a:hlinkClick r:id="rId3"/>
              </a:rPr>
              <a:t>mohit.gupta@angelbroking.com</a:t>
            </a:r>
            <a:endParaRPr lang="en-US" sz="1200" b="0" i="0" dirty="0">
              <a:solidFill>
                <a:srgbClr val="222222"/>
              </a:solidFill>
              <a:effectLst/>
              <a:latin typeface="Google Sans"/>
            </a:endParaRPr>
          </a:p>
          <a:p>
            <a:endParaRPr lang="en-US" sz="1200" dirty="0">
              <a:latin typeface="Barlow" panose="00000500000000000000" pitchFamily="2" charset="0"/>
            </a:endParaRPr>
          </a:p>
          <a:p>
            <a:pPr marL="171450" indent="-171450">
              <a:buFont typeface="Arial" panose="020B0604020202020204" pitchFamily="34" charset="0"/>
              <a:buChar char="•"/>
            </a:pPr>
            <a:r>
              <a:rPr lang="en-US" sz="1200" dirty="0">
                <a:latin typeface="Barlow" panose="00000500000000000000" pitchFamily="2" charset="0"/>
              </a:rPr>
              <a:t>Process: Need to follow these steps to look for upcoming listings</a:t>
            </a:r>
          </a:p>
          <a:p>
            <a:pPr marL="628650" lvl="1" indent="-171450">
              <a:buFont typeface="Arial" panose="020B0604020202020204" pitchFamily="34" charset="0"/>
              <a:buChar char="•"/>
            </a:pPr>
            <a:r>
              <a:rPr lang="en-US" sz="1200" dirty="0">
                <a:latin typeface="Barlow" panose="00000500000000000000" pitchFamily="2" charset="0"/>
              </a:rPr>
              <a:t>Chittorgarh website &gt; Mainline IPO dashboard &gt; Companies highlighted light yellow are going to be listed next day</a:t>
            </a:r>
          </a:p>
          <a:p>
            <a:pPr marL="628650" lvl="1" indent="-171450">
              <a:buFont typeface="Arial" panose="020B0604020202020204" pitchFamily="34" charset="0"/>
              <a:buChar char="•"/>
            </a:pPr>
            <a:r>
              <a:rPr lang="en-US" sz="1200" dirty="0">
                <a:latin typeface="Barlow" panose="00000500000000000000" pitchFamily="2" charset="0"/>
              </a:rPr>
              <a:t>Prashant mail’s with subject “Listing of Equity Shares of ____________”. If you aren’t added in the broadcast mail list than call “ Vishal </a:t>
            </a:r>
            <a:r>
              <a:rPr lang="en-US" sz="1200" dirty="0" err="1">
                <a:latin typeface="Barlow" panose="00000500000000000000" pitchFamily="2" charset="0"/>
              </a:rPr>
              <a:t>Kanani</a:t>
            </a:r>
            <a:r>
              <a:rPr lang="en-US" sz="1200" dirty="0">
                <a:latin typeface="Barlow" panose="00000500000000000000" pitchFamily="2" charset="0"/>
              </a:rPr>
              <a:t>” and ask him to add you. </a:t>
            </a:r>
          </a:p>
          <a:p>
            <a:pPr marL="628650" lvl="1" indent="-171450">
              <a:buFont typeface="Arial" panose="020B0604020202020204" pitchFamily="34" charset="0"/>
              <a:buChar char="•"/>
            </a:pPr>
            <a:r>
              <a:rPr lang="en-US" sz="1200" dirty="0">
                <a:latin typeface="Barlow" panose="00000500000000000000" pitchFamily="2" charset="0"/>
              </a:rPr>
              <a:t>Follow the same parameters as for equity risk rating </a:t>
            </a:r>
          </a:p>
          <a:p>
            <a:pPr marL="1085850" lvl="2" indent="-171450">
              <a:buFont typeface="Arial" panose="020B0604020202020204" pitchFamily="34" charset="0"/>
              <a:buChar char="•"/>
            </a:pPr>
            <a:r>
              <a:rPr lang="en-US" sz="1200" dirty="0">
                <a:latin typeface="Barlow" panose="00000500000000000000" pitchFamily="2" charset="0"/>
              </a:rPr>
              <a:t>Open RHP for financials</a:t>
            </a:r>
          </a:p>
          <a:p>
            <a:pPr marL="1085850" lvl="2" indent="-171450">
              <a:buFont typeface="Arial" panose="020B0604020202020204" pitchFamily="34" charset="0"/>
              <a:buChar char="•"/>
            </a:pPr>
            <a:r>
              <a:rPr lang="en-US" sz="1200" dirty="0">
                <a:latin typeface="Barlow" panose="00000500000000000000" pitchFamily="2" charset="0"/>
              </a:rPr>
              <a:t>Look for MCAP on Chittorgarh website</a:t>
            </a:r>
          </a:p>
        </p:txBody>
      </p:sp>
      <p:sp>
        <p:nvSpPr>
          <p:cNvPr id="2" name="GVCLASSIFICATIONFOOTERCenter0">
            <a:extLst>
              <a:ext uri="{FF2B5EF4-FFF2-40B4-BE49-F238E27FC236}">
                <a16:creationId xmlns:a16="http://schemas.microsoft.com/office/drawing/2014/main" id="{3D45D97D-2FD8-AD17-3F96-4B776A66126D}"/>
              </a:ext>
            </a:extLst>
          </p:cNvPr>
          <p:cNvSpPr txBox="1"/>
          <p:nvPr/>
        </p:nvSpPr>
        <p:spPr>
          <a:xfrm>
            <a:off x="0" y="6611779"/>
            <a:ext cx="12192000" cy="246221"/>
          </a:xfrm>
          <a:prstGeom prst="rect">
            <a:avLst/>
          </a:prstGeom>
          <a:noFill/>
        </p:spPr>
        <p:txBody>
          <a:bodyPr vert="horz" wrap="square" rtlCol="0">
            <a:spAutoFit/>
          </a:bodyPr>
          <a:lstStyle/>
          <a:p>
            <a:pPr algn="ctr"/>
            <a:r>
              <a:rPr lang="en-US" sz="1000">
                <a:solidFill>
                  <a:srgbClr val="0303FE"/>
                </a:solidFill>
              </a:rPr>
              <a:t>Classified as Internal</a:t>
            </a:r>
          </a:p>
        </p:txBody>
      </p:sp>
    </p:spTree>
    <p:extLst>
      <p:ext uri="{BB962C8B-B14F-4D97-AF65-F5344CB8AC3E}">
        <p14:creationId xmlns:p14="http://schemas.microsoft.com/office/powerpoint/2010/main" val="1669389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CF9B28-FDA6-0411-0F4C-836A505B8CE8}"/>
              </a:ext>
            </a:extLst>
          </p:cNvPr>
          <p:cNvSpPr txBox="1"/>
          <p:nvPr/>
        </p:nvSpPr>
        <p:spPr>
          <a:xfrm>
            <a:off x="209800" y="757690"/>
            <a:ext cx="11520382" cy="4524315"/>
          </a:xfrm>
          <a:prstGeom prst="rect">
            <a:avLst/>
          </a:prstGeom>
          <a:noFill/>
        </p:spPr>
        <p:txBody>
          <a:bodyPr wrap="square" rtlCol="0">
            <a:spAutoFit/>
          </a:bodyPr>
          <a:lstStyle/>
          <a:p>
            <a:r>
              <a:rPr lang="en-US" sz="1200" b="1" dirty="0">
                <a:latin typeface="Barlow" panose="00000500000000000000" pitchFamily="2" charset="0"/>
              </a:rPr>
              <a:t>MF Risk rating</a:t>
            </a:r>
            <a:r>
              <a:rPr lang="en-US" sz="1200" dirty="0">
                <a:latin typeface="Barlow" panose="00000500000000000000" pitchFamily="2" charset="0"/>
              </a:rPr>
              <a:t> (Equity, ETF’s)</a:t>
            </a:r>
          </a:p>
          <a:p>
            <a:pPr marL="171450" indent="-171450">
              <a:buFont typeface="Arial" panose="020B0604020202020204" pitchFamily="34" charset="0"/>
              <a:buChar char="•"/>
            </a:pPr>
            <a:endParaRPr lang="en-US" sz="1200" dirty="0">
              <a:latin typeface="Barlow" panose="00000500000000000000" pitchFamily="2" charset="0"/>
            </a:endParaRPr>
          </a:p>
          <a:p>
            <a:pPr marL="171450" indent="-171450">
              <a:buFont typeface="Arial" panose="020B0604020202020204" pitchFamily="34" charset="0"/>
              <a:buChar char="•"/>
            </a:pPr>
            <a:r>
              <a:rPr lang="en-US" sz="1200" dirty="0">
                <a:latin typeface="Barlow" panose="00000500000000000000" pitchFamily="2" charset="0"/>
              </a:rPr>
              <a:t>Mail check:</a:t>
            </a:r>
            <a:r>
              <a:rPr lang="en-US" sz="1200" b="0" i="0" dirty="0">
                <a:solidFill>
                  <a:srgbClr val="222222"/>
                </a:solidFill>
                <a:effectLst/>
                <a:latin typeface="Barlow" panose="00000500000000000000" pitchFamily="2" charset="0"/>
              </a:rPr>
              <a:t> Tag Mohit in the mail list</a:t>
            </a:r>
          </a:p>
          <a:p>
            <a:pPr marL="171450" indent="-171450">
              <a:buFont typeface="Arial" panose="020B0604020202020204" pitchFamily="34" charset="0"/>
              <a:buChar char="•"/>
            </a:pPr>
            <a:r>
              <a:rPr lang="en-US" sz="1200" dirty="0">
                <a:solidFill>
                  <a:srgbClr val="222222"/>
                </a:solidFill>
                <a:latin typeface="Barlow" panose="00000500000000000000" pitchFamily="2" charset="0"/>
              </a:rPr>
              <a:t>Equity based MF’s have stocks in their portfolio </a:t>
            </a:r>
            <a:endParaRPr lang="en-US" sz="1200" b="0" i="0" dirty="0">
              <a:solidFill>
                <a:srgbClr val="222222"/>
              </a:solidFill>
              <a:effectLst/>
              <a:latin typeface="Barlow" panose="00000500000000000000" pitchFamily="2" charset="0"/>
            </a:endParaRPr>
          </a:p>
          <a:p>
            <a:endParaRPr lang="en-US" sz="1200" b="0" i="0" dirty="0">
              <a:solidFill>
                <a:srgbClr val="222222"/>
              </a:solidFill>
              <a:effectLst/>
              <a:latin typeface="Barlow" panose="00000500000000000000" pitchFamily="2" charset="0"/>
            </a:endParaRPr>
          </a:p>
          <a:p>
            <a:r>
              <a:rPr lang="en-US" sz="1200" b="0" i="0" dirty="0">
                <a:solidFill>
                  <a:srgbClr val="222222"/>
                </a:solidFill>
                <a:effectLst/>
                <a:latin typeface="Barlow" panose="00000500000000000000" pitchFamily="2" charset="0"/>
              </a:rPr>
              <a:t>Following rules have to be followed for such rating requests</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We need to rate individual scrips in the MF portfolio in order to rate the MF.</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Download the MF portfolio constituents and % holding in each stock from NAV (Use ISIN to download).</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Steps to download the data from NAV: </a:t>
            </a:r>
          </a:p>
          <a:p>
            <a:pPr marL="1085850" lvl="2" indent="-171450">
              <a:buFont typeface="Arial" panose="020B0604020202020204" pitchFamily="34" charset="0"/>
              <a:buChar char="•"/>
            </a:pPr>
            <a:r>
              <a:rPr lang="en-US" sz="1200" dirty="0">
                <a:solidFill>
                  <a:srgbClr val="222222"/>
                </a:solidFill>
                <a:latin typeface="Barlow" panose="00000500000000000000" pitchFamily="2" charset="0"/>
              </a:rPr>
              <a:t>Copy ISIN of the MF’s and save it in the notepad</a:t>
            </a:r>
          </a:p>
          <a:p>
            <a:pPr marL="1085850" lvl="2" indent="-171450">
              <a:buFont typeface="Arial" panose="020B0604020202020204" pitchFamily="34" charset="0"/>
              <a:buChar char="•"/>
            </a:pPr>
            <a:r>
              <a:rPr lang="en-US" sz="1200" dirty="0">
                <a:solidFill>
                  <a:srgbClr val="222222"/>
                </a:solidFill>
                <a:latin typeface="Barlow" panose="00000500000000000000" pitchFamily="2" charset="0"/>
              </a:rPr>
              <a:t>NAV &gt; Defined sets &gt; </a:t>
            </a:r>
            <a:r>
              <a:rPr lang="en-US" sz="1200" dirty="0" err="1">
                <a:solidFill>
                  <a:srgbClr val="222222"/>
                </a:solidFill>
                <a:latin typeface="Barlow" panose="00000500000000000000" pitchFamily="2" charset="0"/>
              </a:rPr>
              <a:t>Peerset</a:t>
            </a:r>
            <a:r>
              <a:rPr lang="en-US" sz="1200" dirty="0">
                <a:solidFill>
                  <a:srgbClr val="222222"/>
                </a:solidFill>
                <a:latin typeface="Barlow" panose="00000500000000000000" pitchFamily="2" charset="0"/>
              </a:rPr>
              <a:t> &gt; Import &gt; Save (by clicking the select all arrow first in left bottom and then star mark in the bottom right of the right box)</a:t>
            </a:r>
          </a:p>
          <a:p>
            <a:pPr marL="1085850" lvl="2" indent="-171450">
              <a:buFont typeface="Arial" panose="020B0604020202020204" pitchFamily="34" charset="0"/>
              <a:buChar char="•"/>
            </a:pPr>
            <a:r>
              <a:rPr lang="en-US" sz="1200" dirty="0">
                <a:solidFill>
                  <a:srgbClr val="222222"/>
                </a:solidFill>
                <a:latin typeface="Barlow" panose="00000500000000000000" pitchFamily="2" charset="0"/>
              </a:rPr>
              <a:t>NAV India &gt; Multi Schemes &gt; Portfolio &gt; Company  (this shows you the components of the selected MF)</a:t>
            </a:r>
          </a:p>
          <a:p>
            <a:pPr marL="1085850" lvl="2" indent="-171450">
              <a:buFont typeface="Arial" panose="020B0604020202020204" pitchFamily="34" charset="0"/>
              <a:buChar char="•"/>
            </a:pPr>
            <a:r>
              <a:rPr lang="en-US" sz="1200" dirty="0">
                <a:solidFill>
                  <a:srgbClr val="222222"/>
                </a:solidFill>
                <a:latin typeface="Barlow" panose="00000500000000000000" pitchFamily="2" charset="0"/>
              </a:rPr>
              <a:t>Then right click, select all, copy. And paste in excel</a:t>
            </a:r>
          </a:p>
          <a:p>
            <a:pPr marL="1085850" lvl="2" indent="-171450">
              <a:buFont typeface="Arial" panose="020B0604020202020204" pitchFamily="34" charset="0"/>
              <a:buChar char="•"/>
            </a:pPr>
            <a:r>
              <a:rPr lang="en-US" sz="1200" dirty="0">
                <a:solidFill>
                  <a:srgbClr val="222222"/>
                </a:solidFill>
                <a:latin typeface="Barlow" panose="00000500000000000000" pitchFamily="2" charset="0"/>
              </a:rPr>
              <a:t>Remove scheme name, delete that row. Now make a pivot table.</a:t>
            </a:r>
          </a:p>
          <a:p>
            <a:pPr marL="1085850" lvl="2" indent="-171450">
              <a:buFont typeface="Arial" panose="020B0604020202020204" pitchFamily="34" charset="0"/>
              <a:buChar char="•"/>
            </a:pPr>
            <a:r>
              <a:rPr lang="en-US" sz="1200" dirty="0">
                <a:solidFill>
                  <a:srgbClr val="222222"/>
                </a:solidFill>
                <a:latin typeface="Barlow" panose="00000500000000000000" pitchFamily="2" charset="0"/>
              </a:rPr>
              <a:t>In the pivot table, put Asset Type in rows, per hold % in value, rating (for debt if it is the majority) in the column.</a:t>
            </a:r>
          </a:p>
          <a:p>
            <a:pPr marL="1085850" lvl="2"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Use the scrip categories of portfolio constituents from latest scrip category sheet received from Vishal.</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AUM is the scheme size of MF’s obtained from NAV [NAV&gt; Multi Scheme&gt;Portfolio&gt; Scheme Size].</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Cash and Cash Equivalent is included in </a:t>
            </a:r>
            <a:r>
              <a:rPr lang="en-US" sz="1200" dirty="0" err="1">
                <a:solidFill>
                  <a:srgbClr val="222222"/>
                </a:solidFill>
                <a:latin typeface="Barlow" panose="00000500000000000000" pitchFamily="2" charset="0"/>
              </a:rPr>
              <a:t>Bluechip</a:t>
            </a:r>
            <a:r>
              <a:rPr lang="en-US" sz="1200" dirty="0">
                <a:solidFill>
                  <a:srgbClr val="222222"/>
                </a:solidFill>
                <a:latin typeface="Barlow" panose="00000500000000000000" pitchFamily="2" charset="0"/>
              </a:rPr>
              <a:t> category</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Obtain the SEBI category form NAV [NAV&gt;Multi Schemes&gt; Performance&gt; Risk Return].</a:t>
            </a: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171450" indent="-171450">
              <a:buFont typeface="Arial" panose="020B0604020202020204" pitchFamily="34" charset="0"/>
              <a:buChar char="•"/>
            </a:pPr>
            <a:r>
              <a:rPr lang="en-US" sz="1200" dirty="0">
                <a:solidFill>
                  <a:srgbClr val="222222"/>
                </a:solidFill>
                <a:latin typeface="Barlow" panose="00000500000000000000" pitchFamily="2" charset="0"/>
              </a:rPr>
              <a:t>MF’s with 75% of their portfolio in sovereign bonds or Gold are considered “Good”.</a:t>
            </a:r>
          </a:p>
          <a:p>
            <a:pPr marL="171450" indent="-171450">
              <a:buFont typeface="Arial" panose="020B0604020202020204" pitchFamily="34" charset="0"/>
              <a:buChar char="•"/>
            </a:pPr>
            <a:r>
              <a:rPr lang="en-US" sz="1200" dirty="0">
                <a:solidFill>
                  <a:srgbClr val="222222"/>
                </a:solidFill>
                <a:latin typeface="Barlow" panose="00000500000000000000" pitchFamily="2" charset="0"/>
              </a:rPr>
              <a:t>No clarity currently on MF’s having Silver in their portfolio, it is rated as per monthly average of Daily traded value.</a:t>
            </a:r>
          </a:p>
          <a:p>
            <a:pPr marL="171450" indent="-171450">
              <a:buFont typeface="Arial" panose="020B0604020202020204" pitchFamily="34" charset="0"/>
              <a:buChar char="•"/>
            </a:pPr>
            <a:r>
              <a:rPr lang="en-US" sz="1200" dirty="0">
                <a:solidFill>
                  <a:srgbClr val="222222"/>
                </a:solidFill>
                <a:latin typeface="Barlow" panose="00000500000000000000" pitchFamily="2" charset="0"/>
              </a:rPr>
              <a:t>For Arbitrage Funds we have given Average in the past</a:t>
            </a:r>
          </a:p>
        </p:txBody>
      </p:sp>
      <p:graphicFrame>
        <p:nvGraphicFramePr>
          <p:cNvPr id="6" name="Table 5">
            <a:extLst>
              <a:ext uri="{FF2B5EF4-FFF2-40B4-BE49-F238E27FC236}">
                <a16:creationId xmlns:a16="http://schemas.microsoft.com/office/drawing/2014/main" id="{88A63EB8-401E-5EF6-B886-EB8312EA4F51}"/>
              </a:ext>
            </a:extLst>
          </p:cNvPr>
          <p:cNvGraphicFramePr>
            <a:graphicFrameLocks noGrp="1"/>
          </p:cNvGraphicFramePr>
          <p:nvPr>
            <p:extLst>
              <p:ext uri="{D42A27DB-BD31-4B8C-83A1-F6EECF244321}">
                <p14:modId xmlns:p14="http://schemas.microsoft.com/office/powerpoint/2010/main" val="515419359"/>
              </p:ext>
            </p:extLst>
          </p:nvPr>
        </p:nvGraphicFramePr>
        <p:xfrm>
          <a:off x="5391234" y="5082777"/>
          <a:ext cx="6651351" cy="1728231"/>
        </p:xfrm>
        <a:graphic>
          <a:graphicData uri="http://schemas.openxmlformats.org/drawingml/2006/table">
            <a:tbl>
              <a:tblPr firstRow="1" bandRow="1">
                <a:tableStyleId>{2D5ABB26-0587-4C30-8999-92F81FD0307C}</a:tableStyleId>
              </a:tblPr>
              <a:tblGrid>
                <a:gridCol w="2217117">
                  <a:extLst>
                    <a:ext uri="{9D8B030D-6E8A-4147-A177-3AD203B41FA5}">
                      <a16:colId xmlns:a16="http://schemas.microsoft.com/office/drawing/2014/main" val="3932714863"/>
                    </a:ext>
                  </a:extLst>
                </a:gridCol>
                <a:gridCol w="2217117">
                  <a:extLst>
                    <a:ext uri="{9D8B030D-6E8A-4147-A177-3AD203B41FA5}">
                      <a16:colId xmlns:a16="http://schemas.microsoft.com/office/drawing/2014/main" val="2282398496"/>
                    </a:ext>
                  </a:extLst>
                </a:gridCol>
                <a:gridCol w="2217117">
                  <a:extLst>
                    <a:ext uri="{9D8B030D-6E8A-4147-A177-3AD203B41FA5}">
                      <a16:colId xmlns:a16="http://schemas.microsoft.com/office/drawing/2014/main" val="1628501540"/>
                    </a:ext>
                  </a:extLst>
                </a:gridCol>
              </a:tblGrid>
              <a:tr h="265191">
                <a:tc>
                  <a:txBody>
                    <a:bodyPr/>
                    <a:lstStyle/>
                    <a:p>
                      <a:pPr algn="ctr"/>
                      <a:r>
                        <a:rPr lang="en-US" sz="1000" b="1" dirty="0">
                          <a:latin typeface="Barlow" panose="00000500000000000000" pitchFamily="2" charset="0"/>
                        </a:rPr>
                        <a:t>Risk category (of equity scrips)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000" b="1" dirty="0">
                          <a:latin typeface="Barlow" panose="00000500000000000000" pitchFamily="2" charset="0"/>
                        </a:rPr>
                        <a:t>% of AUM invested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000" b="1" dirty="0">
                          <a:latin typeface="Barlow" panose="00000500000000000000" pitchFamily="2" charset="0"/>
                        </a:rPr>
                        <a:t>Final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321048352"/>
                  </a:ext>
                </a:extLst>
              </a:tr>
              <a:tr h="204734">
                <a:tc>
                  <a:txBody>
                    <a:bodyPr/>
                    <a:lstStyle/>
                    <a:p>
                      <a:pPr algn="ctr"/>
                      <a:r>
                        <a:rPr lang="en-US" sz="1000" dirty="0" err="1">
                          <a:latin typeface="Barlow" panose="00000500000000000000" pitchFamily="2" charset="0"/>
                        </a:rPr>
                        <a:t>Bluechip</a:t>
                      </a: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&gt;  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9969686"/>
                  </a:ext>
                </a:extLst>
              </a:tr>
              <a:tr h="204734">
                <a:tc>
                  <a:txBody>
                    <a:bodyPr/>
                    <a:lstStyle/>
                    <a:p>
                      <a:pPr algn="ctr"/>
                      <a:r>
                        <a:rPr lang="en-US" sz="1000" dirty="0" err="1">
                          <a:latin typeface="Barlow" panose="00000500000000000000" pitchFamily="2" charset="0"/>
                        </a:rPr>
                        <a:t>Bluechip</a:t>
                      </a:r>
                      <a:r>
                        <a:rPr lang="en-US" sz="1000" dirty="0">
                          <a:latin typeface="Barlow" panose="00000500000000000000" pitchFamily="2" charset="0"/>
                        </a:rPr>
                        <a:t> &amp; 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&gt; 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5344524"/>
                  </a:ext>
                </a:extLst>
              </a:tr>
              <a:tr h="204734">
                <a:tc>
                  <a:txBody>
                    <a:bodyPr/>
                    <a:lstStyle/>
                    <a:p>
                      <a:pPr algn="ctr"/>
                      <a:r>
                        <a:rPr lang="en-US" sz="1000" dirty="0">
                          <a:latin typeface="Barlow" panose="00000500000000000000" pitchFamily="2" charset="0"/>
                        </a:rPr>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&gt; 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3900243"/>
                  </a:ext>
                </a:extLst>
              </a:tr>
              <a:tr h="204734">
                <a:tc>
                  <a:txBody>
                    <a:bodyPr/>
                    <a:lstStyle/>
                    <a:p>
                      <a:pPr algn="ctr"/>
                      <a:r>
                        <a:rPr lang="en-US" sz="1000" dirty="0">
                          <a:latin typeface="Barlow" panose="00000500000000000000" pitchFamily="2" charset="0"/>
                        </a:rPr>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&gt; 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1648912"/>
                  </a:ext>
                </a:extLst>
              </a:tr>
              <a:tr h="204734">
                <a:tc>
                  <a:txBody>
                    <a:bodyPr/>
                    <a:lstStyle/>
                    <a:p>
                      <a:pPr algn="ctr"/>
                      <a:r>
                        <a:rPr lang="en-US" sz="1000" dirty="0">
                          <a:latin typeface="Barlow" panose="00000500000000000000" pitchFamily="2" charset="0"/>
                        </a:rPr>
                        <a:t>Average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Remaining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7604150"/>
                  </a:ext>
                </a:extLst>
              </a:tr>
              <a:tr h="204734">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AUM less than 100cr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9827949"/>
                  </a:ext>
                </a:extLst>
              </a:tr>
            </a:tbl>
          </a:graphicData>
        </a:graphic>
      </p:graphicFrame>
    </p:spTree>
    <p:extLst>
      <p:ext uri="{BB962C8B-B14F-4D97-AF65-F5344CB8AC3E}">
        <p14:creationId xmlns:p14="http://schemas.microsoft.com/office/powerpoint/2010/main" val="3794418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CF9B28-FDA6-0411-0F4C-836A505B8CE8}"/>
              </a:ext>
            </a:extLst>
          </p:cNvPr>
          <p:cNvSpPr txBox="1"/>
          <p:nvPr/>
        </p:nvSpPr>
        <p:spPr>
          <a:xfrm>
            <a:off x="170042" y="744437"/>
            <a:ext cx="11743661" cy="3354765"/>
          </a:xfrm>
          <a:prstGeom prst="rect">
            <a:avLst/>
          </a:prstGeom>
          <a:noFill/>
        </p:spPr>
        <p:txBody>
          <a:bodyPr wrap="square" rtlCol="0">
            <a:spAutoFit/>
          </a:bodyPr>
          <a:lstStyle/>
          <a:p>
            <a:r>
              <a:rPr lang="en-US" sz="2000" dirty="0" err="1">
                <a:solidFill>
                  <a:srgbClr val="222222"/>
                </a:solidFill>
                <a:latin typeface="Barlow" panose="00000500000000000000" pitchFamily="2" charset="0"/>
              </a:rPr>
              <a:t>Sovereiegn</a:t>
            </a:r>
            <a:r>
              <a:rPr lang="en-US" sz="2000" dirty="0">
                <a:solidFill>
                  <a:srgbClr val="222222"/>
                </a:solidFill>
                <a:latin typeface="Barlow" panose="00000500000000000000" pitchFamily="2" charset="0"/>
              </a:rPr>
              <a:t> Gold Bond </a:t>
            </a:r>
          </a:p>
          <a:p>
            <a:pPr marL="171450" indent="-171450">
              <a:buFont typeface="Arial" panose="020B0604020202020204" pitchFamily="34" charset="0"/>
              <a:buChar char="•"/>
            </a:pPr>
            <a:r>
              <a:rPr lang="en-US" sz="2000" dirty="0">
                <a:solidFill>
                  <a:srgbClr val="222222"/>
                </a:solidFill>
                <a:latin typeface="Barlow" panose="00000500000000000000" pitchFamily="2" charset="0"/>
              </a:rPr>
              <a:t>SGB’s with 75% of their portfolio in sovereign bonds or Gold are considered “Good”.</a:t>
            </a:r>
          </a:p>
          <a:p>
            <a:pPr marL="171450" indent="-171450">
              <a:buFont typeface="Arial" panose="020B0604020202020204" pitchFamily="34" charset="0"/>
              <a:buChar char="•"/>
            </a:pPr>
            <a:r>
              <a:rPr lang="en-US" sz="2000" dirty="0">
                <a:solidFill>
                  <a:srgbClr val="222222"/>
                </a:solidFill>
                <a:latin typeface="Barlow" panose="00000500000000000000" pitchFamily="2" charset="0"/>
              </a:rPr>
              <a:t>No clarity currently on bonds having Silver in their portfolio, it is rated as per monthly average of Daily traded value</a:t>
            </a:r>
            <a:r>
              <a:rPr lang="en-US" sz="1200" dirty="0">
                <a:solidFill>
                  <a:srgbClr val="222222"/>
                </a:solidFill>
                <a:latin typeface="Barlow" panose="00000500000000000000" pitchFamily="2" charset="0"/>
              </a:rPr>
              <a:t>.</a:t>
            </a:r>
          </a:p>
          <a:p>
            <a:pPr marL="171450" indent="-171450">
              <a:buFont typeface="Arial" panose="020B0604020202020204" pitchFamily="34" charset="0"/>
              <a:buChar char="•"/>
            </a:pPr>
            <a:endParaRPr lang="en-US" sz="1200" dirty="0">
              <a:solidFill>
                <a:srgbClr val="222222"/>
              </a:solidFill>
              <a:latin typeface="Barlow" panose="00000500000000000000" pitchFamily="2" charset="0"/>
            </a:endParaRPr>
          </a:p>
          <a:p>
            <a:pPr marL="171450" indent="-171450">
              <a:buFont typeface="Arial" panose="020B0604020202020204" pitchFamily="34" charset="0"/>
              <a:buChar char="•"/>
            </a:pPr>
            <a:r>
              <a:rPr lang="en-US" sz="2000" dirty="0">
                <a:solidFill>
                  <a:srgbClr val="222222"/>
                </a:solidFill>
                <a:latin typeface="Barlow" panose="00000500000000000000" pitchFamily="2" charset="0"/>
              </a:rPr>
              <a:t>For Angel One ETF all should be Good</a:t>
            </a:r>
          </a:p>
          <a:p>
            <a:pPr marL="171450" indent="-171450">
              <a:buFont typeface="Arial" panose="020B0604020202020204" pitchFamily="34" charset="0"/>
              <a:buChar char="•"/>
            </a:pPr>
            <a:r>
              <a:rPr lang="en-US" sz="2000" dirty="0">
                <a:solidFill>
                  <a:srgbClr val="222222"/>
                </a:solidFill>
                <a:latin typeface="Barlow" panose="00000500000000000000" pitchFamily="2" charset="0"/>
              </a:rPr>
              <a:t>Downgrading should be on one step and same as upgrading.</a:t>
            </a:r>
          </a:p>
          <a:p>
            <a:pPr marL="171450" indent="-171450">
              <a:buFont typeface="Arial" panose="020B0604020202020204" pitchFamily="34" charset="0"/>
              <a:buChar char="•"/>
            </a:pPr>
            <a:r>
              <a:rPr lang="en-US" sz="2000" dirty="0">
                <a:solidFill>
                  <a:srgbClr val="222222"/>
                </a:solidFill>
                <a:latin typeface="Barlow" panose="00000500000000000000" pitchFamily="2" charset="0"/>
              </a:rPr>
              <a:t>90% More in silver is Good, however, we can give ‘Poor’ if its AUM is &lt; 100 Cr (</a:t>
            </a:r>
            <a:r>
              <a:rPr lang="en-US" sz="2000" b="1" dirty="0">
                <a:solidFill>
                  <a:srgbClr val="222222"/>
                </a:solidFill>
                <a:latin typeface="Barlow" panose="00000500000000000000" pitchFamily="2" charset="0"/>
              </a:rPr>
              <a:t>to be discussed</a:t>
            </a:r>
            <a:r>
              <a:rPr lang="en-US" sz="2000" dirty="0">
                <a:solidFill>
                  <a:srgbClr val="222222"/>
                </a:solidFill>
                <a:latin typeface="Barlow" panose="00000500000000000000" pitchFamily="2" charset="0"/>
              </a:rPr>
              <a:t>), also refer to old rating for upgrade or downgrade</a:t>
            </a:r>
          </a:p>
          <a:p>
            <a:pPr marL="171450" indent="-171450">
              <a:buFont typeface="Arial" panose="020B0604020202020204" pitchFamily="34" charset="0"/>
              <a:buChar char="•"/>
            </a:pPr>
            <a:endParaRPr lang="en-US" sz="2000" dirty="0">
              <a:solidFill>
                <a:srgbClr val="222222"/>
              </a:solidFill>
              <a:latin typeface="Barlow" panose="00000500000000000000" pitchFamily="2" charset="0"/>
            </a:endParaRPr>
          </a:p>
          <a:p>
            <a:pPr marL="171450" indent="-171450">
              <a:buFont typeface="Arial" panose="020B0604020202020204" pitchFamily="34" charset="0"/>
              <a:buChar char="•"/>
            </a:pPr>
            <a:r>
              <a:rPr lang="en-US" sz="2000" dirty="0">
                <a:solidFill>
                  <a:srgbClr val="222222"/>
                </a:solidFill>
                <a:latin typeface="Barlow" panose="00000500000000000000" pitchFamily="2" charset="0"/>
              </a:rPr>
              <a:t>&gt; 90% Foreign Equity, Rating given as “Average” (to be discussed)</a:t>
            </a:r>
          </a:p>
        </p:txBody>
      </p:sp>
      <p:sp>
        <p:nvSpPr>
          <p:cNvPr id="2" name="GVCLASSIFICATIONFOOTERCenter0">
            <a:extLst>
              <a:ext uri="{FF2B5EF4-FFF2-40B4-BE49-F238E27FC236}">
                <a16:creationId xmlns:a16="http://schemas.microsoft.com/office/drawing/2014/main" id="{01C959B7-5E6B-06D9-DED0-8B7D9401593C}"/>
              </a:ext>
            </a:extLst>
          </p:cNvPr>
          <p:cNvSpPr txBox="1"/>
          <p:nvPr/>
        </p:nvSpPr>
        <p:spPr>
          <a:xfrm>
            <a:off x="0" y="6611779"/>
            <a:ext cx="12192000" cy="246221"/>
          </a:xfrm>
          <a:prstGeom prst="rect">
            <a:avLst/>
          </a:prstGeom>
          <a:noFill/>
        </p:spPr>
        <p:txBody>
          <a:bodyPr vert="horz" wrap="square" rtlCol="0">
            <a:spAutoFit/>
          </a:bodyPr>
          <a:lstStyle/>
          <a:p>
            <a:pPr algn="ctr"/>
            <a:r>
              <a:rPr lang="en-US" sz="1000">
                <a:solidFill>
                  <a:srgbClr val="0303FE"/>
                </a:solidFill>
              </a:rPr>
              <a:t>Classified as Internal</a:t>
            </a:r>
          </a:p>
        </p:txBody>
      </p:sp>
    </p:spTree>
    <p:extLst>
      <p:ext uri="{BB962C8B-B14F-4D97-AF65-F5344CB8AC3E}">
        <p14:creationId xmlns:p14="http://schemas.microsoft.com/office/powerpoint/2010/main" val="1208061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CF9B28-FDA6-0411-0F4C-836A505B8CE8}"/>
              </a:ext>
            </a:extLst>
          </p:cNvPr>
          <p:cNvSpPr txBox="1"/>
          <p:nvPr/>
        </p:nvSpPr>
        <p:spPr>
          <a:xfrm>
            <a:off x="209800" y="757690"/>
            <a:ext cx="11520382" cy="5632311"/>
          </a:xfrm>
          <a:prstGeom prst="rect">
            <a:avLst/>
          </a:prstGeom>
          <a:noFill/>
        </p:spPr>
        <p:txBody>
          <a:bodyPr wrap="square" rtlCol="0">
            <a:spAutoFit/>
          </a:bodyPr>
          <a:lstStyle/>
          <a:p>
            <a:r>
              <a:rPr lang="en-US" sz="1200" b="1" dirty="0">
                <a:latin typeface="Barlow" panose="00000500000000000000" pitchFamily="2" charset="0"/>
              </a:rPr>
              <a:t>MF Risk rating</a:t>
            </a:r>
            <a:r>
              <a:rPr lang="en-US" sz="1200" dirty="0">
                <a:latin typeface="Barlow" panose="00000500000000000000" pitchFamily="2" charset="0"/>
              </a:rPr>
              <a:t> (Debt category)</a:t>
            </a:r>
          </a:p>
          <a:p>
            <a:pPr marL="171450" indent="-171450">
              <a:buFont typeface="Arial" panose="020B0604020202020204" pitchFamily="34" charset="0"/>
              <a:buChar char="•"/>
            </a:pPr>
            <a:endParaRPr lang="en-US" sz="1200" dirty="0">
              <a:latin typeface="Barlow" panose="00000500000000000000" pitchFamily="2" charset="0"/>
            </a:endParaRPr>
          </a:p>
          <a:p>
            <a:pPr marL="171450" indent="-171450">
              <a:buFont typeface="Arial" panose="020B0604020202020204" pitchFamily="34" charset="0"/>
              <a:buChar char="•"/>
            </a:pPr>
            <a:r>
              <a:rPr lang="en-US" sz="1200" dirty="0">
                <a:latin typeface="Barlow" panose="00000500000000000000" pitchFamily="2" charset="0"/>
              </a:rPr>
              <a:t>Mail check:</a:t>
            </a:r>
            <a:r>
              <a:rPr lang="en-US" sz="1200" b="0" i="0" dirty="0">
                <a:solidFill>
                  <a:srgbClr val="222222"/>
                </a:solidFill>
                <a:effectLst/>
                <a:latin typeface="Barlow" panose="00000500000000000000" pitchFamily="2" charset="0"/>
              </a:rPr>
              <a:t> Tag Mohit in the mail list</a:t>
            </a:r>
          </a:p>
          <a:p>
            <a:pPr marL="171450" indent="-171450">
              <a:buFont typeface="Arial" panose="020B0604020202020204" pitchFamily="34" charset="0"/>
              <a:buChar char="•"/>
            </a:pPr>
            <a:r>
              <a:rPr lang="en-US" sz="1200" dirty="0">
                <a:solidFill>
                  <a:srgbClr val="222222"/>
                </a:solidFill>
                <a:latin typeface="Barlow" panose="00000500000000000000" pitchFamily="2" charset="0"/>
              </a:rPr>
              <a:t>Debt based MF’s have stocks in their portfolio </a:t>
            </a:r>
            <a:endParaRPr lang="en-US" sz="1200" b="0" i="0" dirty="0">
              <a:solidFill>
                <a:srgbClr val="222222"/>
              </a:solidFill>
              <a:effectLst/>
              <a:latin typeface="Barlow" panose="00000500000000000000" pitchFamily="2" charset="0"/>
            </a:endParaRPr>
          </a:p>
          <a:p>
            <a:endParaRPr lang="en-US" sz="1200" b="0" i="0" dirty="0">
              <a:solidFill>
                <a:srgbClr val="222222"/>
              </a:solidFill>
              <a:effectLst/>
              <a:latin typeface="Barlow" panose="00000500000000000000" pitchFamily="2" charset="0"/>
            </a:endParaRPr>
          </a:p>
          <a:p>
            <a:r>
              <a:rPr lang="en-US" sz="1200" b="0" i="0" dirty="0">
                <a:solidFill>
                  <a:srgbClr val="222222"/>
                </a:solidFill>
                <a:effectLst/>
                <a:latin typeface="Barlow" panose="00000500000000000000" pitchFamily="2" charset="0"/>
              </a:rPr>
              <a:t>Following rules have to be followed for such rating requests</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We need to rate individual bonds in the MF portfolio in order to rate the MF.</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Download the MF portfolio constituents and % holding in each bond from NAV (Use ISIN to download).</a:t>
            </a:r>
          </a:p>
          <a:p>
            <a:pPr marL="1085850" lvl="2" indent="-171450">
              <a:buFont typeface="Arial" panose="020B0604020202020204" pitchFamily="34" charset="0"/>
              <a:buChar char="•"/>
            </a:pPr>
            <a:r>
              <a:rPr lang="en-US" sz="1200" dirty="0">
                <a:solidFill>
                  <a:srgbClr val="222222"/>
                </a:solidFill>
                <a:latin typeface="Barlow" panose="00000500000000000000" pitchFamily="2" charset="0"/>
              </a:rPr>
              <a:t>Portfolio constituents in the Bonds are rated by NAV under various categories.</a:t>
            </a:r>
          </a:p>
          <a:p>
            <a:pPr marL="1085850" lvl="2" indent="-171450">
              <a:buFont typeface="Arial" panose="020B0604020202020204" pitchFamily="34" charset="0"/>
              <a:buChar char="•"/>
            </a:pPr>
            <a:r>
              <a:rPr lang="en-US" sz="1200" dirty="0">
                <a:solidFill>
                  <a:srgbClr val="222222"/>
                </a:solidFill>
                <a:latin typeface="Barlow" panose="00000500000000000000" pitchFamily="2" charset="0"/>
              </a:rPr>
              <a:t>These categories are equivalent to and distributed under four categories as per our rules viz. AAA, AA+, AA and other ratings.</a:t>
            </a:r>
          </a:p>
          <a:p>
            <a:pPr lvl="1"/>
            <a:r>
              <a:rPr lang="en-US" sz="1200" dirty="0">
                <a:solidFill>
                  <a:srgbClr val="222222"/>
                </a:solidFill>
                <a:latin typeface="Barlow" panose="00000500000000000000" pitchFamily="2" charset="0"/>
              </a:rPr>
              <a:t> </a:t>
            </a: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AUM is the scheme size of MF’s obtained from NAV [NAV&gt; Multi Scheme&gt;Portfolio&gt; Scheme Size].</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Obtain the SEBI category form NAV [NAV&gt;Multi Schemes&gt; Performance&gt; Risk Return].</a:t>
            </a: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p:txBody>
      </p:sp>
      <p:graphicFrame>
        <p:nvGraphicFramePr>
          <p:cNvPr id="2" name="Table 1">
            <a:extLst>
              <a:ext uri="{FF2B5EF4-FFF2-40B4-BE49-F238E27FC236}">
                <a16:creationId xmlns:a16="http://schemas.microsoft.com/office/drawing/2014/main" id="{7AF7A41C-B8F3-DECF-004B-704184BB9878}"/>
              </a:ext>
            </a:extLst>
          </p:cNvPr>
          <p:cNvGraphicFramePr>
            <a:graphicFrameLocks noGrp="1"/>
          </p:cNvGraphicFramePr>
          <p:nvPr>
            <p:extLst>
              <p:ext uri="{D42A27DB-BD31-4B8C-83A1-F6EECF244321}">
                <p14:modId xmlns:p14="http://schemas.microsoft.com/office/powerpoint/2010/main" val="2383858707"/>
              </p:ext>
            </p:extLst>
          </p:nvPr>
        </p:nvGraphicFramePr>
        <p:xfrm>
          <a:off x="918810" y="2739299"/>
          <a:ext cx="6396390" cy="2682240"/>
        </p:xfrm>
        <a:graphic>
          <a:graphicData uri="http://schemas.openxmlformats.org/drawingml/2006/table">
            <a:tbl>
              <a:tblPr firstRow="1" bandRow="1">
                <a:tableStyleId>{2D5ABB26-0587-4C30-8999-92F81FD0307C}</a:tableStyleId>
              </a:tblPr>
              <a:tblGrid>
                <a:gridCol w="1810213">
                  <a:extLst>
                    <a:ext uri="{9D8B030D-6E8A-4147-A177-3AD203B41FA5}">
                      <a16:colId xmlns:a16="http://schemas.microsoft.com/office/drawing/2014/main" val="2551354065"/>
                    </a:ext>
                  </a:extLst>
                </a:gridCol>
                <a:gridCol w="1240465">
                  <a:extLst>
                    <a:ext uri="{9D8B030D-6E8A-4147-A177-3AD203B41FA5}">
                      <a16:colId xmlns:a16="http://schemas.microsoft.com/office/drawing/2014/main" val="1562024392"/>
                    </a:ext>
                  </a:extLst>
                </a:gridCol>
                <a:gridCol w="1155405">
                  <a:extLst>
                    <a:ext uri="{9D8B030D-6E8A-4147-A177-3AD203B41FA5}">
                      <a16:colId xmlns:a16="http://schemas.microsoft.com/office/drawing/2014/main" val="2797752734"/>
                    </a:ext>
                  </a:extLst>
                </a:gridCol>
                <a:gridCol w="1084521">
                  <a:extLst>
                    <a:ext uri="{9D8B030D-6E8A-4147-A177-3AD203B41FA5}">
                      <a16:colId xmlns:a16="http://schemas.microsoft.com/office/drawing/2014/main" val="3013229369"/>
                    </a:ext>
                  </a:extLst>
                </a:gridCol>
                <a:gridCol w="1105786">
                  <a:extLst>
                    <a:ext uri="{9D8B030D-6E8A-4147-A177-3AD203B41FA5}">
                      <a16:colId xmlns:a16="http://schemas.microsoft.com/office/drawing/2014/main" val="1580531908"/>
                    </a:ext>
                  </a:extLst>
                </a:gridCol>
              </a:tblGrid>
              <a:tr h="196758">
                <a:tc>
                  <a:txBody>
                    <a:bodyPr/>
                    <a:lstStyle/>
                    <a:p>
                      <a:pPr algn="ctr"/>
                      <a:r>
                        <a:rPr lang="en-US" sz="1000" b="1" dirty="0">
                          <a:latin typeface="Barlow" panose="00000500000000000000" pitchFamily="2" charset="0"/>
                        </a:rPr>
                        <a:t>Equivalent Angel One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000" b="1" dirty="0">
                          <a:latin typeface="Barlow" panose="00000500000000000000" pitchFamily="2" charset="0"/>
                        </a:rPr>
                        <a:t>AAA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b="1" dirty="0">
                          <a:latin typeface="Barlow" panose="00000500000000000000" pitchFamily="2" charset="0"/>
                        </a:rPr>
                        <a:t>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b="1" dirty="0">
                          <a:latin typeface="Barlow" panose="00000500000000000000" pitchFamily="2" charset="0"/>
                        </a:rPr>
                        <a:t>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b="1" dirty="0">
                          <a:latin typeface="Barlow" panose="00000500000000000000" pitchFamily="2" charset="0"/>
                        </a:rPr>
                        <a:t>Other ratings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96477321"/>
                  </a:ext>
                </a:extLst>
              </a:tr>
              <a:tr h="196758">
                <a:tc rowSpan="10">
                  <a:txBody>
                    <a:bodyPr/>
                    <a:lstStyle/>
                    <a:p>
                      <a:pPr algn="ctr"/>
                      <a:r>
                        <a:rPr lang="en-US" sz="1000" b="1" dirty="0">
                          <a:latin typeface="Barlow" panose="00000500000000000000" pitchFamily="2" charset="0"/>
                        </a:rPr>
                        <a:t>Categories as per NAV software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000" dirty="0">
                          <a:latin typeface="Barlow" panose="00000500000000000000" pitchFamily="2" charset="0"/>
                        </a:rPr>
                        <a:t>AAA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2782413"/>
                  </a:ext>
                </a:extLst>
              </a:tr>
              <a:tr h="196758">
                <a:tc vMerge="1">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AAA (SO)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 (SO)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 (CE)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4051652"/>
                  </a:ext>
                </a:extLst>
              </a:tr>
              <a:tr h="196758">
                <a:tc vMerge="1">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AAA (CE)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 (CE)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8751013"/>
                  </a:ext>
                </a:extLst>
              </a:tr>
              <a:tr h="196758">
                <a:tc vMerge="1">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AAA (IND)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 (CE)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4148934"/>
                  </a:ext>
                </a:extLst>
              </a:tr>
              <a:tr h="196758">
                <a:tc vMerge="1">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Reverse repo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Net CA &amp; others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4277706"/>
                  </a:ext>
                </a:extLst>
              </a:tr>
              <a:tr h="196758">
                <a:tc vMerge="1">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Cash and 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6059731"/>
                  </a:ext>
                </a:extLst>
              </a:tr>
              <a:tr h="196758">
                <a:tc vMerge="1">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Fixed Deposits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AA- (CE)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4914133"/>
                  </a:ext>
                </a:extLst>
              </a:tr>
              <a:tr h="196758">
                <a:tc vMerge="1">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T Bills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7883230"/>
                  </a:ext>
                </a:extLst>
              </a:tr>
              <a:tr h="196758">
                <a:tc vMerge="1">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Sovereign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5984814"/>
                  </a:ext>
                </a:extLst>
              </a:tr>
              <a:tr h="196758">
                <a:tc vMerge="1">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Barlow" panose="00000500000000000000" pitchFamily="2"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0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5912851"/>
                  </a:ext>
                </a:extLst>
              </a:tr>
            </a:tbl>
          </a:graphicData>
        </a:graphic>
      </p:graphicFrame>
      <p:sp>
        <p:nvSpPr>
          <p:cNvPr id="4" name="GVCLASSIFICATIONFOOTERCenter0">
            <a:extLst>
              <a:ext uri="{FF2B5EF4-FFF2-40B4-BE49-F238E27FC236}">
                <a16:creationId xmlns:a16="http://schemas.microsoft.com/office/drawing/2014/main" id="{11E2F851-613A-D4BD-BB05-3D0501C7E31E}"/>
              </a:ext>
            </a:extLst>
          </p:cNvPr>
          <p:cNvSpPr txBox="1"/>
          <p:nvPr/>
        </p:nvSpPr>
        <p:spPr>
          <a:xfrm>
            <a:off x="0" y="6611779"/>
            <a:ext cx="12192000" cy="246221"/>
          </a:xfrm>
          <a:prstGeom prst="rect">
            <a:avLst/>
          </a:prstGeom>
          <a:noFill/>
        </p:spPr>
        <p:txBody>
          <a:bodyPr vert="horz" wrap="square" rtlCol="0">
            <a:spAutoFit/>
          </a:bodyPr>
          <a:lstStyle/>
          <a:p>
            <a:pPr algn="ctr"/>
            <a:r>
              <a:rPr lang="en-US" sz="1000">
                <a:solidFill>
                  <a:srgbClr val="0303FE"/>
                </a:solidFill>
              </a:rPr>
              <a:t>Classified as Internal</a:t>
            </a:r>
          </a:p>
        </p:txBody>
      </p:sp>
    </p:spTree>
    <p:extLst>
      <p:ext uri="{BB962C8B-B14F-4D97-AF65-F5344CB8AC3E}">
        <p14:creationId xmlns:p14="http://schemas.microsoft.com/office/powerpoint/2010/main" val="1771895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CF9B28-FDA6-0411-0F4C-836A505B8CE8}"/>
              </a:ext>
            </a:extLst>
          </p:cNvPr>
          <p:cNvSpPr txBox="1"/>
          <p:nvPr/>
        </p:nvSpPr>
        <p:spPr>
          <a:xfrm>
            <a:off x="209800" y="757690"/>
            <a:ext cx="11520382" cy="646331"/>
          </a:xfrm>
          <a:prstGeom prst="rect">
            <a:avLst/>
          </a:prstGeom>
          <a:noFill/>
        </p:spPr>
        <p:txBody>
          <a:bodyPr wrap="square" rtlCol="0">
            <a:spAutoFit/>
          </a:bodyPr>
          <a:lstStyle/>
          <a:p>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a:p>
            <a:pPr marL="628650" lvl="1" indent="-171450">
              <a:buFont typeface="Arial" panose="020B0604020202020204" pitchFamily="34" charset="0"/>
              <a:buChar char="•"/>
            </a:pPr>
            <a:endParaRPr lang="en-US" sz="1200" dirty="0">
              <a:solidFill>
                <a:srgbClr val="222222"/>
              </a:solidFill>
              <a:latin typeface="Barlow" panose="00000500000000000000" pitchFamily="2" charset="0"/>
            </a:endParaRPr>
          </a:p>
        </p:txBody>
      </p:sp>
      <p:graphicFrame>
        <p:nvGraphicFramePr>
          <p:cNvPr id="9" name="Table 8">
            <a:extLst>
              <a:ext uri="{FF2B5EF4-FFF2-40B4-BE49-F238E27FC236}">
                <a16:creationId xmlns:a16="http://schemas.microsoft.com/office/drawing/2014/main" id="{D09EC115-87AA-DCFB-2E9C-8F09D8B5E4E3}"/>
              </a:ext>
            </a:extLst>
          </p:cNvPr>
          <p:cNvGraphicFramePr>
            <a:graphicFrameLocks noGrp="1"/>
          </p:cNvGraphicFramePr>
          <p:nvPr>
            <p:extLst>
              <p:ext uri="{D42A27DB-BD31-4B8C-83A1-F6EECF244321}">
                <p14:modId xmlns:p14="http://schemas.microsoft.com/office/powerpoint/2010/main" val="1523181982"/>
              </p:ext>
            </p:extLst>
          </p:nvPr>
        </p:nvGraphicFramePr>
        <p:xfrm>
          <a:off x="461818" y="1127540"/>
          <a:ext cx="7326684" cy="1645920"/>
        </p:xfrm>
        <a:graphic>
          <a:graphicData uri="http://schemas.openxmlformats.org/drawingml/2006/table">
            <a:tbl>
              <a:tblPr firstRow="1" bandRow="1">
                <a:tableStyleId>{2D5ABB26-0587-4C30-8999-92F81FD0307C}</a:tableStyleId>
              </a:tblPr>
              <a:tblGrid>
                <a:gridCol w="2442228">
                  <a:extLst>
                    <a:ext uri="{9D8B030D-6E8A-4147-A177-3AD203B41FA5}">
                      <a16:colId xmlns:a16="http://schemas.microsoft.com/office/drawing/2014/main" val="3932714863"/>
                    </a:ext>
                  </a:extLst>
                </a:gridCol>
                <a:gridCol w="2442228">
                  <a:extLst>
                    <a:ext uri="{9D8B030D-6E8A-4147-A177-3AD203B41FA5}">
                      <a16:colId xmlns:a16="http://schemas.microsoft.com/office/drawing/2014/main" val="2282398496"/>
                    </a:ext>
                  </a:extLst>
                </a:gridCol>
                <a:gridCol w="2442228">
                  <a:extLst>
                    <a:ext uri="{9D8B030D-6E8A-4147-A177-3AD203B41FA5}">
                      <a16:colId xmlns:a16="http://schemas.microsoft.com/office/drawing/2014/main" val="1628501540"/>
                    </a:ext>
                  </a:extLst>
                </a:gridCol>
              </a:tblGrid>
              <a:tr h="269642">
                <a:tc>
                  <a:txBody>
                    <a:bodyPr/>
                    <a:lstStyle/>
                    <a:p>
                      <a:pPr algn="ctr"/>
                      <a:r>
                        <a:rPr lang="en-US" sz="1200" b="1" dirty="0">
                          <a:latin typeface="Barlow" panose="00000500000000000000" pitchFamily="2" charset="0"/>
                        </a:rPr>
                        <a:t>Risk category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1" dirty="0">
                          <a:latin typeface="Barlow" panose="00000500000000000000" pitchFamily="2" charset="0"/>
                        </a:rPr>
                        <a:t>% of AUM invested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1" dirty="0">
                          <a:latin typeface="Barlow" panose="00000500000000000000" pitchFamily="2" charset="0"/>
                        </a:rPr>
                        <a:t>Final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321048352"/>
                  </a:ext>
                </a:extLst>
              </a:tr>
              <a:tr h="240994">
                <a:tc>
                  <a:txBody>
                    <a:bodyPr/>
                    <a:lstStyle/>
                    <a:p>
                      <a:pPr algn="ctr"/>
                      <a:r>
                        <a:rPr lang="en-US" sz="1200" dirty="0">
                          <a:latin typeface="Barlow" panose="00000500000000000000" pitchFamily="2" charset="0"/>
                        </a:rPr>
                        <a:t>AAA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&gt; 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5344524"/>
                  </a:ext>
                </a:extLst>
              </a:tr>
              <a:tr h="240994">
                <a:tc>
                  <a:txBody>
                    <a:bodyPr/>
                    <a:lstStyle/>
                    <a:p>
                      <a:pPr algn="ctr"/>
                      <a:r>
                        <a:rPr lang="en-US" sz="1200" dirty="0">
                          <a:latin typeface="Barlow" panose="00000500000000000000" pitchFamily="2" charset="0"/>
                        </a:rPr>
                        <a:t>AAA &amp; 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&gt; 95% (&amp; AAA&gt;75%)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3900243"/>
                  </a:ext>
                </a:extLst>
              </a:tr>
              <a:tr h="240994">
                <a:tc>
                  <a:txBody>
                    <a:bodyPr/>
                    <a:lstStyle/>
                    <a:p>
                      <a:pPr algn="ctr"/>
                      <a:r>
                        <a:rPr lang="en-US" sz="1200" dirty="0">
                          <a:latin typeface="Barlow" panose="00000500000000000000" pitchFamily="2" charset="0"/>
                        </a:rPr>
                        <a:t>AAA &amp; AA+ &amp; 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&gt; 85% (AAA &amp; AA+ &gt;75%)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Average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1648912"/>
                  </a:ext>
                </a:extLst>
              </a:tr>
              <a:tr h="240994">
                <a:tc>
                  <a:txBody>
                    <a:bodyPr/>
                    <a:lstStyle/>
                    <a:p>
                      <a:pPr algn="ctr"/>
                      <a:r>
                        <a:rPr lang="en-US" sz="1200" dirty="0">
                          <a:latin typeface="Barlow" panose="00000500000000000000" pitchFamily="2" charset="0"/>
                        </a:rPr>
                        <a:t>Rest 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Rest 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7604150"/>
                  </a:ext>
                </a:extLst>
              </a:tr>
              <a:tr h="240994">
                <a:tc>
                  <a:txBody>
                    <a:bodyPr/>
                    <a:lstStyle/>
                    <a:p>
                      <a:pPr algn="ctr"/>
                      <a:endParaRPr lang="en-US" sz="12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AUM less than 100cr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9827949"/>
                  </a:ext>
                </a:extLst>
              </a:tr>
            </a:tbl>
          </a:graphicData>
        </a:graphic>
      </p:graphicFrame>
      <p:sp>
        <p:nvSpPr>
          <p:cNvPr id="2" name="GVCLASSIFICATIONFOOTERCenter0">
            <a:extLst>
              <a:ext uri="{FF2B5EF4-FFF2-40B4-BE49-F238E27FC236}">
                <a16:creationId xmlns:a16="http://schemas.microsoft.com/office/drawing/2014/main" id="{78CCA39B-9120-640C-69C7-6DE72491F9FA}"/>
              </a:ext>
            </a:extLst>
          </p:cNvPr>
          <p:cNvSpPr txBox="1"/>
          <p:nvPr/>
        </p:nvSpPr>
        <p:spPr>
          <a:xfrm>
            <a:off x="0" y="6611779"/>
            <a:ext cx="12192000" cy="246221"/>
          </a:xfrm>
          <a:prstGeom prst="rect">
            <a:avLst/>
          </a:prstGeom>
          <a:noFill/>
        </p:spPr>
        <p:txBody>
          <a:bodyPr vert="horz" wrap="square" rtlCol="0">
            <a:spAutoFit/>
          </a:bodyPr>
          <a:lstStyle/>
          <a:p>
            <a:pPr algn="ctr"/>
            <a:r>
              <a:rPr lang="en-US" sz="1000">
                <a:solidFill>
                  <a:srgbClr val="0303FE"/>
                </a:solidFill>
              </a:rPr>
              <a:t>Classified as Internal</a:t>
            </a:r>
          </a:p>
        </p:txBody>
      </p:sp>
    </p:spTree>
    <p:extLst>
      <p:ext uri="{BB962C8B-B14F-4D97-AF65-F5344CB8AC3E}">
        <p14:creationId xmlns:p14="http://schemas.microsoft.com/office/powerpoint/2010/main" val="3012363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CF9B28-FDA6-0411-0F4C-836A505B8CE8}"/>
              </a:ext>
            </a:extLst>
          </p:cNvPr>
          <p:cNvSpPr txBox="1"/>
          <p:nvPr/>
        </p:nvSpPr>
        <p:spPr>
          <a:xfrm>
            <a:off x="209800" y="757690"/>
            <a:ext cx="11520382" cy="2308324"/>
          </a:xfrm>
          <a:prstGeom prst="rect">
            <a:avLst/>
          </a:prstGeom>
          <a:noFill/>
        </p:spPr>
        <p:txBody>
          <a:bodyPr wrap="square" rtlCol="0">
            <a:spAutoFit/>
          </a:bodyPr>
          <a:lstStyle/>
          <a:p>
            <a:r>
              <a:rPr lang="en-US" sz="1200" b="1" dirty="0">
                <a:latin typeface="Barlow" panose="00000500000000000000" pitchFamily="2" charset="0"/>
              </a:rPr>
              <a:t>MF Risk rating</a:t>
            </a:r>
            <a:r>
              <a:rPr lang="en-US" sz="1200" dirty="0">
                <a:latin typeface="Barlow" panose="00000500000000000000" pitchFamily="2" charset="0"/>
              </a:rPr>
              <a:t> (Hybrid category)</a:t>
            </a:r>
          </a:p>
          <a:p>
            <a:pPr marL="171450" indent="-171450">
              <a:buFont typeface="Arial" panose="020B0604020202020204" pitchFamily="34" charset="0"/>
              <a:buChar char="•"/>
            </a:pPr>
            <a:endParaRPr lang="en-US" sz="1200" dirty="0">
              <a:latin typeface="Barlow" panose="00000500000000000000" pitchFamily="2" charset="0"/>
            </a:endParaRPr>
          </a:p>
          <a:p>
            <a:pPr marL="171450" indent="-171450">
              <a:buFont typeface="Arial" panose="020B0604020202020204" pitchFamily="34" charset="0"/>
              <a:buChar char="•"/>
            </a:pPr>
            <a:r>
              <a:rPr lang="en-US" sz="1200" dirty="0">
                <a:latin typeface="Barlow" panose="00000500000000000000" pitchFamily="2" charset="0"/>
              </a:rPr>
              <a:t>Mail check:</a:t>
            </a:r>
            <a:r>
              <a:rPr lang="en-US" sz="1200" b="0" i="0" dirty="0">
                <a:solidFill>
                  <a:srgbClr val="222222"/>
                </a:solidFill>
                <a:effectLst/>
                <a:latin typeface="Barlow" panose="00000500000000000000" pitchFamily="2" charset="0"/>
              </a:rPr>
              <a:t> Tag Mohit in the mail list</a:t>
            </a:r>
          </a:p>
          <a:p>
            <a:pPr marL="171450" indent="-171450">
              <a:buFont typeface="Arial" panose="020B0604020202020204" pitchFamily="34" charset="0"/>
              <a:buChar char="•"/>
            </a:pPr>
            <a:r>
              <a:rPr lang="en-US" sz="1200" dirty="0">
                <a:solidFill>
                  <a:srgbClr val="222222"/>
                </a:solidFill>
                <a:latin typeface="Barlow" panose="00000500000000000000" pitchFamily="2" charset="0"/>
              </a:rPr>
              <a:t>Hybrid MF’s have stocks and bonds in their portfolio </a:t>
            </a:r>
            <a:endParaRPr lang="en-US" sz="1200" b="0" i="0" dirty="0">
              <a:solidFill>
                <a:srgbClr val="222222"/>
              </a:solidFill>
              <a:effectLst/>
              <a:latin typeface="Barlow" panose="00000500000000000000" pitchFamily="2" charset="0"/>
            </a:endParaRPr>
          </a:p>
          <a:p>
            <a:endParaRPr lang="en-US" sz="1200" b="0" i="0" dirty="0">
              <a:solidFill>
                <a:srgbClr val="222222"/>
              </a:solidFill>
              <a:effectLst/>
              <a:latin typeface="Barlow" panose="00000500000000000000" pitchFamily="2" charset="0"/>
            </a:endParaRPr>
          </a:p>
          <a:p>
            <a:r>
              <a:rPr lang="en-US" sz="1200" b="0" i="0" dirty="0">
                <a:solidFill>
                  <a:srgbClr val="222222"/>
                </a:solidFill>
                <a:effectLst/>
                <a:latin typeface="Barlow" panose="00000500000000000000" pitchFamily="2" charset="0"/>
              </a:rPr>
              <a:t>Following rules have to be followed for such rating requests</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We need to rate individual scrips and bonds in the MF portfolio in order to rate the MF.</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Download the MF portfolio constituents and % holding in each stock and bond from NAV.</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Use the scrip categories of portfolio constituents from latest scrip category sheet received from Vishal and bond categories from NAV.</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AUM is the scheme size of MF’s obtained from NAV [NAV&gt; Multi Scheme&gt;Portfolio&gt; Scheme Size].</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Obtain the SEBI category form NAV [NAV&gt;Multi Schemes&gt; Performance&gt; Risk Return].</a:t>
            </a:r>
          </a:p>
          <a:p>
            <a:pPr marL="628650" lvl="1" indent="-171450">
              <a:buFont typeface="Arial" panose="020B0604020202020204" pitchFamily="34" charset="0"/>
              <a:buChar char="•"/>
            </a:pPr>
            <a:r>
              <a:rPr lang="en-US" sz="1200" dirty="0">
                <a:solidFill>
                  <a:srgbClr val="222222"/>
                </a:solidFill>
                <a:latin typeface="Barlow" panose="00000500000000000000" pitchFamily="2" charset="0"/>
              </a:rPr>
              <a:t>One needs to sort SEBI categories other than Equity, Debt and Hybrid for e.g. Solution oriented SEBI category to be manually changed to Hybrid.</a:t>
            </a:r>
          </a:p>
        </p:txBody>
      </p:sp>
      <p:graphicFrame>
        <p:nvGraphicFramePr>
          <p:cNvPr id="6" name="Table 5">
            <a:extLst>
              <a:ext uri="{FF2B5EF4-FFF2-40B4-BE49-F238E27FC236}">
                <a16:creationId xmlns:a16="http://schemas.microsoft.com/office/drawing/2014/main" id="{88A63EB8-401E-5EF6-B886-EB8312EA4F51}"/>
              </a:ext>
            </a:extLst>
          </p:cNvPr>
          <p:cNvGraphicFramePr>
            <a:graphicFrameLocks noGrp="1"/>
          </p:cNvGraphicFramePr>
          <p:nvPr>
            <p:extLst>
              <p:ext uri="{D42A27DB-BD31-4B8C-83A1-F6EECF244321}">
                <p14:modId xmlns:p14="http://schemas.microsoft.com/office/powerpoint/2010/main" val="3245309501"/>
              </p:ext>
            </p:extLst>
          </p:nvPr>
        </p:nvGraphicFramePr>
        <p:xfrm>
          <a:off x="489447" y="3253955"/>
          <a:ext cx="7302831" cy="1645920"/>
        </p:xfrm>
        <a:graphic>
          <a:graphicData uri="http://schemas.openxmlformats.org/drawingml/2006/table">
            <a:tbl>
              <a:tblPr firstRow="1" bandRow="1">
                <a:tableStyleId>{2D5ABB26-0587-4C30-8999-92F81FD0307C}</a:tableStyleId>
              </a:tblPr>
              <a:tblGrid>
                <a:gridCol w="2434277">
                  <a:extLst>
                    <a:ext uri="{9D8B030D-6E8A-4147-A177-3AD203B41FA5}">
                      <a16:colId xmlns:a16="http://schemas.microsoft.com/office/drawing/2014/main" val="3932714863"/>
                    </a:ext>
                  </a:extLst>
                </a:gridCol>
                <a:gridCol w="2434277">
                  <a:extLst>
                    <a:ext uri="{9D8B030D-6E8A-4147-A177-3AD203B41FA5}">
                      <a16:colId xmlns:a16="http://schemas.microsoft.com/office/drawing/2014/main" val="2282398496"/>
                    </a:ext>
                  </a:extLst>
                </a:gridCol>
                <a:gridCol w="2434277">
                  <a:extLst>
                    <a:ext uri="{9D8B030D-6E8A-4147-A177-3AD203B41FA5}">
                      <a16:colId xmlns:a16="http://schemas.microsoft.com/office/drawing/2014/main" val="1628501540"/>
                    </a:ext>
                  </a:extLst>
                </a:gridCol>
              </a:tblGrid>
              <a:tr h="269642">
                <a:tc>
                  <a:txBody>
                    <a:bodyPr/>
                    <a:lstStyle/>
                    <a:p>
                      <a:pPr algn="ctr"/>
                      <a:r>
                        <a:rPr lang="en-US" sz="1200" b="1" dirty="0">
                          <a:latin typeface="Barlow" panose="00000500000000000000" pitchFamily="2" charset="0"/>
                        </a:rPr>
                        <a:t>Risk category (of equity scrips)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1" dirty="0">
                          <a:latin typeface="Barlow" panose="00000500000000000000" pitchFamily="2" charset="0"/>
                        </a:rPr>
                        <a:t>% of AUM invested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1" dirty="0">
                          <a:latin typeface="Barlow" panose="00000500000000000000" pitchFamily="2" charset="0"/>
                        </a:rPr>
                        <a:t>Final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321048352"/>
                  </a:ext>
                </a:extLst>
              </a:tr>
              <a:tr h="240994">
                <a:tc>
                  <a:txBody>
                    <a:bodyPr/>
                    <a:lstStyle/>
                    <a:p>
                      <a:pPr algn="ctr"/>
                      <a:r>
                        <a:rPr lang="en-US" sz="1200" dirty="0" err="1">
                          <a:latin typeface="Barlow" panose="00000500000000000000" pitchFamily="2" charset="0"/>
                        </a:rPr>
                        <a:t>Bluechip</a:t>
                      </a:r>
                      <a:r>
                        <a:rPr lang="en-US" sz="1200" dirty="0">
                          <a:latin typeface="Barlow" panose="00000500000000000000" pitchFamily="2" charset="0"/>
                        </a:rPr>
                        <a:t> + AAA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&gt; 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9969686"/>
                  </a:ext>
                </a:extLst>
              </a:tr>
              <a:tr h="240994">
                <a:tc>
                  <a:txBody>
                    <a:bodyPr/>
                    <a:lstStyle/>
                    <a:p>
                      <a:pPr algn="ctr"/>
                      <a:r>
                        <a:rPr lang="en-US" sz="1200" dirty="0" err="1">
                          <a:latin typeface="Barlow" panose="00000500000000000000" pitchFamily="2" charset="0"/>
                        </a:rPr>
                        <a:t>Bluechip</a:t>
                      </a:r>
                      <a:r>
                        <a:rPr lang="en-US" sz="1200" dirty="0">
                          <a:latin typeface="Barlow" panose="00000500000000000000" pitchFamily="2" charset="0"/>
                        </a:rPr>
                        <a:t> + Good + AAA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&gt; 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5344524"/>
                  </a:ext>
                </a:extLst>
              </a:tr>
              <a:tr h="240994">
                <a:tc>
                  <a:txBody>
                    <a:bodyPr/>
                    <a:lstStyle/>
                    <a:p>
                      <a:pPr algn="ctr"/>
                      <a:r>
                        <a:rPr lang="en-US" sz="1200" dirty="0">
                          <a:latin typeface="Barlow" panose="00000500000000000000" pitchFamily="2" charset="0"/>
                        </a:rPr>
                        <a:t>Poor+ Restricted+ other rating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&gt;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1648912"/>
                  </a:ext>
                </a:extLst>
              </a:tr>
              <a:tr h="2409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Barlow" panose="00000500000000000000" pitchFamily="2" charset="0"/>
                        </a:rPr>
                        <a:t>Rest 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Average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0326616"/>
                  </a:ext>
                </a:extLst>
              </a:tr>
              <a:tr h="240994">
                <a:tc>
                  <a:txBody>
                    <a:bodyPr/>
                    <a:lstStyle/>
                    <a:p>
                      <a:pPr algn="ctr"/>
                      <a:endParaRPr lang="en-US" sz="12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AUM less than 100cr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9827949"/>
                  </a:ext>
                </a:extLst>
              </a:tr>
            </a:tbl>
          </a:graphicData>
        </a:graphic>
      </p:graphicFrame>
      <p:sp>
        <p:nvSpPr>
          <p:cNvPr id="5" name="GVCLASSIFICATIONFOOTERCenter0">
            <a:extLst>
              <a:ext uri="{FF2B5EF4-FFF2-40B4-BE49-F238E27FC236}">
                <a16:creationId xmlns:a16="http://schemas.microsoft.com/office/drawing/2014/main" id="{5E0C3972-97FC-F1FB-26E8-0F583A735035}"/>
              </a:ext>
            </a:extLst>
          </p:cNvPr>
          <p:cNvSpPr txBox="1"/>
          <p:nvPr/>
        </p:nvSpPr>
        <p:spPr>
          <a:xfrm>
            <a:off x="0" y="6611779"/>
            <a:ext cx="12192000" cy="246221"/>
          </a:xfrm>
          <a:prstGeom prst="rect">
            <a:avLst/>
          </a:prstGeom>
          <a:noFill/>
        </p:spPr>
        <p:txBody>
          <a:bodyPr vert="horz" wrap="square" rtlCol="0">
            <a:spAutoFit/>
          </a:bodyPr>
          <a:lstStyle/>
          <a:p>
            <a:pPr algn="ctr"/>
            <a:r>
              <a:rPr lang="en-US" sz="1000">
                <a:solidFill>
                  <a:srgbClr val="0303FE"/>
                </a:solidFill>
              </a:rPr>
              <a:t>Classified as Internal</a:t>
            </a:r>
          </a:p>
        </p:txBody>
      </p:sp>
    </p:spTree>
    <p:extLst>
      <p:ext uri="{BB962C8B-B14F-4D97-AF65-F5344CB8AC3E}">
        <p14:creationId xmlns:p14="http://schemas.microsoft.com/office/powerpoint/2010/main" val="2652452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842BED-93F3-4D32-17E9-7D5C42BC11BF}"/>
              </a:ext>
            </a:extLst>
          </p:cNvPr>
          <p:cNvSpPr txBox="1"/>
          <p:nvPr/>
        </p:nvSpPr>
        <p:spPr>
          <a:xfrm>
            <a:off x="289560" y="823449"/>
            <a:ext cx="11612879" cy="4524315"/>
          </a:xfrm>
          <a:prstGeom prst="rect">
            <a:avLst/>
          </a:prstGeom>
          <a:noFill/>
        </p:spPr>
        <p:txBody>
          <a:bodyPr wrap="square" rtlCol="0">
            <a:spAutoFit/>
          </a:bodyPr>
          <a:lstStyle/>
          <a:p>
            <a:r>
              <a:rPr lang="en-US" sz="1200" b="1" dirty="0">
                <a:latin typeface="Barlow" panose="00000500000000000000" pitchFamily="2" charset="0"/>
              </a:rPr>
              <a:t>Volume/ Turnover ratio</a:t>
            </a:r>
          </a:p>
          <a:p>
            <a:endParaRPr lang="en-US" sz="1200" dirty="0">
              <a:latin typeface="Barlow" panose="00000500000000000000" pitchFamily="2" charset="0"/>
            </a:endParaRPr>
          </a:p>
          <a:p>
            <a:pPr marL="171450" indent="-171450">
              <a:buFont typeface="Arial" panose="020B0604020202020204" pitchFamily="34" charset="0"/>
              <a:buChar char="•"/>
            </a:pPr>
            <a:r>
              <a:rPr lang="en-US" sz="1200" dirty="0">
                <a:latin typeface="Barlow" panose="00000500000000000000" pitchFamily="2" charset="0"/>
              </a:rPr>
              <a:t>Mail </a:t>
            </a:r>
            <a:r>
              <a:rPr lang="en-US" sz="1200" dirty="0" err="1">
                <a:latin typeface="Barlow" panose="00000500000000000000" pitchFamily="2" charset="0"/>
              </a:rPr>
              <a:t>recepients</a:t>
            </a:r>
            <a:r>
              <a:rPr lang="en-US" sz="1200" dirty="0">
                <a:latin typeface="Barlow" panose="00000500000000000000" pitchFamily="2" charset="0"/>
              </a:rPr>
              <a:t>: </a:t>
            </a:r>
            <a:r>
              <a:rPr lang="en-US" sz="1200" b="0" i="0" dirty="0" err="1">
                <a:solidFill>
                  <a:srgbClr val="222222"/>
                </a:solidFill>
                <a:effectLst/>
                <a:latin typeface="Google Sans"/>
              </a:rPr>
              <a:t>Miral</a:t>
            </a:r>
            <a:r>
              <a:rPr lang="en-US" sz="1200" b="0" i="0" dirty="0">
                <a:solidFill>
                  <a:srgbClr val="222222"/>
                </a:solidFill>
                <a:effectLst/>
                <a:latin typeface="Google Sans"/>
              </a:rPr>
              <a:t> Lad /Risk and Surveillance/ABL </a:t>
            </a:r>
            <a:r>
              <a:rPr lang="en-US" sz="1200" b="0" i="0" dirty="0">
                <a:solidFill>
                  <a:srgbClr val="222222"/>
                </a:solidFill>
                <a:effectLst/>
                <a:latin typeface="Google Sans"/>
                <a:hlinkClick r:id="rId3"/>
              </a:rPr>
              <a:t>miral.lad@angelbroking.com</a:t>
            </a:r>
            <a:endParaRPr lang="en-US" sz="1200" b="0" i="0" dirty="0">
              <a:solidFill>
                <a:srgbClr val="222222"/>
              </a:solidFill>
              <a:effectLst/>
              <a:latin typeface="Google Sans"/>
            </a:endParaRPr>
          </a:p>
          <a:p>
            <a:pPr marL="628650" lvl="1" indent="-171450">
              <a:buFont typeface="Arial" panose="020B0604020202020204" pitchFamily="34" charset="0"/>
              <a:buChar char="•"/>
            </a:pPr>
            <a:r>
              <a:rPr lang="en-US" sz="1200" dirty="0">
                <a:latin typeface="Barlow" panose="00000500000000000000" pitchFamily="2" charset="0"/>
              </a:rPr>
              <a:t>Cc: </a:t>
            </a:r>
            <a:r>
              <a:rPr lang="en-US" sz="1200" b="0" i="0" dirty="0">
                <a:solidFill>
                  <a:srgbClr val="222222"/>
                </a:solidFill>
                <a:effectLst/>
                <a:latin typeface="Google Sans"/>
              </a:rPr>
              <a:t>Navnit Shah /Risk and Surveillance/ABL &lt;navnit.shah@angelbroking.com&gt;,</a:t>
            </a:r>
          </a:p>
          <a:p>
            <a:pPr marL="628650" lvl="1" indent="-171450">
              <a:buFont typeface="Arial" panose="020B0604020202020204" pitchFamily="34" charset="0"/>
              <a:buChar char="•"/>
            </a:pPr>
            <a:r>
              <a:rPr lang="en-US" sz="1200" b="0" i="0" dirty="0">
                <a:solidFill>
                  <a:srgbClr val="222222"/>
                </a:solidFill>
                <a:effectLst/>
                <a:latin typeface="Google Sans"/>
              </a:rPr>
              <a:t>Vishal </a:t>
            </a:r>
            <a:r>
              <a:rPr lang="en-US" sz="1200" b="0" i="0" dirty="0" err="1">
                <a:solidFill>
                  <a:srgbClr val="222222"/>
                </a:solidFill>
                <a:effectLst/>
                <a:latin typeface="Google Sans"/>
              </a:rPr>
              <a:t>Kanani</a:t>
            </a:r>
            <a:r>
              <a:rPr lang="en-US" sz="1200" b="0" i="0" dirty="0">
                <a:solidFill>
                  <a:srgbClr val="222222"/>
                </a:solidFill>
                <a:effectLst/>
                <a:latin typeface="Google Sans"/>
              </a:rPr>
              <a:t> /Risk and Surveillance/ABL &lt;vishal.kanani@angelbroking.com&gt;,</a:t>
            </a:r>
          </a:p>
          <a:p>
            <a:pPr marL="628650" lvl="1" indent="-171450">
              <a:buFont typeface="Arial" panose="020B0604020202020204" pitchFamily="34" charset="0"/>
              <a:buChar char="•"/>
            </a:pPr>
            <a:r>
              <a:rPr lang="en-US" sz="1200" b="0" i="0" dirty="0">
                <a:solidFill>
                  <a:srgbClr val="222222"/>
                </a:solidFill>
                <a:effectLst/>
                <a:latin typeface="Google Sans"/>
              </a:rPr>
              <a:t>Bhagyashree Pradhan /Operations/ABL &lt;bhagyashree.pradhan@angelbroking.com&gt;,</a:t>
            </a:r>
          </a:p>
          <a:p>
            <a:pPr marL="628650" lvl="1" indent="-171450">
              <a:buFont typeface="Arial" panose="020B0604020202020204" pitchFamily="34" charset="0"/>
              <a:buChar char="•"/>
            </a:pPr>
            <a:r>
              <a:rPr lang="en-US" sz="1200" b="0" i="0" dirty="0">
                <a:solidFill>
                  <a:srgbClr val="222222"/>
                </a:solidFill>
                <a:effectLst/>
                <a:latin typeface="Google Sans"/>
              </a:rPr>
              <a:t>CSORM &lt;csorm@angelbroking.com&gt;</a:t>
            </a:r>
            <a:endParaRPr lang="en-US" sz="1200" dirty="0">
              <a:latin typeface="Barlow" panose="00000500000000000000" pitchFamily="2" charset="0"/>
            </a:endParaRPr>
          </a:p>
          <a:p>
            <a:pPr marL="171450" indent="-171450">
              <a:buFont typeface="Arial" panose="020B0604020202020204" pitchFamily="34" charset="0"/>
              <a:buChar char="•"/>
            </a:pPr>
            <a:endParaRPr lang="en-US" sz="1200" dirty="0">
              <a:latin typeface="Barlow" panose="00000500000000000000" pitchFamily="2" charset="0"/>
            </a:endParaRPr>
          </a:p>
          <a:p>
            <a:pPr marL="171450" indent="-171450">
              <a:buFont typeface="Arial" panose="020B0604020202020204" pitchFamily="34" charset="0"/>
              <a:buChar char="•"/>
            </a:pPr>
            <a:r>
              <a:rPr lang="en-US" sz="1200" dirty="0">
                <a:latin typeface="Barlow" panose="00000500000000000000" pitchFamily="2" charset="0"/>
              </a:rPr>
              <a:t>Send Volume/turnover every month</a:t>
            </a:r>
          </a:p>
          <a:p>
            <a:pPr marL="171450" indent="-171450">
              <a:buFont typeface="Arial" panose="020B0604020202020204" pitchFamily="34" charset="0"/>
              <a:buChar char="•"/>
            </a:pPr>
            <a:endParaRPr lang="en-US" sz="1200" dirty="0">
              <a:latin typeface="Barlow" panose="00000500000000000000" pitchFamily="2" charset="0"/>
            </a:endParaRPr>
          </a:p>
          <a:p>
            <a:pPr marL="171450" indent="-171450">
              <a:buFont typeface="Arial" panose="020B0604020202020204" pitchFamily="34" charset="0"/>
              <a:buChar char="•"/>
            </a:pPr>
            <a:r>
              <a:rPr lang="en-US" sz="1200" dirty="0">
                <a:latin typeface="Barlow" panose="00000500000000000000" pitchFamily="2" charset="0"/>
              </a:rPr>
              <a:t>Process: Volume/Turnover is extracted from Cline following below mentioned steps:</a:t>
            </a:r>
          </a:p>
          <a:p>
            <a:pPr marL="628650" lvl="1" indent="-171450">
              <a:buFont typeface="Arial" panose="020B0604020202020204" pitchFamily="34" charset="0"/>
              <a:buChar char="•"/>
            </a:pPr>
            <a:r>
              <a:rPr lang="en-US" sz="1200" dirty="0">
                <a:latin typeface="Barlow" panose="00000500000000000000" pitchFamily="2" charset="0"/>
              </a:rPr>
              <a:t>Under company names ----&gt; select All ---&gt;Active Listed Companies (NSE/BSE)</a:t>
            </a:r>
          </a:p>
          <a:p>
            <a:pPr marL="628650" lvl="1" indent="-171450">
              <a:buFont typeface="Arial" panose="020B0604020202020204" pitchFamily="34" charset="0"/>
              <a:buChar char="•"/>
            </a:pPr>
            <a:r>
              <a:rPr lang="en-US" sz="1200" dirty="0">
                <a:latin typeface="Barlow" panose="00000500000000000000" pitchFamily="2" charset="0"/>
              </a:rPr>
              <a:t>Go to Filters Tab</a:t>
            </a:r>
          </a:p>
          <a:p>
            <a:pPr marL="1085850" lvl="2" indent="-171450">
              <a:buFont typeface="Arial" panose="020B0604020202020204" pitchFamily="34" charset="0"/>
              <a:buChar char="•"/>
            </a:pPr>
            <a:r>
              <a:rPr lang="en-US" sz="1200" dirty="0">
                <a:latin typeface="Barlow" panose="00000500000000000000" pitchFamily="2" charset="0"/>
              </a:rPr>
              <a:t>General ----&gt; Background ----&gt; BSE code &amp; ISIN no.</a:t>
            </a:r>
          </a:p>
          <a:p>
            <a:pPr marL="1085850" lvl="2" indent="-171450">
              <a:buFont typeface="Arial" panose="020B0604020202020204" pitchFamily="34" charset="0"/>
              <a:buChar char="•"/>
            </a:pPr>
            <a:r>
              <a:rPr lang="en-US" sz="1200" dirty="0">
                <a:latin typeface="Barlow" panose="00000500000000000000" pitchFamily="2" charset="0"/>
              </a:rPr>
              <a:t>Share price data ----&gt; Averages ----&gt; Volumes ----&gt; BSE ----&gt; Select BSE as on date &amp; BSE- Monthly average volume</a:t>
            </a:r>
          </a:p>
          <a:p>
            <a:pPr marL="1085850" lvl="2" indent="-171450">
              <a:buFont typeface="Arial" panose="020B0604020202020204" pitchFamily="34" charset="0"/>
              <a:buChar char="•"/>
            </a:pPr>
            <a:r>
              <a:rPr lang="en-US" sz="1200" dirty="0">
                <a:latin typeface="Barlow" panose="00000500000000000000" pitchFamily="2" charset="0"/>
              </a:rPr>
              <a:t>Share price data ----&gt; Averages ----&gt; Volumes ----&gt; NSE ----&gt; Select NSE- Monthly average volume</a:t>
            </a:r>
          </a:p>
          <a:p>
            <a:pPr marL="1085850" lvl="2" indent="-171450">
              <a:buFont typeface="Arial" panose="020B0604020202020204" pitchFamily="34" charset="0"/>
              <a:buChar char="•"/>
            </a:pPr>
            <a:r>
              <a:rPr lang="en-US" sz="1200" dirty="0">
                <a:latin typeface="Barlow" panose="00000500000000000000" pitchFamily="2" charset="0"/>
              </a:rPr>
              <a:t>Share price data ----&gt; Averages ----&gt; Turnover ----&gt; BSE ----&gt; Select BSE- Monthly average volume</a:t>
            </a:r>
          </a:p>
          <a:p>
            <a:pPr marL="1085850" lvl="2" indent="-171450">
              <a:buFont typeface="Arial" panose="020B0604020202020204" pitchFamily="34" charset="0"/>
              <a:buChar char="•"/>
            </a:pPr>
            <a:r>
              <a:rPr lang="en-US" sz="1200" dirty="0">
                <a:latin typeface="Barlow" panose="00000500000000000000" pitchFamily="2" charset="0"/>
              </a:rPr>
              <a:t>Share price data ----&gt; Averages ----&gt; Turnover ----&gt; NSE ----&gt; Select NSE- Monthly average turnover</a:t>
            </a:r>
          </a:p>
          <a:p>
            <a:pPr marL="628650" lvl="1" indent="-171450">
              <a:buFont typeface="Arial" panose="020B0604020202020204" pitchFamily="34" charset="0"/>
              <a:buChar char="•"/>
            </a:pPr>
            <a:r>
              <a:rPr lang="en-US" sz="1200" dirty="0">
                <a:latin typeface="Barlow" panose="00000500000000000000" pitchFamily="2" charset="0"/>
              </a:rPr>
              <a:t>Run Query ----&gt; Output in Excel</a:t>
            </a:r>
          </a:p>
          <a:p>
            <a:pPr marL="628650" lvl="1" indent="-171450">
              <a:buFont typeface="Arial" panose="020B0604020202020204" pitchFamily="34" charset="0"/>
              <a:buChar char="•"/>
            </a:pPr>
            <a:r>
              <a:rPr lang="en-US" sz="1200" dirty="0">
                <a:latin typeface="Barlow" panose="00000500000000000000" pitchFamily="2" charset="0"/>
              </a:rPr>
              <a:t>Copy the data from the output file and paste it in excel sheet as given to you (Risk ----&gt; Every 1st of month folder ----&gt; Select latest excel, make a copy of it ----&gt; Paste the output data as per the headings ----&gt; Check the file once ----&gt; Send it to </a:t>
            </a:r>
            <a:r>
              <a:rPr lang="en-US" sz="1200" dirty="0" err="1">
                <a:latin typeface="Barlow" panose="00000500000000000000" pitchFamily="2" charset="0"/>
              </a:rPr>
              <a:t>Miral</a:t>
            </a:r>
            <a:r>
              <a:rPr lang="en-US" sz="1200" dirty="0">
                <a:latin typeface="Barlow" panose="00000500000000000000" pitchFamily="2" charset="0"/>
              </a:rPr>
              <a:t> Lad and team)</a:t>
            </a:r>
          </a:p>
          <a:p>
            <a:pPr marL="171450" indent="-171450">
              <a:buFont typeface="Arial" panose="020B0604020202020204" pitchFamily="34" charset="0"/>
              <a:buChar char="•"/>
            </a:pPr>
            <a:endParaRPr lang="en-US" sz="1200" dirty="0">
              <a:latin typeface="Barlow" panose="00000500000000000000" pitchFamily="2" charset="0"/>
            </a:endParaRPr>
          </a:p>
          <a:p>
            <a:pPr marL="171450" indent="-171450">
              <a:buFont typeface="Arial" panose="020B0604020202020204" pitchFamily="34" charset="0"/>
              <a:buChar char="•"/>
            </a:pPr>
            <a:r>
              <a:rPr lang="en-US" sz="1200" dirty="0">
                <a:latin typeface="Barlow" panose="00000500000000000000" pitchFamily="2" charset="0"/>
              </a:rPr>
              <a:t>Save this excel sheet in a separate folder at : W:\Knowledge </a:t>
            </a:r>
            <a:r>
              <a:rPr lang="en-US" sz="1200" dirty="0" err="1">
                <a:latin typeface="Barlow" panose="00000500000000000000" pitchFamily="2" charset="0"/>
              </a:rPr>
              <a:t>repositiory</a:t>
            </a:r>
            <a:r>
              <a:rPr lang="en-US" sz="1200" dirty="0">
                <a:latin typeface="Barlow" panose="00000500000000000000" pitchFamily="2" charset="0"/>
              </a:rPr>
              <a:t>\Master folder\Fundamental Work\Risk rating\Volume Turnover data</a:t>
            </a:r>
          </a:p>
          <a:p>
            <a:pPr marL="171450" indent="-171450">
              <a:buFont typeface="Arial" panose="020B0604020202020204" pitchFamily="34" charset="0"/>
              <a:buChar char="•"/>
            </a:pPr>
            <a:endParaRPr lang="en-US" sz="1200" b="1" dirty="0">
              <a:latin typeface="Barlow" panose="00000500000000000000" pitchFamily="2" charset="0"/>
            </a:endParaRPr>
          </a:p>
        </p:txBody>
      </p:sp>
      <p:sp>
        <p:nvSpPr>
          <p:cNvPr id="2" name="GVCLASSIFICATIONFOOTERCenter0">
            <a:extLst>
              <a:ext uri="{FF2B5EF4-FFF2-40B4-BE49-F238E27FC236}">
                <a16:creationId xmlns:a16="http://schemas.microsoft.com/office/drawing/2014/main" id="{A59D37CE-E480-D22E-DA77-92373F4CE1BE}"/>
              </a:ext>
            </a:extLst>
          </p:cNvPr>
          <p:cNvSpPr txBox="1"/>
          <p:nvPr/>
        </p:nvSpPr>
        <p:spPr>
          <a:xfrm>
            <a:off x="0" y="6611779"/>
            <a:ext cx="12192000" cy="246221"/>
          </a:xfrm>
          <a:prstGeom prst="rect">
            <a:avLst/>
          </a:prstGeom>
          <a:noFill/>
        </p:spPr>
        <p:txBody>
          <a:bodyPr vert="horz" wrap="square" rtlCol="0">
            <a:spAutoFit/>
          </a:bodyPr>
          <a:lstStyle/>
          <a:p>
            <a:pPr algn="ctr"/>
            <a:r>
              <a:rPr lang="en-US" sz="1000">
                <a:solidFill>
                  <a:srgbClr val="0303FE"/>
                </a:solidFill>
              </a:rPr>
              <a:t>Classified as Internal</a:t>
            </a:r>
          </a:p>
        </p:txBody>
      </p:sp>
    </p:spTree>
    <p:extLst>
      <p:ext uri="{BB962C8B-B14F-4D97-AF65-F5344CB8AC3E}">
        <p14:creationId xmlns:p14="http://schemas.microsoft.com/office/powerpoint/2010/main" val="107868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A3876BC-F93D-8ED5-0BD3-D7477D30A263}"/>
              </a:ext>
            </a:extLst>
          </p:cNvPr>
          <p:cNvGraphicFramePr>
            <a:graphicFrameLocks noGrp="1"/>
          </p:cNvGraphicFramePr>
          <p:nvPr>
            <p:extLst>
              <p:ext uri="{D42A27DB-BD31-4B8C-83A1-F6EECF244321}">
                <p14:modId xmlns:p14="http://schemas.microsoft.com/office/powerpoint/2010/main" val="2231326927"/>
              </p:ext>
            </p:extLst>
          </p:nvPr>
        </p:nvGraphicFramePr>
        <p:xfrm>
          <a:off x="306567" y="1232115"/>
          <a:ext cx="7302831" cy="1371600"/>
        </p:xfrm>
        <a:graphic>
          <a:graphicData uri="http://schemas.openxmlformats.org/drawingml/2006/table">
            <a:tbl>
              <a:tblPr firstRow="1" bandRow="1">
                <a:tableStyleId>{2D5ABB26-0587-4C30-8999-92F81FD0307C}</a:tableStyleId>
              </a:tblPr>
              <a:tblGrid>
                <a:gridCol w="2434277">
                  <a:extLst>
                    <a:ext uri="{9D8B030D-6E8A-4147-A177-3AD203B41FA5}">
                      <a16:colId xmlns:a16="http://schemas.microsoft.com/office/drawing/2014/main" val="3932714863"/>
                    </a:ext>
                  </a:extLst>
                </a:gridCol>
                <a:gridCol w="2434277">
                  <a:extLst>
                    <a:ext uri="{9D8B030D-6E8A-4147-A177-3AD203B41FA5}">
                      <a16:colId xmlns:a16="http://schemas.microsoft.com/office/drawing/2014/main" val="2282398496"/>
                    </a:ext>
                  </a:extLst>
                </a:gridCol>
                <a:gridCol w="2434277">
                  <a:extLst>
                    <a:ext uri="{9D8B030D-6E8A-4147-A177-3AD203B41FA5}">
                      <a16:colId xmlns:a16="http://schemas.microsoft.com/office/drawing/2014/main" val="1628501540"/>
                    </a:ext>
                  </a:extLst>
                </a:gridCol>
              </a:tblGrid>
              <a:tr h="269642">
                <a:tc>
                  <a:txBody>
                    <a:bodyPr/>
                    <a:lstStyle/>
                    <a:p>
                      <a:pPr algn="ctr"/>
                      <a:r>
                        <a:rPr lang="en-US" sz="1200" b="1" dirty="0">
                          <a:latin typeface="Barlow" panose="00000500000000000000" pitchFamily="2" charset="0"/>
                        </a:rPr>
                        <a:t>Acceptance of single scrip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1" dirty="0">
                          <a:latin typeface="Barlow" panose="00000500000000000000" pitchFamily="2" charset="0"/>
                        </a:rPr>
                        <a:t>Funding Allowed (Client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US" sz="1200" b="1" dirty="0">
                          <a:latin typeface="Barlow" panose="00000500000000000000" pitchFamily="2" charset="0"/>
                        </a:rPr>
                        <a:t>Funding Allowed (Tag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321048352"/>
                  </a:ext>
                </a:extLst>
              </a:tr>
              <a:tr h="240994">
                <a:tc>
                  <a:txBody>
                    <a:bodyPr/>
                    <a:lstStyle/>
                    <a:p>
                      <a:pPr algn="ctr"/>
                      <a:r>
                        <a:rPr lang="en-US" sz="1200" dirty="0" err="1">
                          <a:latin typeface="Barlow" panose="00000500000000000000" pitchFamily="2" charset="0"/>
                        </a:rPr>
                        <a:t>Bluechip</a:t>
                      </a:r>
                      <a:endParaRPr lang="en-US" sz="1200" dirty="0">
                        <a:latin typeface="Barlow" panose="000005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err="1">
                          <a:latin typeface="Barlow" panose="00000500000000000000" pitchFamily="2" charset="0"/>
                        </a:rPr>
                        <a:t>Upto</a:t>
                      </a:r>
                      <a:r>
                        <a:rPr lang="en-US" sz="1200" dirty="0">
                          <a:latin typeface="Barlow" panose="00000500000000000000" pitchFamily="2" charset="0"/>
                        </a:rPr>
                        <a:t> 3cr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err="1">
                          <a:latin typeface="Barlow" panose="00000500000000000000" pitchFamily="2" charset="0"/>
                        </a:rPr>
                        <a:t>Upto</a:t>
                      </a:r>
                      <a:r>
                        <a:rPr lang="en-US" sz="1200" dirty="0">
                          <a:latin typeface="Barlow" panose="00000500000000000000" pitchFamily="2" charset="0"/>
                        </a:rPr>
                        <a:t> 12cr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9969686"/>
                  </a:ext>
                </a:extLst>
              </a:tr>
              <a:tr h="240994">
                <a:tc>
                  <a:txBody>
                    <a:bodyPr/>
                    <a:lstStyle/>
                    <a:p>
                      <a:pPr algn="ctr"/>
                      <a:r>
                        <a:rPr lang="en-US" sz="1200" dirty="0">
                          <a:latin typeface="Barlow" panose="00000500000000000000" pitchFamily="2" charset="0"/>
                        </a:rPr>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err="1">
                          <a:latin typeface="Barlow" panose="00000500000000000000" pitchFamily="2" charset="0"/>
                        </a:rPr>
                        <a:t>Upto</a:t>
                      </a:r>
                      <a:r>
                        <a:rPr lang="en-US" sz="1200" dirty="0">
                          <a:latin typeface="Barlow" panose="00000500000000000000" pitchFamily="2" charset="0"/>
                        </a:rPr>
                        <a:t> 50 lacs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err="1">
                          <a:latin typeface="Barlow" panose="00000500000000000000" pitchFamily="2" charset="0"/>
                        </a:rPr>
                        <a:t>Upto</a:t>
                      </a:r>
                      <a:r>
                        <a:rPr lang="en-US" sz="1200" dirty="0">
                          <a:latin typeface="Barlow" panose="00000500000000000000" pitchFamily="2" charset="0"/>
                        </a:rPr>
                        <a:t> 2cr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5344524"/>
                  </a:ext>
                </a:extLst>
              </a:tr>
              <a:tr h="240994">
                <a:tc>
                  <a:txBody>
                    <a:bodyPr/>
                    <a:lstStyle/>
                    <a:p>
                      <a:pPr algn="ctr"/>
                      <a:r>
                        <a:rPr lang="en-US" sz="1200" dirty="0">
                          <a:latin typeface="Barlow" panose="00000500000000000000" pitchFamily="2" charset="0"/>
                        </a:rPr>
                        <a:t>Average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err="1">
                          <a:latin typeface="Barlow" panose="00000500000000000000" pitchFamily="2" charset="0"/>
                        </a:rPr>
                        <a:t>Upto</a:t>
                      </a:r>
                      <a:r>
                        <a:rPr lang="en-US" sz="1200" dirty="0">
                          <a:latin typeface="Barlow" panose="00000500000000000000" pitchFamily="2" charset="0"/>
                        </a:rPr>
                        <a:t> 20 lacs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err="1">
                          <a:latin typeface="Barlow" panose="00000500000000000000" pitchFamily="2" charset="0"/>
                        </a:rPr>
                        <a:t>Upto</a:t>
                      </a:r>
                      <a:r>
                        <a:rPr lang="en-US" sz="1200" dirty="0">
                          <a:latin typeface="Barlow" panose="00000500000000000000" pitchFamily="2" charset="0"/>
                        </a:rPr>
                        <a:t> 80 lacs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3900243"/>
                  </a:ext>
                </a:extLst>
              </a:tr>
              <a:tr h="240994">
                <a:tc>
                  <a:txBody>
                    <a:bodyPr/>
                    <a:lstStyle/>
                    <a:p>
                      <a:pPr algn="ctr"/>
                      <a:r>
                        <a:rPr lang="en-US" sz="1200" dirty="0">
                          <a:latin typeface="Barlow" panose="00000500000000000000" pitchFamily="2" charset="0"/>
                        </a:rPr>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Nil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Barlow" panose="00000500000000000000" pitchFamily="2" charset="0"/>
                        </a:rPr>
                        <a:t>Nil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1648912"/>
                  </a:ext>
                </a:extLst>
              </a:tr>
            </a:tbl>
          </a:graphicData>
        </a:graphic>
      </p:graphicFrame>
      <p:sp>
        <p:nvSpPr>
          <p:cNvPr id="6" name="Title 1">
            <a:extLst>
              <a:ext uri="{FF2B5EF4-FFF2-40B4-BE49-F238E27FC236}">
                <a16:creationId xmlns:a16="http://schemas.microsoft.com/office/drawing/2014/main" id="{323BBDA9-BE5B-BC18-8E11-2BF82A822C8A}"/>
              </a:ext>
            </a:extLst>
          </p:cNvPr>
          <p:cNvSpPr>
            <a:spLocks noGrp="1"/>
          </p:cNvSpPr>
          <p:nvPr>
            <p:ph type="title"/>
          </p:nvPr>
        </p:nvSpPr>
        <p:spPr>
          <a:xfrm>
            <a:off x="342219" y="36765"/>
            <a:ext cx="6356578" cy="468935"/>
          </a:xfrm>
        </p:spPr>
        <p:txBody>
          <a:bodyPr>
            <a:normAutofit fontScale="90000"/>
          </a:bodyPr>
          <a:lstStyle/>
          <a:p>
            <a:r>
              <a:rPr lang="en-US" dirty="0"/>
              <a:t>Angel One Funding for Stocks and MF’s</a:t>
            </a:r>
            <a:endParaRPr lang="en-IN" dirty="0"/>
          </a:p>
        </p:txBody>
      </p:sp>
      <p:sp>
        <p:nvSpPr>
          <p:cNvPr id="7" name="Rectangle 6">
            <a:extLst>
              <a:ext uri="{FF2B5EF4-FFF2-40B4-BE49-F238E27FC236}">
                <a16:creationId xmlns:a16="http://schemas.microsoft.com/office/drawing/2014/main" id="{3B29F53D-FED5-C359-F1C6-11A5E9D81F49}"/>
              </a:ext>
            </a:extLst>
          </p:cNvPr>
          <p:cNvSpPr/>
          <p:nvPr/>
        </p:nvSpPr>
        <p:spPr>
          <a:xfrm>
            <a:off x="306567" y="3150405"/>
            <a:ext cx="9315950" cy="824841"/>
          </a:xfrm>
          <a:prstGeom prst="rect">
            <a:avLst/>
          </a:prstGeom>
        </p:spPr>
        <p:txBody>
          <a:bodyPr wrap="square">
            <a:spAutoFit/>
          </a:bodyPr>
          <a:lstStyle/>
          <a:p>
            <a:pPr>
              <a:spcBef>
                <a:spcPct val="20000"/>
              </a:spcBef>
            </a:pPr>
            <a:r>
              <a:rPr lang="en-US" sz="1400" b="1" dirty="0">
                <a:latin typeface="Barlow" panose="00000500000000000000" pitchFamily="2" charset="0"/>
              </a:rPr>
              <a:t>Funding type</a:t>
            </a:r>
          </a:p>
          <a:p>
            <a:pPr marL="171450" indent="-171450">
              <a:spcBef>
                <a:spcPct val="20000"/>
              </a:spcBef>
              <a:buFont typeface="Arial" panose="020B0604020202020204" pitchFamily="34" charset="0"/>
              <a:buChar char="•"/>
            </a:pPr>
            <a:r>
              <a:rPr lang="en-US" sz="1400" dirty="0">
                <a:latin typeface="Barlow" panose="00000500000000000000" pitchFamily="2" charset="0"/>
              </a:rPr>
              <a:t>For stocks – Margin funding and Pledging facility</a:t>
            </a:r>
          </a:p>
          <a:p>
            <a:pPr marL="171450" indent="-171450">
              <a:spcBef>
                <a:spcPct val="20000"/>
              </a:spcBef>
              <a:buFont typeface="Arial" panose="020B0604020202020204" pitchFamily="34" charset="0"/>
              <a:buChar char="•"/>
            </a:pPr>
            <a:r>
              <a:rPr lang="en-US" sz="1400" dirty="0">
                <a:latin typeface="Barlow" panose="00000500000000000000" pitchFamily="2" charset="0"/>
              </a:rPr>
              <a:t>For MF, ETF etc. – Pledge facility only</a:t>
            </a:r>
          </a:p>
        </p:txBody>
      </p:sp>
      <p:sp>
        <p:nvSpPr>
          <p:cNvPr id="3" name="GVCLASSIFICATIONFOOTERCenter0">
            <a:extLst>
              <a:ext uri="{FF2B5EF4-FFF2-40B4-BE49-F238E27FC236}">
                <a16:creationId xmlns:a16="http://schemas.microsoft.com/office/drawing/2014/main" id="{F054388A-D7E4-B723-C6A6-56B64895A309}"/>
              </a:ext>
            </a:extLst>
          </p:cNvPr>
          <p:cNvSpPr txBox="1"/>
          <p:nvPr/>
        </p:nvSpPr>
        <p:spPr>
          <a:xfrm>
            <a:off x="0" y="6611779"/>
            <a:ext cx="12192000" cy="246221"/>
          </a:xfrm>
          <a:prstGeom prst="rect">
            <a:avLst/>
          </a:prstGeom>
          <a:noFill/>
        </p:spPr>
        <p:txBody>
          <a:bodyPr vert="horz" wrap="square" rtlCol="0">
            <a:spAutoFit/>
          </a:bodyPr>
          <a:lstStyle/>
          <a:p>
            <a:pPr algn="ctr"/>
            <a:r>
              <a:rPr lang="en-US" sz="1000">
                <a:solidFill>
                  <a:srgbClr val="0303FE"/>
                </a:solidFill>
              </a:rPr>
              <a:t>Classified as Internal</a:t>
            </a:r>
          </a:p>
        </p:txBody>
      </p:sp>
    </p:spTree>
    <p:extLst>
      <p:ext uri="{BB962C8B-B14F-4D97-AF65-F5344CB8AC3E}">
        <p14:creationId xmlns:p14="http://schemas.microsoft.com/office/powerpoint/2010/main" val="291727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LASSIFICATIONTAGSETID" val="e16409a7-1700-4153-9090-3955bc2f0ae8"/>
  <p:tag name="CLASSIFICATION" val="Internal"/>
  <p:tag name="COMPLIANCE" val="GDPR/PII"/>
  <p:tag name="COMPLIANCETAGSETID" val="f14fc1f1-8950-40d5-8a29-45909da947d6"/>
  <p:tag name="FILEID" val="3ebde746-c1e6-44f3-811a-601c3847380a"/>
  <p:tag name="USERID" val="Suraj.Fatehchandani"/>
  <p:tag name="TAGDATETIME" val="2024-05-02T05:36:56Z"/>
  <p:tag name="GVDATA" val="ew0KICAiZG9jSUQiOiAiM2ViZGU3NDYtYzFlNi00NGYzLTgxMWEtNjAxYzM4NDczODBhIiwNCiAgInRhZ3NldF9mMTRmYzFmMV84OTUwXzQwZDVfOGEyOV80NTkwOWRhOTQ3ZDZfZ2Rwci9waWkiOiAiVHJ1ZSIsDQogICJ0YWdzZXRfZjE0ZmMxZjFfODk1MF80MGQ1"/>
  <p:tag name="GVDATA0" val="XzhhMjlfNDU5MDlkYTk0N2Q2X3BjaSI6ICJGYWxzZSIsDQogICJ0YWdzZXRfZTE2NDA5YTdfMTcwMF80MTUzXzkwOTBfMzk1NWJjMmYwYWU4X2NsYXNzaWZpY2F0aW9uIjogIkludGVybmFsIiwNCiAgIkZvb3RlciI6ICJcdTAwM0NzcGFuIHN0eWxlPVx1MDAyMmNv"/>
  <p:tag name="GVDATA1" val="bG9yOiMwMzAzRkU7XHUwMDIyXHUwMDNFXHUwMDNDc3Bhblx1MDAzRVx1MDAzQ2RpdiBzdHlsZT1cdTAwMjJ0ZXh0LWFsaWduOmNlbnRlclx1MDAyMlx1MDAzRUNsYXNzaWZpZWQgYXMgSW50ZXJuYWxcdTAwM0MvZGl2XHUwMDNFXHUwMDNDL3NwYW5cdTAwM0VcdTAw"/>
  <p:tag name="GVDATA2" val="M0Mvc3Bhblx1MDAzRSIsDQogICJIZWFkZXIiOiAiIg0KfQ=="/>
  <p:tag name="GVDATA3" val="(end)"/>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 Suzanne Poncha</Template>
  <TotalTime>24423</TotalTime>
  <Words>2483</Words>
  <Application>Microsoft Office PowerPoint</Application>
  <PresentationFormat>Widescreen</PresentationFormat>
  <Paragraphs>354</Paragraphs>
  <Slides>13</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Barlow</vt:lpstr>
      <vt:lpstr>Barlow regular</vt:lpstr>
      <vt:lpstr>Calibri</vt:lpstr>
      <vt:lpstr>Calibri Light</vt:lpstr>
      <vt:lpstr>Google Sans</vt:lpstr>
      <vt:lpstr>Office Theme</vt:lpstr>
      <vt:lpstr>Risk rating requirements </vt:lpstr>
      <vt:lpstr>Index</vt:lpstr>
      <vt:lpstr>Types of risk rating queries </vt:lpstr>
      <vt:lpstr>Process Flow and rules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Angel One Funding for Stocks and MF’s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Plan for Dr. Suzanne Poncha</dc:title>
  <dc:creator>Milan Desai</dc:creator>
  <cp:lastModifiedBy>Amit Ranjan</cp:lastModifiedBy>
  <cp:revision>149</cp:revision>
  <dcterms:created xsi:type="dcterms:W3CDTF">2022-03-04T06:47:32Z</dcterms:created>
  <dcterms:modified xsi:type="dcterms:W3CDTF">2025-09-26T09:30:30Z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1033-11.2.0.10132</vt:lpwstr>
  </property>
  <property fmtid="{D5CDD505-2E9C-101B-9397-08002B2CF9AE}" pid="3" name="GVData">
    <vt:lpwstr>ew0KICAidGFnc2V0X2UxNjQwOWE3XzE3MDBfNDE1M185MDkwXzM5NTViYzJmMGFlOF9jbGFzc2lmaWNhdGlvbiI6ICJJbnRlcm5hbCIsDQogICJkb2NJRCI6ICIzZWJkZTc0Ni1jMWU2LTQ0ZjMtODExYS02MDFjMzg0NzM4MGEiLA0KICAiT1MiOiAiV2luZG93cyIs</vt:lpwstr>
  </property>
  <property fmtid="{D5CDD505-2E9C-101B-9397-08002B2CF9AE}" pid="4" name="GVData0">
    <vt:lpwstr>DQogICJPcHRpb25zIjogIntcdTAwMjJQb3B1cENvbmZpZ3VyYXRpb25cdTAwMjI6e1x1MDAyMkFsd2F5c1Nob3dQb3B1cFx1MDAyMjpmYWxzZSxcdTAwMjJFbmZvcmNlSGVhZGVyRm9vdGVyVHlwZVx1MDAyMjpmYWxzZSxcdTAwMjJIZWFkZXJQbGFjZW1lbnRUeXBl</vt:lpwstr>
  </property>
  <property fmtid="{D5CDD505-2E9C-101B-9397-08002B2CF9AE}" pid="5" name="ClassificationTagSetId">
    <vt:lpwstr>e16409a7-1700-4153-9090-3955bc2f0ae8</vt:lpwstr>
  </property>
  <property fmtid="{D5CDD505-2E9C-101B-9397-08002B2CF9AE}" pid="6" name="Classification">
    <vt:lpwstr>Internal</vt:lpwstr>
  </property>
  <property fmtid="{D5CDD505-2E9C-101B-9397-08002B2CF9AE}" pid="7" name="Compliance">
    <vt:lpwstr>GDPR/PII</vt:lpwstr>
  </property>
  <property fmtid="{D5CDD505-2E9C-101B-9397-08002B2CF9AE}" pid="8" name="ComplianceTagSetId">
    <vt:lpwstr>f14fc1f1-8950-40d5-8a29-45909da947d6</vt:lpwstr>
  </property>
  <property fmtid="{D5CDD505-2E9C-101B-9397-08002B2CF9AE}" pid="9" name="FileId">
    <vt:lpwstr>3ebde746-c1e6-44f3-811a-601c3847380a</vt:lpwstr>
  </property>
  <property fmtid="{D5CDD505-2E9C-101B-9397-08002B2CF9AE}" pid="10" name="UserId">
    <vt:lpwstr>Suraj.Fatehchandani</vt:lpwstr>
  </property>
  <property fmtid="{D5CDD505-2E9C-101B-9397-08002B2CF9AE}" pid="11" name="TagDateTime">
    <vt:lpwstr>2024-05-02T05:36:56Z</vt:lpwstr>
  </property>
  <property fmtid="{D5CDD505-2E9C-101B-9397-08002B2CF9AE}" pid="12" name="GVData1">
    <vt:lpwstr>XHUwMDIyOjAsXHUwMDIyRm9vdGVyUGxhY2VtZW50VHlwZVx1MDAyMjowLFx1MDAyMkVuZm9yY2VMYXlvdXRPcHRpb25cdTAwMjI6dHJ1ZSxcdTAwMjJMYXlvdXRPcHRpb25cdTAwMjI6MCxcdTAwMjJUcmlnZ2VyTnVtYmVyXHUwMDIyOjAsXHUwMDIyRnJvbUluZGV4</vt:lpwstr>
  </property>
  <property fmtid="{D5CDD505-2E9C-101B-9397-08002B2CF9AE}" pid="13" name="GVData2">
    <vt:lpwstr>XHUwMDIyOjAsXHUwMDIyVG9JbmRleFx1MDAyMjowLFx1MDAyMkVuZm9yY2VPdmVyd3JpdGVPcHRpb25cdTAwMjI6dHJ1ZSxcdTAwMjJPdmVyd3JpdGVPcHRpb25cdTAwMjI6MH0sXHUwMDIySGVhZGVyRW5hYmxlZFx1MDAyMjp0cnVlLFx1MDAyMkhlYWRlclx1MDAy</vt:lpwstr>
  </property>
  <property fmtid="{D5CDD505-2E9C-101B-9397-08002B2CF9AE}" pid="14" name="GVData3">
    <vt:lpwstr>MjpcdTAwMjJcdTAwMjIsXHUwMDIySGVhZGVyc1x1MDAyMjpbXHUwMDIyXHUwMDIyXSxcdTAwMjJIZWFkZXJUeXBlXHUwMDIyOjEsXHUwMDIySGVhZGVyVHlwZXNBbGxvd2VkXHUwMDIyOlsyXSxcdTAwMjJIZWFkZXJVcGRhdGVUeXBlXHUwMDIyOjAsXHUwMDIyRm9v</vt:lpwstr>
  </property>
  <property fmtid="{D5CDD505-2E9C-101B-9397-08002B2CF9AE}" pid="15" name="CurrentState">
    <vt:lpwstr>{"FirstPageDifferent":false,"DifferentOddAndEvenPages":false,"PageCount":13,"HeaderMetadata":"","ThirdPartyHeaderMetadata":"","GVHeaderExists":false,"NonGVHeaderExists":false,"FloatingHeaderExists":false,"NonGVHeaderShapeExists":false,"ThirdPartyHeaders":[],"FooterMetadata":"&lt;span style=\"color:#0303FE;\"&gt;&lt;span&gt;&lt;div style=\"text-align:center\"&gt;Classified as Internal&lt;/div&gt;&lt;/span&gt;&lt;/span&gt;","ThirdPartyFooterMetadata":"","GVFooterExists":false,"NonGVFooterExists":false,"FloatingFooterExists":false,"NonGVFooterShapeExists":false,"ThirdPartyFooters":[],"WatermarkMetadata":null,"WatermarkExists":false,"PowerpointTitleMetadata":"","PowerpointSubtitleMetadata":"","ThirdPartyMetadataFound":false}</vt:lpwstr>
  </property>
  <property fmtid="{D5CDD505-2E9C-101B-9397-08002B2CF9AE}" pid="16" name="Footer">
    <vt:lpwstr>&lt;span style="color:#0303FE;"&gt;&lt;span&gt;&lt;div style="text-align:center"&gt;Classified as Internal&lt;/div&gt;&lt;/span&gt;&lt;/span&gt;</vt:lpwstr>
  </property>
  <property fmtid="{D5CDD505-2E9C-101B-9397-08002B2CF9AE}" pid="17" name="GVData4">
    <vt:lpwstr>dGVyRW5hYmxlZFx1MDAyMjp0cnVlLFx1MDAyMkZvb3Rlclx1MDAyMjpcdTAwMjJcdTAwM0NzcGFuIHN0eWxlPVxcXHUwMDIyY29sb3I6IzAzMDNGRTtcXFx1MDAyMlx1MDAzRVx1MDAzQ3NwYW5cdTAwM0VcdTAwM0NkaXYgc3R5bGU9XFxcdTAwMjJ0ZXh0LWFsaWdu</vt:lpwstr>
  </property>
  <property fmtid="{D5CDD505-2E9C-101B-9397-08002B2CF9AE}" pid="18" name="GVData5">
    <vt:lpwstr>OmNlbnRlclxcXHUwMDIyXHUwMDNFQ2xhc3NpZmllZCBhcyBJbnRlcm5hbFx1MDAzQy9kaXZcdTAwM0VcdTAwM0Mvc3Bhblx1MDAzRVx1MDAzQy9zcGFuXHUwMDNFXHUwMDIyLFx1MDAyMkZvb3RlcnNcdTAwMjI6W1x1MDAyMlx1MDAzQ3NwYW4gc3R5bGU9XFxcdTAw</vt:lpwstr>
  </property>
  <property fmtid="{D5CDD505-2E9C-101B-9397-08002B2CF9AE}" pid="19" name="GVData6">
    <vt:lpwstr>MjJjb2xvcjojMDMwM0ZFO1xcXHUwMDIyXHUwMDNFXHUwMDNDc3Bhblx1MDAzRVx1MDAzQ2RpdiBzdHlsZT1cXFx1MDAyMnRleHQtYWxpZ246Y2VudGVyXFxcdTAwMjJcdTAwM0VDbGFzc2lmaWVkIGFzIEludGVybmFsXHUwMDNDL2Rpdlx1MDAzRVx1MDAzQy9zcGFu</vt:lpwstr>
  </property>
  <property fmtid="{D5CDD505-2E9C-101B-9397-08002B2CF9AE}" pid="20" name="GVData7">
    <vt:lpwstr>XHUwMDNFXHUwMDNDL3NwYW5cdTAwM0VcdTAwMjJdLFx1MDAyMkZvb3RlclR5cGVcdTAwMjI6MCxcdTAwMjJGb290ZXJUeXBlc0FsbG93ZWRcdTAwMjI6WzAsMV0sXHUwMDIyRm9vdGVyVXBkYXRlVHlwZVx1MDAyMjoxLFx1MDAyMldhdGVybWFya1x1MDAyMjpudWxs</vt:lpwstr>
  </property>
  <property fmtid="{D5CDD505-2E9C-101B-9397-08002B2CF9AE}" pid="21" name="GVData8">
    <vt:lpwstr>LFx1MDAyMldhdGVybWFya0VuYWJsZWRcdTAwMjI6ZmFsc2UsXHUwMDIyU2hvdWxkV3JpdGVXYXRlcm1hcmtcdTAwMjI6ZmFsc2UsXHUwMDIyV2F0ZXJtYXJrVXBkYXRlVHlwZVx1MDAyMjowLFx1MDAyMlBvd2VycG9pbnRUaXRsZVx1MDAyMjpcdTAwMjJcdTAwMjIs</vt:lpwstr>
  </property>
  <property fmtid="{D5CDD505-2E9C-101B-9397-08002B2CF9AE}" pid="22" name="GVData9">
    <vt:lpwstr>XHUwMDIyUG93ZXJwb2ludFN1Yml0bGVcdTAwMjI6XHUwMDIyXHUwMDIyfSIsDQogICJTdGF0ZSI6ICJ7XHUwMDIyRmlyc3RQYWdlRGlmZmVyZW50XHUwMDIyOmZhbHNlLFx1MDAyMkRpZmZlcmVudE9kZEFuZEV2ZW5QYWdlc1x1MDAyMjpmYWxzZSxcdTAwMjJQYWdl</vt:lpwstr>
  </property>
  <property fmtid="{D5CDD505-2E9C-101B-9397-08002B2CF9AE}" pid="23" name="GVData10">
    <vt:lpwstr>Q291bnRcdTAwMjI6MTMsXHUwMDIySGVhZGVyTWV0YWRhdGFcdTAwMjI6XHUwMDIyXHUwMDIyLFx1MDAyMlRoaXJkUGFydHlIZWFkZXJNZXRhZGF0YVx1MDAyMjpcdTAwMjJcdTAwMjIsXHUwMDIyR1ZIZWFkZXJFeGlzdHNcdTAwMjI6ZmFsc2UsXHUwMDIyTm9uR1ZI</vt:lpwstr>
  </property>
  <property fmtid="{D5CDD505-2E9C-101B-9397-08002B2CF9AE}" pid="24" name="GVData11">
    <vt:lpwstr>ZWFkZXJFeGlzdHNcdTAwMjI6ZmFsc2UsXHUwMDIyRmxvYXRpbmdIZWFkZXJFeGlzdHNcdTAwMjI6ZmFsc2UsXHUwMDIyTm9uR1ZIZWFkZXJTaGFwZUV4aXN0c1x1MDAyMjpmYWxzZSxcdTAwMjJUaGlyZFBhcnR5SGVhZGVyc1x1MDAyMjpbXSxcdTAwMjJGb290ZXJN</vt:lpwstr>
  </property>
  <property fmtid="{D5CDD505-2E9C-101B-9397-08002B2CF9AE}" pid="25" name="GVData12">
    <vt:lpwstr>ZXRhZGF0YVx1MDAyMjpcdTAwMjJcdTAwM0NzcGFuIHN0eWxlPVxcXHUwMDIyY29sb3I6IzAzMDNGRTtcXFx1MDAyMlx1MDAzRVx1MDAzQ3NwYW5cdTAwM0VcdTAwM0NkaXYgc3R5bGU9XFxcdTAwMjJ0ZXh0LWFsaWduOmNlbnRlclxcXHUwMDIyXHUwMDNFQ2xhc3Np</vt:lpwstr>
  </property>
  <property fmtid="{D5CDD505-2E9C-101B-9397-08002B2CF9AE}" pid="26" name="GVData13">
    <vt:lpwstr>ZmllZCBhcyBJbnRlcm5hbFx1MDAzQy9kaXZcdTAwM0VcdTAwM0Mvc3Bhblx1MDAzRVx1MDAzQy9zcGFuXHUwMDNFXHUwMDIyLFx1MDAyMlRoaXJkUGFydHlGb290ZXJNZXRhZGF0YVx1MDAyMjpcdTAwMjJcdTAwMjIsXHUwMDIyR1ZGb290ZXJFeGlzdHNcdTAwMjI6</vt:lpwstr>
  </property>
  <property fmtid="{D5CDD505-2E9C-101B-9397-08002B2CF9AE}" pid="27" name="GVData14">
    <vt:lpwstr>ZmFsc2UsXHUwMDIyTm9uR1ZGb290ZXJFeGlzdHNcdTAwMjI6ZmFsc2UsXHUwMDIyRmxvYXRpbmdGb290ZXJFeGlzdHNcdTAwMjI6ZmFsc2UsXHUwMDIyTm9uR1ZGb290ZXJTaGFwZUV4aXN0c1x1MDAyMjpmYWxzZSxcdTAwMjJUaGlyZFBhcnR5Rm9vdGVyc1x1MDAy</vt:lpwstr>
  </property>
  <property fmtid="{D5CDD505-2E9C-101B-9397-08002B2CF9AE}" pid="28" name="GVData15">
    <vt:lpwstr>MjpbXSxcdTAwMjJXYXRlcm1hcmtNZXRhZGF0YVx1MDAyMjpudWxsLFx1MDAyMldhdGVybWFya0V4aXN0c1x1MDAyMjpmYWxzZSxcdTAwMjJQb3dlcnBvaW50VGl0bGVNZXRhZGF0YVx1MDAyMjpcdTAwMjJcdTAwMjIsXHUwMDIyUG93ZXJwb2ludFN1YnRpdGxlTWV0</vt:lpwstr>
  </property>
  <property fmtid="{D5CDD505-2E9C-101B-9397-08002B2CF9AE}" pid="29" name="GVData16">
    <vt:lpwstr>YWRhdGFcdTAwMjI6XHUwMDIyXHUwMDIyLFx1MDAyMlRoaXJkUGFydHlNZXRhZGF0YUZvdW5kXHUwMDIyOmZhbHNlfSINCn0=</vt:lpwstr>
  </property>
  <property fmtid="{D5CDD505-2E9C-101B-9397-08002B2CF9AE}" pid="30" name="Header">
    <vt:lpwstr/>
  </property>
  <property fmtid="{D5CDD505-2E9C-101B-9397-08002B2CF9AE}" pid="31" name="GVData17">
    <vt:lpwstr>(end)</vt:lpwstr>
  </property>
</Properties>
</file>